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6d365a034a54c02" /><Relationship Type="http://schemas.openxmlformats.org/officeDocument/2006/relationships/extended-properties" Target="/docProps/app.xml" Id="Rbfcd8c0fd5314d18" /><Relationship Type="http://schemas.openxmlformats.org/officeDocument/2006/relationships/officeDocument" Target="/ppt/presentation.xml" Id="R27e9b9456c8148b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87f77e8aa6247c6"/>
  </p:sldMasterIdLst>
  <p:notesMasterIdLst>
    <p:notesMasterId xmlns:r="http://schemas.openxmlformats.org/officeDocument/2006/relationships" r:id="R71c8bf8888c545ae"/>
  </p:notesMasterIdLst>
  <p:sldIdLst>
    <p:sldId xmlns:r="http://schemas.openxmlformats.org/officeDocument/2006/relationships" id="256" r:id="Rc345b4c6e608431d"/>
    <p:sldId xmlns:r="http://schemas.openxmlformats.org/officeDocument/2006/relationships" id="257" r:id="Rc184dba494714a60"/>
    <p:sldId xmlns:r="http://schemas.openxmlformats.org/officeDocument/2006/relationships" id="258" r:id="Re8cc073691a54ace"/>
    <p:sldId xmlns:r="http://schemas.openxmlformats.org/officeDocument/2006/relationships" id="259" r:id="R5d3059b810064857"/>
    <p:sldId xmlns:r="http://schemas.openxmlformats.org/officeDocument/2006/relationships" id="260" r:id="R63f3eeb9e7f24487"/>
    <p:sldId xmlns:r="http://schemas.openxmlformats.org/officeDocument/2006/relationships" id="261" r:id="R0da700bd63854962"/>
    <p:sldId xmlns:r="http://schemas.openxmlformats.org/officeDocument/2006/relationships" id="262" r:id="R333059c01daf4e04"/>
    <p:sldId xmlns:r="http://schemas.openxmlformats.org/officeDocument/2006/relationships" id="263" r:id="Rc980627834f547a9"/>
    <p:sldId xmlns:r="http://schemas.openxmlformats.org/officeDocument/2006/relationships" id="264" r:id="R35fa3b2847b74aff"/>
    <p:sldId xmlns:r="http://schemas.openxmlformats.org/officeDocument/2006/relationships" id="265" r:id="Ra532ed98f2694fdc"/>
    <p:sldId xmlns:r="http://schemas.openxmlformats.org/officeDocument/2006/relationships" id="266" r:id="Ra1865319fb78449d"/>
    <p:sldId xmlns:r="http://schemas.openxmlformats.org/officeDocument/2006/relationships" id="267" r:id="Rbf1f2df183b041f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7f77e8aa6247c6" /><Relationship Type="http://schemas.openxmlformats.org/officeDocument/2006/relationships/theme" Target="/ppt/theme/theme1.xml" Id="Ra11c104f22e948ab" /><Relationship Type="http://schemas.openxmlformats.org/officeDocument/2006/relationships/notesMaster" Target="/ppt/notesMasters/notesMaster1.xml" Id="R71c8bf8888c545ae" /><Relationship Type="http://schemas.openxmlformats.org/officeDocument/2006/relationships/presProps" Target="/ppt/presProps.xml" Id="R83b28915187d41b8" /><Relationship Type="http://schemas.openxmlformats.org/officeDocument/2006/relationships/viewProps" Target="/ppt/viewProps.xml" Id="R21a76396479a4f26" /><Relationship Type="http://schemas.openxmlformats.org/officeDocument/2006/relationships/tableStyles" Target="/ppt/tableStyles.xml" Id="R8576b8495d224304" /><Relationship Type="http://schemas.openxmlformats.org/officeDocument/2006/relationships/slide" Target="/ppt/slides/slide1.xml" Id="Rc345b4c6e608431d" /><Relationship Type="http://schemas.openxmlformats.org/officeDocument/2006/relationships/slide" Target="/ppt/slides/slide2.xml" Id="Rc184dba494714a60" /><Relationship Type="http://schemas.openxmlformats.org/officeDocument/2006/relationships/slide" Target="/ppt/slides/slide3.xml" Id="Re8cc073691a54ace" /><Relationship Type="http://schemas.openxmlformats.org/officeDocument/2006/relationships/slide" Target="/ppt/slides/slide4.xml" Id="R5d3059b810064857" /><Relationship Type="http://schemas.openxmlformats.org/officeDocument/2006/relationships/slide" Target="/ppt/slides/slide5.xml" Id="R63f3eeb9e7f24487" /><Relationship Type="http://schemas.openxmlformats.org/officeDocument/2006/relationships/slide" Target="/ppt/slides/slide6.xml" Id="R0da700bd63854962" /><Relationship Type="http://schemas.openxmlformats.org/officeDocument/2006/relationships/slide" Target="/ppt/slides/slide7.xml" Id="R333059c01daf4e04" /><Relationship Type="http://schemas.openxmlformats.org/officeDocument/2006/relationships/slide" Target="/ppt/slides/slide8.xml" Id="Rc980627834f547a9" /><Relationship Type="http://schemas.openxmlformats.org/officeDocument/2006/relationships/slide" Target="/ppt/slides/slide9.xml" Id="R35fa3b2847b74aff" /><Relationship Type="http://schemas.openxmlformats.org/officeDocument/2006/relationships/slide" Target="/ppt/slides/slide10.xml" Id="Ra532ed98f2694fdc" /><Relationship Type="http://schemas.openxmlformats.org/officeDocument/2006/relationships/slide" Target="/ppt/slides/slide11.xml" Id="Ra1865319fb78449d" /><Relationship Type="http://schemas.openxmlformats.org/officeDocument/2006/relationships/slide" Target="/ppt/slides/slide12.xml" Id="Rbf1f2df183b041f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75f4fd533cd4ab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867776c6504f51" /><Relationship Type="http://schemas.openxmlformats.org/officeDocument/2006/relationships/notesMaster" Target="/ppt/notesMasters/notesMaster1.xml" Id="R5324a2da4451492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bfd372b6bad4c80" /><Relationship Type="http://schemas.openxmlformats.org/officeDocument/2006/relationships/notesMaster" Target="/ppt/notesMasters/notesMaster1.xml" Id="R56e77c1b193f4eb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09a0f0d3a714564" /><Relationship Type="http://schemas.openxmlformats.org/officeDocument/2006/relationships/notesMaster" Target="/ppt/notesMasters/notesMaster1.xml" Id="Rcb0ea5158ddd422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5129602f1bb4a38" /><Relationship Type="http://schemas.openxmlformats.org/officeDocument/2006/relationships/notesMaster" Target="/ppt/notesMasters/notesMaster1.xml" Id="R0aefbb2ac1bf4ff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a353c9b1d954bba" /><Relationship Type="http://schemas.openxmlformats.org/officeDocument/2006/relationships/notesMaster" Target="/ppt/notesMasters/notesMaster1.xml" Id="Rb3c4e12319a04d6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5e5ddbd1f164e10" /><Relationship Type="http://schemas.openxmlformats.org/officeDocument/2006/relationships/notesMaster" Target="/ppt/notesMasters/notesMaster1.xml" Id="R4c026e4e7fa244f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8bfee7319e44088" /><Relationship Type="http://schemas.openxmlformats.org/officeDocument/2006/relationships/notesMaster" Target="/ppt/notesMasters/notesMaster1.xml" Id="Rd5c315cef3454c4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122f5c6b3de4d19" /><Relationship Type="http://schemas.openxmlformats.org/officeDocument/2006/relationships/notesMaster" Target="/ppt/notesMasters/notesMaster1.xml" Id="R5a763dae019440e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b1b92bfa52544f0" /><Relationship Type="http://schemas.openxmlformats.org/officeDocument/2006/relationships/notesMaster" Target="/ppt/notesMasters/notesMaster1.xml" Id="R0976663be3ae407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4e3396c313a4588" /><Relationship Type="http://schemas.openxmlformats.org/officeDocument/2006/relationships/notesMaster" Target="/ppt/notesMasters/notesMaster1.xml" Id="R41590d0a8d224f3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4a529836f1d40f3" /><Relationship Type="http://schemas.openxmlformats.org/officeDocument/2006/relationships/notesMaster" Target="/ppt/notesMasters/notesMaster1.xml" Id="R1166852fcdb44e0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a0a273a5350476f" /><Relationship Type="http://schemas.openxmlformats.org/officeDocument/2006/relationships/notesMaster" Target="/ppt/notesMasters/notesMaster1.xml" Id="R7383a9b681cf49a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4ba35a48d842a7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1c8d8abd20504a0d" /><Relationship Type="http://schemas.openxmlformats.org/officeDocument/2006/relationships/slideLayout" Target="/ppt/slideLayouts/slideLayout2.xml" Id="Rf2e200561f4b49c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2e200561f4b49c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029499bbaf045de" /><Relationship Type="http://schemas.openxmlformats.org/officeDocument/2006/relationships/notesSlide" Target="/ppt/notesSlides/notesSlide1.xml" Id="R59c9497bd1af4ca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40d535d584142f9" /><Relationship Type="http://schemas.openxmlformats.org/officeDocument/2006/relationships/notesSlide" Target="/ppt/notesSlides/notesSlide2.xml" Id="R987eb75b19fa478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6e36092f4e141be" /><Relationship Type="http://schemas.openxmlformats.org/officeDocument/2006/relationships/notesSlide" Target="/ppt/notesSlides/notesSlide3.xml" Id="R08847cbd546d47f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f9f622572c4a70" /><Relationship Type="http://schemas.openxmlformats.org/officeDocument/2006/relationships/notesSlide" Target="/ppt/notesSlides/notesSlide4.xml" Id="R5e26d98dc85c4ca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49712b575044265" /><Relationship Type="http://schemas.openxmlformats.org/officeDocument/2006/relationships/notesSlide" Target="/ppt/notesSlides/notesSlide5.xml" Id="R027ec0cc0663486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967610681f44d99" /><Relationship Type="http://schemas.openxmlformats.org/officeDocument/2006/relationships/notesSlide" Target="/ppt/notesSlides/notesSlide6.xml" Id="R7101fc48f6094e0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8d67005f23e47b8" /><Relationship Type="http://schemas.openxmlformats.org/officeDocument/2006/relationships/notesSlide" Target="/ppt/notesSlides/notesSlide7.xml" Id="R8321550f015a4e1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94c229b8fb34292" /><Relationship Type="http://schemas.openxmlformats.org/officeDocument/2006/relationships/notesSlide" Target="/ppt/notesSlides/notesSlide8.xml" Id="Reb9029d3c984456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59141100daf4d68" /><Relationship Type="http://schemas.openxmlformats.org/officeDocument/2006/relationships/notesSlide" Target="/ppt/notesSlides/notesSlide9.xml" Id="R0d167fe6a6cd4bf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29c7f2a04ee4b7c" /><Relationship Type="http://schemas.openxmlformats.org/officeDocument/2006/relationships/notesSlide" Target="/ppt/notesSlides/notesSlide10.xml" Id="R97e56979762048a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daca6eb964a4ff7" /><Relationship Type="http://schemas.openxmlformats.org/officeDocument/2006/relationships/notesSlide" Target="/ppt/notesSlides/notesSlide11.xml" Id="Rc98fa9c671d1456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ee89d20e417404a" /><Relationship Type="http://schemas.openxmlformats.org/officeDocument/2006/relationships/notesSlide" Target="/ppt/notesSlides/notesSlide12.xml" Id="R9c70832bedfd494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0C1F15-29F0-4FFC-8B35-5BD77755B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598865-FA33-4913-83C3-0DC40DF0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A24855-D3EA-4BBA-974C-D57CFEE6C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DEA540-D879-4ED6-9620-D015E4F82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28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2869A"/>
                </a:solidFill>
                <a:latin typeface="Microsoft YaHei"/>
                <a:ea typeface="Microsoft YaHei"/>
                <a:cs typeface="Microsoft YaHei"/>
              </a:rPr>
              <a:t>项目汇报 | 2026-05-08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B67DAF-E295-4010-9E7D-B43A9CC5E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05550"/>
            <a:ext cx="51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A9B8C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A9B8C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A4FE655-A244-4E7D-B19E-968028364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A46825F-376D-4790-8E9B-08EC2DF3C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9B8C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9B8C8"/>
                </a:solidFill>
                <a:latin typeface="Aptos"/>
                <a:ea typeface="Aptos"/>
                <a:cs typeface="Aptos"/>
              </a:rPr>
              <a:t>CNN-FPGA-GKP REPORT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6D962C-F072-4C0E-A6DE-4EAE5095B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47750"/>
            <a:ext cx="6858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4F7F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000" b="1">
                <a:solidFill>
                  <a:srgbClr val="F4F7FB"/>
                </a:solidFill>
                <a:latin typeface="Microsoft YaHei UI"/>
                <a:ea typeface="Microsoft YaHei UI"/>
                <a:cs typeface="Microsoft YaHei UI"/>
              </a:rPr>
              <a:t>CNN-FPGA 协同的 GKP</a:t>
            </a:r>
          </a:p>
          <a:p xmlns:a="http://schemas.openxmlformats.org/drawingml/2006/main">
            <a:pPr algn="l">
              <a:defRPr sz="3000" b="1">
                <a:solidFill>
                  <a:srgbClr val="F4F7F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000" b="1">
                <a:solidFill>
                  <a:srgbClr val="F4F7FB"/>
                </a:solidFill>
                <a:latin typeface="Microsoft YaHei UI"/>
                <a:ea typeface="Microsoft YaHei UI"/>
                <a:cs typeface="Microsoft YaHei UI"/>
              </a:rPr>
              <a:t>漂移自适应量子纠错系统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D01002-D610-4449-8399-D998374C5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619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从物理仿真、双回路软件 HIL 到 teacher-guided residual 解码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B246CB-0366-46A9-9F9B-A7B91E366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340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5CF36C-FAFB-409C-B6DD-1B8454660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14950"/>
            <a:ext cx="1619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Phase 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FDE0CE-848B-4519-BB19-50E116C63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48325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rPr>
              <a:t>当前阶段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0E8B44-B101-409E-A7F4-9077CD1A8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9775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Controlled Development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F7FE4B-19DA-4F16-A58C-32010E454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3340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0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3FEFB4-33C5-451C-A182-834E99A14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31495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Go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D5071B-0CB5-4B93-B8A2-DBB57652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648325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E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5EE08B"/>
                </a:solidFill>
                <a:latin typeface="Microsoft YaHei"/>
                <a:ea typeface="Microsoft YaHei"/>
                <a:cs typeface="Microsoft YaHei"/>
              </a:rPr>
              <a:t>决策状态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F8EC74-9826-4C3D-86C1-A1291D896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819775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受控继续开发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D9AFCE-6808-4CDF-BABF-3C5BC5D64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340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D15D33-BD46-4E07-9237-31B23A516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31495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T15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908CFD-98BD-43DF-96D6-A3FBDC13A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64832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2C1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2C15B"/>
                </a:solidFill>
                <a:latin typeface="Microsoft YaHei"/>
                <a:ea typeface="Microsoft YaHei"/>
                <a:cs typeface="Microsoft YaHei"/>
              </a:rPr>
              <a:t>当前唯一任务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DB4E18-3A54-47E7-8FC4-A8D92D0BE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819775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P4 bounded smoke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134796-6F4F-41AD-BC35-FF7765EC3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990600"/>
            <a:ext cx="36195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B2B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B6F16F-54CB-4256-852C-6E8897451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3906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rPr>
              <a:t>FAST LOOP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3642BA-A78E-43EB-9A99-807827520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714500"/>
            <a:ext cx="13906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32D6C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813156-FC23-4C1A-8685-3B6333E4E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47850"/>
            <a:ext cx="1085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FPGA 侧</a:t>
            </a:r>
          </a:p>
          <a:p xmlns:a="http://schemas.openxmlformats.org/drawingml/2006/main">
            <a:pPr algn="l">
              <a:defRPr sz="9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线性解码 K@s+b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28E8C3-DF5E-4F89-ADD1-30A308B44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714500"/>
            <a:ext cx="1257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32D6C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D4134D-1409-41B6-8886-712729EED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47850"/>
            <a:ext cx="990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32×32</a:t>
            </a:r>
          </a:p>
          <a:p xmlns:a="http://schemas.openxmlformats.org/drawingml/2006/main">
            <a:pPr algn="l">
              <a:defRPr sz="825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syndrome histogram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1E1C5A-4BAA-4E40-ACAD-B02992407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01930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490442-9FE2-41F6-982E-85CC7035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1465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2C1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2C15B"/>
                </a:solidFill>
                <a:latin typeface="Microsoft YaHei"/>
                <a:ea typeface="Microsoft YaHei"/>
                <a:cs typeface="Microsoft YaHei"/>
              </a:rPr>
              <a:t>SLOW LOOP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624D73-914F-44A5-819C-D98086911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238500"/>
            <a:ext cx="13906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D37"/>
          </a:solidFill>
          <a:ln xmlns:a="http://schemas.openxmlformats.org/drawingml/2006/main" w="9525">
            <a:solidFill>
              <a:srgbClr val="F2C15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B24961-2412-4921-912C-09494E0CC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71850"/>
            <a:ext cx="1085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Teacher + CNN</a:t>
            </a:r>
          </a:p>
          <a:p xmlns:a="http://schemas.openxmlformats.org/drawingml/2006/main">
            <a:pPr algn="l">
              <a:defRPr sz="9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residual-b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6E28465-D2F3-4CCF-AB70-79C80C8B6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238500"/>
            <a:ext cx="1257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D37"/>
          </a:solidFill>
          <a:ln xmlns:a="http://schemas.openxmlformats.org/drawingml/2006/main" w="9525">
            <a:solidFill>
              <a:srgbClr val="F2C15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76705BD-BD51-4625-81ED-F018185E9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371850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Param bank</a:t>
            </a:r>
          </a:p>
          <a:p xmlns:a="http://schemas.openxmlformats.org/drawingml/2006/main">
            <a:pPr algn="l">
              <a:defRPr sz="9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stage / commit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421A68B-A17F-46F1-A7B6-0C554FDF6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238500"/>
            <a:ext cx="19050" cy="-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1FAA6B8-7D30-4F5E-85F6-2CAB18759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543300"/>
            <a:ext cx="247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B9FBE26-B56E-4FB3-8161-97026F400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3053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32D6C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57B5A12-9589-4B07-8CEC-67C367EB8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33875"/>
            <a:ext cx="990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rPr>
              <a:t>software HIL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0849C77-D613-4FEE-9FA6-378D57ADB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305300"/>
            <a:ext cx="1219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F2C15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0502A80-01B4-4BD9-BF1B-D5AFD7B3D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333875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2C1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1">
                <a:solidFill>
                  <a:srgbClr val="F2C15B"/>
                </a:solidFill>
                <a:latin typeface="Microsoft YaHei"/>
                <a:ea typeface="Microsoft YaHei"/>
                <a:cs typeface="Microsoft YaHei"/>
              </a:rPr>
              <a:t>P4 benchmark</a:t>
            </a:r>
          </a:p>
        </p:txBody>
      </p:sp>
    </p:spTree>
    <p:extLst>
      <p:ext uri="{BB962C8B-B14F-4D97-AF65-F5344CB8AC3E}">
        <p14:creationId xmlns:p14="http://schemas.microsoft.com/office/powerpoint/2010/main" val="74993820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94EB91-8DA3-45C3-A1A3-FF4B68524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D4A8B1-3B80-4DD6-8044-034952DBB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5CD0D2-999F-4150-91E6-265A56994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AF761A-52DC-4292-9346-9ACE5CCF2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28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2869A"/>
                </a:solidFill>
                <a:latin typeface="Microsoft YaHei"/>
                <a:ea typeface="Microsoft YaHei"/>
                <a:cs typeface="Microsoft YaHei"/>
              </a:rPr>
              <a:t>DriftAdaptiveQEC | CNN-FPGA-GKP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0C6E73-8596-41D4-948B-1149F33C6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05550"/>
            <a:ext cx="51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A9B8C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A9B8C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A9EA945-4DE9-4604-A7F3-3431FC6DF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948E471-FB83-4B6F-92BF-7131F331A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9B8C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9B8C8"/>
                </a:solidFill>
                <a:latin typeface="Aptos"/>
                <a:ea typeface="Aptos"/>
                <a:cs typeface="Aptos"/>
              </a:rPr>
              <a:t>PROBLEM FRAME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944445-3638-470C-9E2D-4D56D9B20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857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7F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F4F7FB"/>
                </a:solidFill>
                <a:latin typeface="Microsoft YaHei UI"/>
                <a:ea typeface="Microsoft YaHei UI"/>
                <a:cs typeface="Microsoft YaHei UI"/>
              </a:rPr>
              <a:t>GKP 解码的难点不是一次预测，而是漂移下的在线失配。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6AE1FF-AB4C-49CA-BB7C-6D651D799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723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连续变量 GKP 纠错中，sigma、mu_q / mu_p、theta 会随时间漂移；固定参数线性解码器会逐步偏离真实噪声状态。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8C00BA-84FC-499A-A2DD-292946AD8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24100"/>
            <a:ext cx="29527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32D6C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10C289-DC15-4094-9698-94F953A05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647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rPr>
              <a:t>工程约束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9160E7-1DC6-4226-A345-316C23828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26479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快回路必须低时延、确定性、可硬件部署；慢回路只能在窗口级别低频更新参数。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226C40-E118-4A44-A059-82C4196BC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14800"/>
            <a:ext cx="2952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F2C15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97D418-CE32-44D6-810E-F6A28CF32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48150"/>
            <a:ext cx="2647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C1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2C15B"/>
                </a:solidFill>
                <a:latin typeface="Microsoft YaHei"/>
                <a:ea typeface="Microsoft YaHei"/>
                <a:cs typeface="Microsoft YaHei"/>
              </a:rPr>
              <a:t>关键判断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6AFDB0-F506-4E3A-8A03-EA68D9404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52950"/>
            <a:ext cx="26479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离线模型精度不等于在线闭环可用；后续验证必须绑定 runtime、commit 与 HIL 语义。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CC8728-6674-42F3-A0A7-D2B6A8C5F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209800"/>
            <a:ext cx="638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P0 物理基线：full_qec 与 simplified 的 LER gap 稳定约 0.40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AEC7B3-413C-44C3-8572-A6DAADCF0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609850"/>
            <a:ext cx="1695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088D95-2C3B-4EC9-A42D-AC0E33F8B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676525"/>
            <a:ext cx="1543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rPr>
              <a:t>场景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A6FAFF-2E3F-4AE8-8CAD-2E54CD62D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60985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252561-0B9C-415D-A244-05668410B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76525"/>
            <a:ext cx="990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rPr>
              <a:t>full_qec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38112A-5445-44D8-B67C-9B6E95017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609850"/>
            <a:ext cx="1276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3C863A-87D7-4EED-BADA-24E6444D7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676525"/>
            <a:ext cx="1123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rPr>
              <a:t>simplified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78C5E9-6C12-4C84-90A5-2231B5A00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609850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BC6277-2233-4BC0-800C-260189F9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76525"/>
            <a:ext cx="800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rPr>
              <a:t>gap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A78D09-6E4A-4626-A159-109ABCE66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09900"/>
            <a:ext cx="1695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2BB016-661F-4A44-84A3-6C11848B7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76575"/>
            <a:ext cx="1543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linear_low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5DFD66-776C-4F50-B9C7-0FCCB7B1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00990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DDFAC5-D653-4F73-A0AC-D011E65A2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76575"/>
            <a:ext cx="990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0.4237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415617-1AF8-46A6-B2D8-BFEF59C88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009900"/>
            <a:ext cx="1276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0FA9B9-8414-4883-AFAC-4B597E928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76575"/>
            <a:ext cx="1123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0.0205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E6B693-09D7-496D-ABBA-292F89145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09900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7979B1-356A-403D-9F60-A6621EE95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76575"/>
            <a:ext cx="800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0.4032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84425A0-A3B8-4E30-984A-8A251AAE5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409950"/>
            <a:ext cx="1695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B27A183-034D-4A5C-A166-577F9E19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476625"/>
            <a:ext cx="1543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step_mid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CC57369-FBFD-41D4-82AE-51BBF3223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40995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F3EE1C6-2A91-452C-9BBE-0969A1274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476625"/>
            <a:ext cx="990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0.42665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84C8A46-DE67-4566-BF0B-9CC24386B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409950"/>
            <a:ext cx="1276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E6A20C0-933B-4A51-86D0-8A49017DA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76625"/>
            <a:ext cx="1123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0.01855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4CDB5AE-14B7-4950-843A-3202CE1C7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09950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CFFE037-0B31-4829-B3F9-E7131AAF6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76625"/>
            <a:ext cx="800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0.40810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0D9A916-392D-475E-8668-A4B12EF13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10000"/>
            <a:ext cx="1695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82CF962-87E7-4E7E-94DF-C42EDDE1F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76675"/>
            <a:ext cx="1543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sinusoidal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6F94B40-534A-4A82-BCF4-7BB98D818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81000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775EDD3-2657-464E-BDFB-F1FE62D5D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876675"/>
            <a:ext cx="990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0.42530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6A8BA77-66D7-4685-911C-2B77DEC70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810000"/>
            <a:ext cx="1276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B156822-07E0-4EBB-B1A4-2F5F18E9A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876675"/>
            <a:ext cx="1123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0.02405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03461EC-3FBB-4737-8928-3166492F8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10000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A54D541-6E33-4E43-B5F3-D46A812AB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76675"/>
            <a:ext cx="800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0.40125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4DA220B-0A8D-4C6D-9A32-F6EACE8B5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10050"/>
            <a:ext cx="1695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B475375-90C1-4469-BD55-67CC5B50C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276725"/>
            <a:ext cx="1543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random_walk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DFD550C-548A-46E8-AF9A-D46DD454F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21005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32A1CC3-6867-4C1D-ABE8-7BCE15A57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276725"/>
            <a:ext cx="990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0.41200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4BDB18D-4E64-4A5A-9254-6432A9BE1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210050"/>
            <a:ext cx="1276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F4B3D4C-D03D-446A-9658-10C2D5B58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276725"/>
            <a:ext cx="11239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0.01565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3674F6C-0170-4FBF-9E19-BB9EAA809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10050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13B259F-FDB9-4E1A-8D6D-7EE132429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276725"/>
            <a:ext cx="800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0.39635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3E0EECA-F08D-4E41-B299-4FE10D0AD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781300"/>
            <a:ext cx="1352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2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B3255F5-92FE-42CF-880C-3E3968C4D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781300"/>
            <a:ext cx="121188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BB910D8-CDA9-4296-8DF8-7B553661E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552700"/>
            <a:ext cx="838581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linear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10068E3-EDCE-4909-B0C1-898625470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0632" y="2543175"/>
            <a:ext cx="486918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0.403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9C2D25F-18AD-4CBB-AB34-208A6BF60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29000"/>
            <a:ext cx="1352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2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88606E7-8373-4F20-947B-704984259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29000"/>
            <a:ext cx="1226613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F961D8B-F79A-4E4D-86A3-D9C95A303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200400"/>
            <a:ext cx="838581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step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43E7EA5-B226-44B8-8D91-F7B5999A7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0632" y="3190875"/>
            <a:ext cx="486918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0.408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B3B1B0A-087D-401F-A11C-11E63395D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76700"/>
            <a:ext cx="1352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2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D535286-27A3-4EF1-96C0-8F8D77457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76700"/>
            <a:ext cx="1206024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9DB4C5D-A236-4423-9205-8A9643DEF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848100"/>
            <a:ext cx="838581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sinusoidal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6709207-1365-484D-9DD4-86B7D4973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0632" y="3838575"/>
            <a:ext cx="486918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0.401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E979F9B-9607-4E89-B08F-D3EB60597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24400"/>
            <a:ext cx="1352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2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4119487-C8AD-411A-A053-2F7B8441D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24400"/>
            <a:ext cx="1191296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20A89CE-5DD1-48C2-A9E4-B7CFDCA87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495800"/>
            <a:ext cx="838581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random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6B6C751-178A-48EA-82C4-B689D652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0632" y="4486275"/>
            <a:ext cx="486918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0.396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40233B6-64C1-4EF1-8B74-B9695DC15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581650"/>
            <a:ext cx="666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含义：simplified 物理口径会低估 LER，不能作为工程可信度的主证据。</a:t>
            </a:r>
          </a:p>
        </p:txBody>
      </p:sp>
    </p:spTree>
    <p:extLst>
      <p:ext uri="{BB962C8B-B14F-4D97-AF65-F5344CB8AC3E}">
        <p14:creationId xmlns:p14="http://schemas.microsoft.com/office/powerpoint/2010/main" val="189101328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5824AE-0B1D-4EAA-A174-356CCF237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55491A-639A-4D6E-B7F1-59786D522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A4E706-4FB7-43CF-B2F8-53B581A08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696ACB-57E2-42CF-B4C5-E31B8180A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28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2869A"/>
                </a:solidFill>
                <a:latin typeface="Microsoft YaHei"/>
                <a:ea typeface="Microsoft YaHei"/>
                <a:cs typeface="Microsoft YaHei"/>
              </a:rPr>
              <a:t>DriftAdaptiveQEC | CNN-FPGA-GKP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068454-2B61-4FFB-BF9E-F648913E5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05550"/>
            <a:ext cx="51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A9B8C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A9B8C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694FC28-052F-4F25-AACD-E0ACE1BB0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7886D24-3B26-4B24-9FDB-052B70545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9B8C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9B8C8"/>
                </a:solidFill>
                <a:latin typeface="Aptos"/>
                <a:ea typeface="Aptos"/>
                <a:cs typeface="Aptos"/>
              </a:rPr>
              <a:t>SYSTEM ARCHITECTURE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F0EFC2-6119-4C36-8848-FCF63DCA9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7F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F4F7FB"/>
                </a:solidFill>
                <a:latin typeface="Microsoft YaHei UI"/>
                <a:ea typeface="Microsoft YaHei UI"/>
                <a:cs typeface="Microsoft YaHei UI"/>
              </a:rPr>
              <a:t>双回路架构把“快而稳的硬件控制”和“慢而准的统计学习”分开。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A16D34-0A76-4DB2-8F4A-DE9D0F1BE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10096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32D6C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CEE0CE-5AFE-4A28-89E2-1A57C8B26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812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rPr>
              <a:t>FAST LOOP / FPGA SIDE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1F184D-63D3-4C87-9200-830660D2D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152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32D6C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58F79E-263D-4767-A039-B2B7AB511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765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Syndrome</a:t>
            </a:r>
          </a:p>
          <a:p xmlns:a="http://schemas.openxmlformats.org/drawingml/2006/main">
            <a:pPr algn="l">
              <a:defRPr sz="9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(s_q, s_p)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46F8D9-3C24-42E9-8CB8-E25EE2733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62200"/>
            <a:ext cx="18859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32D6C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D1E206-2D76-415F-92DA-4C1770C7B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33650"/>
            <a:ext cx="1543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2D6C6"/>
                </a:solidFill>
                <a:latin typeface="Consolas"/>
                <a:ea typeface="Consolas"/>
                <a:cs typeface="Consolas"/>
              </a:defRPr>
            </a:pPr>
            <a:r>
              <a:rPr sz="900" b="0">
                <a:solidFill>
                  <a:srgbClr val="32D6C6"/>
                </a:solidFill>
                <a:latin typeface="Consolas"/>
                <a:ea typeface="Consolas"/>
                <a:cs typeface="Consolas"/>
              </a:rPr>
              <a:t>Delta = K @ s + 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648B8D-61BC-409B-947B-FB5FF4471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362200"/>
            <a:ext cx="1695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32D6C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01B235-CD1D-4632-9612-09F417A86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457450"/>
            <a:ext cx="1352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32×32 histogram</a:t>
            </a:r>
          </a:p>
          <a:p xmlns:a="http://schemas.openxmlformats.org/drawingml/2006/main">
            <a:pPr algn="l">
              <a:defRPr sz="825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fixed-point / overflow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805263-FD21-4F89-AF62-DF2D5F984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362200"/>
            <a:ext cx="1657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32D6C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F427D6-AE39-4E12-8302-2B77FB291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457450"/>
            <a:ext cx="1238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Active param bank</a:t>
            </a:r>
          </a:p>
          <a:p xmlns:a="http://schemas.openxmlformats.org/drawingml/2006/main">
            <a:pPr algn="l">
              <a:defRPr sz="825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K,b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853CBE-BC9C-45CA-BBB1-218CA9582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628900"/>
            <a:ext cx="723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100280-9030-42F5-8790-806EFA2CA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628900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2E955D-B29F-4E77-BBE4-4CAA86423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628900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45DE78-8DAF-462B-B2BC-4761689F5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38600"/>
            <a:ext cx="100965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F2F"/>
          </a:solidFill>
          <a:ln xmlns:a="http://schemas.openxmlformats.org/drawingml/2006/main" w="9525">
            <a:solidFill>
              <a:srgbClr val="F2C15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DAF184-FCB9-48BC-B4B0-89C6B7665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291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2C1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2C15B"/>
                </a:solidFill>
                <a:latin typeface="Microsoft YaHei"/>
                <a:ea typeface="Microsoft YaHei"/>
                <a:cs typeface="Microsoft YaHei"/>
              </a:rPr>
              <a:t>SLOW LOOP / ARM + CNN SIDE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1C5102-86F4-4D35-A307-217462119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29150"/>
            <a:ext cx="1600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D37"/>
          </a:solidFill>
          <a:ln xmlns:a="http://schemas.openxmlformats.org/drawingml/2006/main" w="9525">
            <a:solidFill>
              <a:srgbClr val="F2C15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71D967-D25B-4858-AFA3-2FE423575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43450"/>
            <a:ext cx="1181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Windowed</a:t>
            </a:r>
          </a:p>
          <a:p xmlns:a="http://schemas.openxmlformats.org/drawingml/2006/main">
            <a:pPr algn="l">
              <a:defRPr sz="9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histogram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88CCBA-1817-40D8-95CC-D475348FF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629150"/>
            <a:ext cx="1733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D37"/>
          </a:solidFill>
          <a:ln xmlns:a="http://schemas.openxmlformats.org/drawingml/2006/main" w="9525">
            <a:solidFill>
              <a:srgbClr val="F2C15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2F3222-5450-407A-B132-753CB2310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724400"/>
            <a:ext cx="1314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Classical teacher</a:t>
            </a:r>
          </a:p>
          <a:p xmlns:a="http://schemas.openxmlformats.org/drawingml/2006/main">
            <a:pPr algn="l">
              <a:defRPr sz="9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WV / UKF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AEAD44-C2B9-497D-8674-0132352FD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629150"/>
            <a:ext cx="1733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D37"/>
          </a:solidFill>
          <a:ln xmlns:a="http://schemas.openxmlformats.org/drawingml/2006/main" w="9525">
            <a:solidFill>
              <a:srgbClr val="F2C15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7409EB-917A-40C1-99F2-D45E6A65E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724400"/>
            <a:ext cx="1162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Tiny-CNN</a:t>
            </a:r>
          </a:p>
          <a:p xmlns:a="http://schemas.openxmlformats.org/drawingml/2006/main">
            <a:pPr algn="l">
              <a:defRPr sz="9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residual-b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B99344-E97A-4424-9ED5-5D442CA88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291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D37"/>
          </a:solidFill>
          <a:ln xmlns:a="http://schemas.openxmlformats.org/drawingml/2006/main" w="9525">
            <a:solidFill>
              <a:srgbClr val="F2C15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CA265B-4954-463B-98D9-D0C2F4421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724400"/>
            <a:ext cx="1181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Stage / commit</a:t>
            </a:r>
          </a:p>
          <a:p xmlns:a="http://schemas.openxmlformats.org/drawingml/2006/main">
            <a:pPr algn="l">
              <a:defRPr sz="9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param bank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3FC8E1-E0D2-409F-B350-E0D9CD12E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905375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F2E0B25-DF88-4C4B-93DA-4879DFA3D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905375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0FABDDF-03F2-46C1-A28C-670AAC65C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905375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D2966A5-9668-4326-888F-A2EC46FFF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629150"/>
            <a:ext cx="19050" cy="-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4FD7EF7-38CF-4524-888A-CF7D2449F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4805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F2C15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383B42D-619D-4F6F-B9DA-E1EDED938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476625"/>
            <a:ext cx="895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2C1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1">
                <a:solidFill>
                  <a:srgbClr val="F2C15B"/>
                </a:solidFill>
                <a:latin typeface="Microsoft YaHei"/>
                <a:ea typeface="Microsoft YaHei"/>
                <a:cs typeface="Microsoft YaHei"/>
              </a:rPr>
              <a:t>10-100 ms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B05B922-ACAF-4749-8DD1-F26076C15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44805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32D6C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5CE6D2C-3035-467B-A0F0-0A9EBB2B3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76625"/>
            <a:ext cx="704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rPr>
              <a:t>5 us 级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745094E-8241-4B54-B400-642179D5D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05500"/>
            <a:ext cx="8858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P4 benchmark 继承同一条 HIL backend / artifact 链路，因此 benchmark 结果必须同时报告 backend 与 artifact type。</a:t>
            </a:r>
          </a:p>
        </p:txBody>
      </p:sp>
    </p:spTree>
    <p:extLst>
      <p:ext uri="{BB962C8B-B14F-4D97-AF65-F5344CB8AC3E}">
        <p14:creationId xmlns:p14="http://schemas.microsoft.com/office/powerpoint/2010/main" val="139679183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B22B57-8988-4596-B088-B676134C4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320404-34DC-45B4-AAB2-6AEBD8AB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280CF2-1D59-448B-AF68-71F9BE0B3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658985-EE3D-42DF-859F-F75E54AB0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28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2869A"/>
                </a:solidFill>
                <a:latin typeface="Microsoft YaHei"/>
                <a:ea typeface="Microsoft YaHei"/>
                <a:cs typeface="Microsoft YaHei"/>
              </a:rPr>
              <a:t>DriftAdaptiveQEC | CNN-FPGA-GKP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E872F5-8ED7-43E6-912E-2F54B51FC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05550"/>
            <a:ext cx="51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A9B8C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A9B8C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93C52EC-FF87-42C5-AF5A-FC846936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F15643F-07DD-4B0C-A0FD-BBE07D19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9B8C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9B8C8"/>
                </a:solidFill>
                <a:latin typeface="Aptos"/>
                <a:ea typeface="Aptos"/>
                <a:cs typeface="Aptos"/>
              </a:rPr>
              <a:t>PROJECT ARC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FD569E-7B48-4CB6-BD52-4D38534D5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8763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4F7F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325" b="1">
                <a:solidFill>
                  <a:srgbClr val="F4F7FB"/>
                </a:solidFill>
                <a:latin typeface="Microsoft YaHei UI"/>
                <a:ea typeface="Microsoft YaHei UI"/>
                <a:cs typeface="Microsoft YaHei UI"/>
              </a:rPr>
              <a:t>项目按 P0-P4 逐层推进：先恢复可信度，再补强证据。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F9F6EE-26E0-402E-A5BD-19127E521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09800"/>
            <a:ext cx="819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19050">
            <a:solidFill>
              <a:srgbClr val="32D6C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92AA6F-3CD3-42D7-BEC4-510B6BF0F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3431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2D6C6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32D6C6"/>
                </a:solidFill>
                <a:latin typeface="Aptos Display"/>
                <a:ea typeface="Aptos Display"/>
                <a:cs typeface="Aptos Display"/>
              </a:rPr>
              <a:t>P0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4D453F-CC70-4F06-B6AB-F072BEA5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完成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C85F19-670A-4E8D-9833-E4F8718A9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00400"/>
            <a:ext cx="1466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物理口径</a:t>
            </a:r>
          </a:p>
          <a:p xmlns:a="http://schemas.openxmlformats.org/drawingml/2006/main">
            <a:pPr algn="ctr">
              <a:defRPr sz="750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full/simplified gap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726EC3-4C71-452E-927B-CFF70ECFE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619375"/>
            <a:ext cx="1181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1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F9DB2F-BBE6-4D20-B545-D23BDD6D2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09800"/>
            <a:ext cx="819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19050">
            <a:solidFill>
              <a:srgbClr val="5EE08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0E0879-6B99-4B70-ADC1-5BB6688FE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3431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EE08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5EE08B"/>
                </a:solidFill>
                <a:latin typeface="Aptos Display"/>
                <a:ea typeface="Aptos Display"/>
                <a:cs typeface="Aptos Display"/>
              </a:rPr>
              <a:t>P1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C20ED5-127C-46BB-B93E-DC1CE1D46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65747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完成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11B7AA-0BB0-4A19-9BE9-0628CED08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200400"/>
            <a:ext cx="1466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Tiny-CNN</a:t>
            </a:r>
          </a:p>
          <a:p xmlns:a="http://schemas.openxmlformats.org/drawingml/2006/main">
            <a:pPr algn="ctr">
              <a:defRPr sz="750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静态参数回归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D2BB8B-E41D-4C91-B4AE-01D4218F6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619375"/>
            <a:ext cx="1181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1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E6B53D-DB8A-4E91-A8DF-B39A82B1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209800"/>
            <a:ext cx="819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19050">
            <a:solidFill>
              <a:srgbClr val="5EE08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255A47-A39E-4A6B-89A1-FD99A46BA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3431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EE08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5EE08B"/>
                </a:solidFill>
                <a:latin typeface="Aptos Display"/>
                <a:ea typeface="Aptos Display"/>
                <a:cs typeface="Aptos Display"/>
              </a:rPr>
              <a:t>P2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1E49E0-0715-455E-A744-EF0AC3CBC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65747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完成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28C642-2D14-45DC-AE2D-E15DDE3A0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200400"/>
            <a:ext cx="1466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行为仿真</a:t>
            </a:r>
          </a:p>
          <a:p xmlns:a="http://schemas.openxmlformats.org/drawingml/2006/main">
            <a:pPr algn="ctr">
              <a:defRPr sz="750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公平基线闭环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E972C2-3468-48CF-8C8E-721E2F232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619375"/>
            <a:ext cx="1181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1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2C86E1-E686-4BCE-9372-B82FE74EB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09800"/>
            <a:ext cx="819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19050">
            <a:solidFill>
              <a:srgbClr val="F2C15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4C89D4-053F-4FD9-A964-AD3BBB183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3431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2C15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2C15B"/>
                </a:solidFill>
                <a:latin typeface="Aptos Display"/>
                <a:ea typeface="Aptos Display"/>
                <a:cs typeface="Aptos Display"/>
              </a:rPr>
              <a:t>P3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08EF37-1633-43FF-A277-DECC0185C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5747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软件复验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548796-A76A-4813-9D16-44BA0E460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00400"/>
            <a:ext cx="1466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software HIL</a:t>
            </a:r>
          </a:p>
          <a:p xmlns:a="http://schemas.openxmlformats.org/drawingml/2006/main">
            <a:pPr algn="ctr">
              <a:defRPr sz="750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mock-backed path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C4E4C0-3D87-45BB-B7CD-955918394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619375"/>
            <a:ext cx="1181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1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4C9897-D11B-4087-A72D-9909131C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09800"/>
            <a:ext cx="819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19050">
            <a:solidFill>
              <a:srgbClr val="F2C15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1DF92C-A5FC-4E55-B7DA-902CAF69A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343150"/>
            <a:ext cx="609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2C15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2C15B"/>
                </a:solidFill>
                <a:latin typeface="Aptos Display"/>
                <a:ea typeface="Aptos Display"/>
                <a:cs typeface="Aptos Display"/>
              </a:rPr>
              <a:t>P4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F5C86A-B09A-4560-992D-076D53C40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65747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补证据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774B7E-990C-4F56-BC84-2721C5B5E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200400"/>
            <a:ext cx="1466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benchmark</a:t>
            </a:r>
          </a:p>
          <a:p xmlns:a="http://schemas.openxmlformats.org/drawingml/2006/main">
            <a:pPr algn="ctr">
              <a:defRPr sz="750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formal + bounded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61E4FE6-B039-4548-807C-B50CEFB3D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52950"/>
            <a:ext cx="29718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5EE08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206F895-2E2C-426D-9FE6-72E837DB5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863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E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EE08B"/>
                </a:solidFill>
                <a:latin typeface="Microsoft YaHei"/>
                <a:ea typeface="Microsoft YaHei"/>
                <a:cs typeface="Microsoft YaHei"/>
              </a:rPr>
              <a:t>Recovery 已收口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DB2E55F-1BED-4928-900D-4422FF039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91100"/>
            <a:ext cx="2667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T1-T13 完成后，项目从 Repair 进入 Phase 2 / Go；当前可信度不再靠对话记忆，而靠文档和可复验输出。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834F5F2-8218-43F7-8466-547874F9E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552950"/>
            <a:ext cx="29908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F2C15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70DE9E5-86DE-4392-8ED9-38F895964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686300"/>
            <a:ext cx="2686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C1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2C15B"/>
                </a:solidFill>
                <a:latin typeface="Microsoft YaHei"/>
                <a:ea typeface="Microsoft YaHei"/>
                <a:cs typeface="Microsoft YaHei"/>
              </a:rPr>
              <a:t>当前唯一任务：T15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E7F57CF-9588-4FCD-A551-4C8717ECD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991100"/>
            <a:ext cx="2686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基于 T14 固定的 protocol，只运行双场景、五模式、repeats=2 的 bounded development run。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673E18F-83A7-4DD7-AF1C-56F4C54AF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552950"/>
            <a:ext cx="29908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F9734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C4C3B89-3BC9-4277-9225-F8AFA9D05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86300"/>
            <a:ext cx="2686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973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9734D"/>
                </a:solidFill>
                <a:latin typeface="Microsoft YaHei"/>
                <a:ea typeface="Microsoft YaHei"/>
                <a:cs typeface="Microsoft YaHei"/>
              </a:rPr>
              <a:t>禁止外推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4CC508C-889A-4A41-A0B6-98816552D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991100"/>
            <a:ext cx="26860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bounded smoke 不是完整 formal benchmark；mock-backed 软件路径也不是 real_board 或 .tflite runtime evidence。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07BEDBE-CB2F-4F1A-B661-234537DE7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24550"/>
            <a:ext cx="876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策略：每轮只推进一个 bounded task，且必须写清 Allowed files / Forbidden scope / Verification / Docs to update。</a:t>
            </a:r>
          </a:p>
        </p:txBody>
      </p:sp>
    </p:spTree>
    <p:extLst>
      <p:ext uri="{BB962C8B-B14F-4D97-AF65-F5344CB8AC3E}">
        <p14:creationId xmlns:p14="http://schemas.microsoft.com/office/powerpoint/2010/main" val="184738626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71A3D3-AED9-4955-86F3-BB07C7D4A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45A28F-C2AB-44CC-A7E4-FF4C11186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3B0BEE-62A9-4ECE-950B-60F6CB776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B6B4CE-C4AD-4C6E-879E-221B88A23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28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2869A"/>
                </a:solidFill>
                <a:latin typeface="Microsoft YaHei"/>
                <a:ea typeface="Microsoft YaHei"/>
                <a:cs typeface="Microsoft YaHei"/>
              </a:rPr>
              <a:t>DriftAdaptiveQEC | CNN-FPGA-GKP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C7CDBB-FACC-48B4-A092-83C95B999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05550"/>
            <a:ext cx="51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A9B8C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A9B8C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CAFA228-6588-48FE-90AD-9BA294FA4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39D1410-541D-4821-9FFC-10795D62D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9B8C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9B8C8"/>
                </a:solidFill>
                <a:latin typeface="Aptos"/>
                <a:ea typeface="Aptos"/>
                <a:cs typeface="Aptos"/>
              </a:rPr>
              <a:t>P1 MODEL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347DE5-119F-4180-A0ED-B881A0AD9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8572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7F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F4F7FB"/>
                </a:solidFill>
                <a:latin typeface="Microsoft YaHei UI"/>
                <a:ea typeface="Microsoft YaHei UI"/>
                <a:cs typeface="Microsoft YaHei UI"/>
              </a:rPr>
              <a:t>Tiny-CNN 已能稳定识别静态漂移参数，int8 退化极小。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7B44E2-0E36-4852-9A8B-EF920C571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30289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32D6C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9E4076-610F-4D5C-B8C6-DFA25632C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43100"/>
            <a:ext cx="2724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rPr>
              <a:t>问题修正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AF6EEF-2C03-4A7B-AAAB-0326B7251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2724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早期各向同性高斯让 theta_deg 近似不可辨识；P1 改为各向异性高斯，并提高 theta 损失权重。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070C6E-381E-42D0-AA49-E8F011FBD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0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248B04-9A5B-4152-8856-27E72952F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0.994352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AA52A6-AD04-4E50-A9D8-0AB91BF05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8157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E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5EE08B"/>
                </a:solidFill>
                <a:latin typeface="Microsoft YaHei"/>
                <a:ea typeface="Microsoft YaHei"/>
                <a:cs typeface="Microsoft YaHei"/>
              </a:rPr>
              <a:t>float R2_mean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DAFF8C-301D-448F-B78C-070FC3ECF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53025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test set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411A5F-A061-4846-85E9-794ED2886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6672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720A23-2B78-4289-BFCF-005BE9F14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64820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0.994212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350428-89D9-4570-BBF7-BF44B4C02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981575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2C1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2C15B"/>
                </a:solidFill>
                <a:latin typeface="Microsoft YaHei"/>
                <a:ea typeface="Microsoft YaHei"/>
                <a:cs typeface="Microsoft YaHei"/>
              </a:rPr>
              <a:t>int8 R2_mean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0A3358-ED54-463C-BBB7-532693D68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53025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量化后几乎重合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CECA68-4814-4B11-B325-38851E6EA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1962150"/>
            <a:ext cx="1257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0B3F56-AA67-4400-A08B-2750259BA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28825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rPr>
              <a:t>模型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21EE26-2985-4759-B8F8-D40CDE4D9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62150"/>
            <a:ext cx="106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5CF2D9-68B0-4CC4-A1E6-052489DE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28825"/>
            <a:ext cx="914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rPr>
              <a:t>MSE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B4790F-5764-45CE-AE28-F44E586CB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962150"/>
            <a:ext cx="106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E87CE3-A7C2-4B74-8C4B-B888A4145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028825"/>
            <a:ext cx="914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rPr>
              <a:t>MAE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C8831E-28F6-4BAB-A196-E94240282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962150"/>
            <a:ext cx="106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868884-7B5A-4E8D-BCA2-532DEE65B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28825"/>
            <a:ext cx="914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rPr>
              <a:t>R2_mean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EA09EB-57A9-4CB0-91A0-12AF04884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400300"/>
            <a:ext cx="1257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36F29B-4378-4534-AC66-766128076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66975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float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1D89C6-F600-4126-A2FA-DB933A5DE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00300"/>
            <a:ext cx="106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8475E3-213F-47B8-BBB6-025F452DC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66975"/>
            <a:ext cx="914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0.293336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74D8C05-B8E0-4BEC-A6BF-94B8EE797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00300"/>
            <a:ext cx="106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5F0B27-0CB6-4F14-8858-E8E145764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466975"/>
            <a:ext cx="914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0.220503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62FE11-9C63-4C5E-83E0-7ECFF35FD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00300"/>
            <a:ext cx="106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642162C-A167-4732-98D5-93555DBBC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66975"/>
            <a:ext cx="914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0.994352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D115219-DC2A-4F4E-8F3E-3766035AF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838450"/>
            <a:ext cx="1257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C082DBA-B9B8-448E-A8F8-515932215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905125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int8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5D594C7-2D5A-458B-A54C-39CF35466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38450"/>
            <a:ext cx="106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E98EA5B-BAD8-4D4D-8BAC-7A844756A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05125"/>
            <a:ext cx="914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0.297742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CD0498F-66D9-449C-BFF0-827F3A311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38450"/>
            <a:ext cx="106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9D38579-4789-464E-8F6E-F62160883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905125"/>
            <a:ext cx="914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0.221944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0935352-FE52-49C5-8BAB-80CC8C365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38450"/>
            <a:ext cx="106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6317148-9D00-4D9F-AF57-EF548D30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05125"/>
            <a:ext cx="914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0.994212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34EB7D3-F9F6-400F-B4AE-555DFF573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6385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Float 逐标签 R²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777CC28-D6E7-43DC-8E88-7053EFD73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9814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E94356F-2480-4C2C-836F-191E4E0B7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048125"/>
            <a:ext cx="1276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rPr>
              <a:t>label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41F9BE1-59B5-4524-A180-AFA41F81B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9814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A4448B5-DDB9-4A04-BA68-44C790101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048125"/>
            <a:ext cx="1276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rPr>
              <a:t>R²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AB60039-2B42-4F07-A31C-734076C3E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3053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0DFAD4C-019C-4465-A57A-06237A16D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371975"/>
            <a:ext cx="1276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sigma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2C53AB8-08F6-4B48-8CA9-29E565EB6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3053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9C98EEE-4702-4FED-98ED-2792B9737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371975"/>
            <a:ext cx="1276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0.997613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8E9D151-644A-4C89-91F0-382D6E247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6291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55C7853-02F6-4D22-8A7B-4A764E986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695825"/>
            <a:ext cx="1276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mu_q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1E8C8DE-D5F1-45B8-9039-E09DA5E4B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6291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5E512E8-E76B-4C62-8628-FB0D41237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695825"/>
            <a:ext cx="1276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0.996473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85820F6-0AEA-4C0B-9BBA-2659CB80A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9530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8FFE52E-39B6-4D47-8E01-2B1B867A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9675"/>
            <a:ext cx="1276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mu_p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7F8BE24-C668-4658-B186-95A98316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9530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39CA3A1-A105-4C12-AADB-7E5B375C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019675"/>
            <a:ext cx="1276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0.998459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45F8612-44B4-42A5-8A63-41841A058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2768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8F55ED3-69D7-4F9E-9BF2-E5EF3D97C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343525"/>
            <a:ext cx="1276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theta_deg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FB95E87-F5DE-4A82-ADD6-EE88414A3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2768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6EFCB40-4B7D-4A5C-8126-A0CE8B565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343525"/>
            <a:ext cx="1276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0.984862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A1EBADE-C204-4D47-88F6-94A412086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52850"/>
            <a:ext cx="22479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5EE08B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C1CE7C1-0472-4F6B-8509-22867E6A1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886200"/>
            <a:ext cx="1943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E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EE08B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A9FED56-AB6D-448B-BA04-129BF0F9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191000"/>
            <a:ext cx="19431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P1 的价值不是直接给出最终解码器，而是建立慢回路可用的轻量感知器件；量化结论也为后续部署路径提供基础。</a:t>
            </a:r>
          </a:p>
        </p:txBody>
      </p:sp>
    </p:spTree>
    <p:extLst>
      <p:ext uri="{BB962C8B-B14F-4D97-AF65-F5344CB8AC3E}">
        <p14:creationId xmlns:p14="http://schemas.microsoft.com/office/powerpoint/2010/main" val="38630536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824366-257B-4BC8-8CBA-2CE556372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1EEB13-DC60-45B6-B469-1EADB6AA3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84769B-630D-4DA6-92F4-77A049F22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8E51B4-47F0-428D-9CB3-5A278347F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28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2869A"/>
                </a:solidFill>
                <a:latin typeface="Microsoft YaHei"/>
                <a:ea typeface="Microsoft YaHei"/>
                <a:cs typeface="Microsoft YaHei"/>
              </a:rPr>
              <a:t>DriftAdaptiveQEC | CNN-FPGA-GKP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A2A73B-BF1E-48AF-A8DD-265779F6D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05550"/>
            <a:ext cx="51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A9B8C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A9B8C8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850B961-4365-4F83-8DFF-16D49C8AC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D1B33C1-B899-4FDE-9641-C034845DA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9B8C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9B8C8"/>
                </a:solidFill>
                <a:latin typeface="Aptos"/>
                <a:ea typeface="Aptos"/>
                <a:cs typeface="Aptos"/>
              </a:rPr>
              <a:t>P2 CLOSED LOOP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A53D03-405B-414D-978C-9CB0A1581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4F7F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75" b="1">
                <a:solidFill>
                  <a:srgbClr val="F4F7FB"/>
                </a:solidFill>
                <a:latin typeface="Microsoft YaHei UI"/>
                <a:ea typeface="Microsoft YaHei UI"/>
                <a:cs typeface="Microsoft YaHei UI"/>
              </a:rPr>
              <a:t>闭环收益来自公平运行时控制，而不是作弊型 mock 或量化偶然性。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75CEBA-598E-44B9-97FE-0CCB5AF1E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95450"/>
            <a:ext cx="28098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32D6C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778D32-BB34-46C8-9B5C-0F1A8B349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28800"/>
            <a:ext cx="25050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rPr>
              <a:t>两项关键修正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528CB7-686B-49A1-A621-E09ED8F07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33600"/>
            <a:ext cx="2505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1. 基线改为 fixed_baseline / oracle_delayed</a:t>
            </a:r>
          </a:p>
          <a:p xmlns:a="http://schemas.openxmlformats.org/drawingml/2006/main">
            <a:pPr algn="l">
              <a:defRPr sz="863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2. ParamMapper 改为协方差驱动：K=C(C+R)^-1，b=(I-K)mu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F694F0-5437-4961-8A9E-4BB72184B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60020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C3DCF8-B85E-49DF-85F1-460CCAC49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666875"/>
            <a:ext cx="1276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rPr>
              <a:t>场景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655E55-52B0-40BD-8DC7-20F735EE2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600200"/>
            <a:ext cx="1200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80FD91-02D6-4C9B-9EEF-7A5522480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666875"/>
            <a:ext cx="1047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rPr>
              <a:t>fixed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D09FD3-2CB8-4BC3-AD94-FBD0449CD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00200"/>
            <a:ext cx="1257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3CE3AC-1815-4F72-865B-83880A793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66875"/>
            <a:ext cx="1104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rPr>
              <a:t>oracle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EE6198-36ED-4055-B4C5-874F0B83D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00200"/>
            <a:ext cx="1257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B388CB-986B-4B33-A268-FF8FA357B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666875"/>
            <a:ext cx="1104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rPr>
              <a:t>float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B5E673-D808-4F6A-9C63-87BE3E02B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600200"/>
            <a:ext cx="1200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4B9D2F-F297-42ED-A20F-E267FB5E6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666875"/>
            <a:ext cx="1047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rPr>
              <a:t>int8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519418-D106-4F13-92EE-6249EAA28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0002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3DB857-632A-4B8A-9905-A03904943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066925"/>
            <a:ext cx="1276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linear_med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CB1BB6-7D3A-4F18-9143-6E7239639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000250"/>
            <a:ext cx="1200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1BEA2D-A38A-444C-9369-51C4084D8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066925"/>
            <a:ext cx="1047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0.816067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3A5F05-5EEE-414D-8DEB-E04A683D8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00250"/>
            <a:ext cx="1257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AA7ABE-792C-4482-8AC0-B274BDBC5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66925"/>
            <a:ext cx="1104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0.764239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FB6AAC-8694-41EE-B252-134702DD0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00250"/>
            <a:ext cx="1257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0D3D95-3698-4D91-9FF1-711ED99E2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66925"/>
            <a:ext cx="1104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0.696206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E7CA06-7EF5-4E84-B065-17237B35A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000250"/>
            <a:ext cx="1200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1FAD3B-700F-4CF7-BDD5-E0365AD65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66925"/>
            <a:ext cx="1047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0.701372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2210F48-BF90-4173-87BD-D6F54B3D8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40030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BE1453-53F5-4B1E-BEE5-E5C0A843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466975"/>
            <a:ext cx="1276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step_large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E91B363-E394-4AA3-8C6D-F4AC8C6CF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400300"/>
            <a:ext cx="1200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75275B4-57B3-4C51-83CE-5F5C81E58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466975"/>
            <a:ext cx="1047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0.937822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9A3B2A-40BF-490E-B971-5F242297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00300"/>
            <a:ext cx="1257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05EDEFD-64A7-4885-B6FE-E000F65BD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66975"/>
            <a:ext cx="1104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0.926650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9E6840B-F223-48B0-8DB0-BE191793B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00300"/>
            <a:ext cx="1257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C35E67E-5BE2-4AE7-A81F-D60B8470B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466975"/>
            <a:ext cx="1104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0.731906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118D144-0502-4731-AB92-46D8DED83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00300"/>
            <a:ext cx="1200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4AEF76B-2BF6-42C7-92E0-479506F96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66975"/>
            <a:ext cx="1047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0.732072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AAAFD99-0C88-483E-9E97-3B60B290B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0035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DADC00C-AC02-4903-9B95-807C0961B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867025"/>
            <a:ext cx="1276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sinusoidal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BA7DFAD-E55A-490D-9670-9AEA80C89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800350"/>
            <a:ext cx="1200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022F19E-5436-48DB-A793-B4B278DDD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67025"/>
            <a:ext cx="1047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1.019033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A1CB932-27C2-4244-B3A6-AC9E9BBEA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0350"/>
            <a:ext cx="1257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0D198B0-CEDC-4987-B93C-2E2F909B4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67025"/>
            <a:ext cx="1104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1.020556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2C3DF40-A838-4D41-B2B5-C2F7A97B6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00350"/>
            <a:ext cx="1257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3D3D930-6010-473F-AB58-2845AEA32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867025"/>
            <a:ext cx="1104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0.759289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3EAEDD3-0336-44E1-AED3-1A7D41798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800350"/>
            <a:ext cx="1200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1D0F6CC-11BD-457D-922D-8A9ABF223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67025"/>
            <a:ext cx="1047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0.761878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42ACECB-86B9-4FBA-A847-26FA15431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2578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1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4CCF006-1744-434E-8658-ACF0F2B28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000500"/>
            <a:ext cx="11239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EB24106-1A92-4AF6-B5C0-6B1DAD89E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733800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0.924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F80EE01-070D-4799-8266-AD025B9EF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37210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9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fixed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5297843-C2A1-4AA0-B4A7-B1C51CA85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027714"/>
            <a:ext cx="1123950" cy="123008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2A9BB7A-B1E9-43D6-9350-04F5106DD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761014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0.904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559EC3D-9A9B-42FA-8732-3645D5DE1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37210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9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oracle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B883419-AD0F-43E0-A423-EDA39D6FC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65839"/>
            <a:ext cx="1123950" cy="9919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18C14A8-CCCB-4011-BE46-7FC677EC7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99139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0.729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D0412E2-2F22-40BF-980A-1E2DA1B8B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37210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9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float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B8364B8-22AE-483F-8B0F-1A119E6D0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261757"/>
            <a:ext cx="1123950" cy="9960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0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BF13276-9B42-45CF-A0DC-33AC2D1D9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995057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0.732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11D60DF-6B2F-411D-B39C-DB1F5EAA6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37210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9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int8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4115205-1103-4442-AAE8-83FAF7B08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791200"/>
            <a:ext cx="438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28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2869A"/>
                </a:solidFill>
                <a:latin typeface="Microsoft YaHei"/>
                <a:ea typeface="Microsoft YaHei"/>
                <a:cs typeface="Microsoft YaHei"/>
              </a:rPr>
              <a:t>三场景平均 LER（根据表内数据近似）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F7CFB79-CB05-442D-88D3-4B6B56780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314700"/>
            <a:ext cx="18859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5EE08B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6498B0F-AA54-44CC-8F88-0CEC3D9BE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448050"/>
            <a:ext cx="1581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E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EE08B"/>
                </a:solidFill>
                <a:latin typeface="Microsoft YaHei"/>
                <a:ea typeface="Microsoft YaHei"/>
                <a:cs typeface="Microsoft YaHei"/>
              </a:rPr>
              <a:t>工程指标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B516A51-BC50-4C24-8B8E-703419EC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752850"/>
            <a:ext cx="1581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commit_count_mean = 7.0</a:t>
            </a:r>
          </a:p>
          <a:p xmlns:a="http://schemas.openxmlformats.org/drawingml/2006/main">
            <a:pPr algn="l">
              <a:defRPr sz="863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fast violation = 0</a:t>
            </a:r>
          </a:p>
          <a:p xmlns:a="http://schemas.openxmlformats.org/drawingml/2006/main">
            <a:pPr algn="l">
              <a:defRPr sz="863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slow violation = 0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91D3BBB-2EFD-498B-A1D8-A3EC6E408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7695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P2 判断：双回路 stage / commit 稳定，自适应模型在三类漂移场景均优于固定与延迟基线。</a:t>
            </a:r>
          </a:p>
        </p:txBody>
      </p:sp>
    </p:spTree>
    <p:extLst>
      <p:ext uri="{BB962C8B-B14F-4D97-AF65-F5344CB8AC3E}">
        <p14:creationId xmlns:p14="http://schemas.microsoft.com/office/powerpoint/2010/main" val="71834871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71B687-8EB0-4EC1-8A11-33E37B577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914BDF-3049-497D-AFAC-1305B9E1E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3DE4A0-FDFB-4EDF-8579-C80E3F363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C080B8-FDB6-4079-B2C9-B79ABE309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28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2869A"/>
                </a:solidFill>
                <a:latin typeface="Microsoft YaHei"/>
                <a:ea typeface="Microsoft YaHei"/>
                <a:cs typeface="Microsoft YaHei"/>
              </a:rPr>
              <a:t>DriftAdaptiveQEC | CNN-FPGA-GKP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DD9837-1501-4BC1-B7C1-50C59DF82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05550"/>
            <a:ext cx="51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A9B8C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A9B8C8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FCA20B6-C7B9-4BB6-B26C-CBB8064B7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4DCCA1B-95B1-4ADE-BF40-A160203C4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9B8C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9B8C8"/>
                </a:solidFill>
                <a:latin typeface="Aptos"/>
                <a:ea typeface="Aptos"/>
                <a:cs typeface="Aptos"/>
              </a:rPr>
              <a:t>P3 HIL BOUNDARY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4D1BF3-6FF6-489F-916D-4D5F0A3C5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7F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F4F7FB"/>
                </a:solidFill>
                <a:latin typeface="Microsoft YaHei UI"/>
                <a:ea typeface="Microsoft YaHei UI"/>
                <a:cs typeface="Microsoft YaHei UI"/>
              </a:rPr>
              <a:t>P3 已恢复 software HIL 的确定性复验，但不能写成真板完成。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701B11-9F90-432B-A7D0-EB506018F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1428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32D6C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2E740D-F730-4812-80E3-AEBF6BE30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81250"/>
            <a:ext cx="1162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mock backend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98FC95-F40F-452D-84EF-56AEB044E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505075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1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B1F646-F335-406D-BEAD-86A69D385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190750"/>
            <a:ext cx="1428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32D6C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876DAF-6232-4ADA-8A33-8377F9092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381250"/>
            <a:ext cx="1162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model_artifact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2CCC5C-3FD1-46D0-80E9-7C9A4A61C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505075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1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2DBA5F-EF21-4E4D-9081-1295521DE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190750"/>
            <a:ext cx="1428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32D6C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98DD28-AA2F-458A-9E38-250C33812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81250"/>
            <a:ext cx="1162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artifact_npz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0D24F3-796E-4032-BFDF-8B406263A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05075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1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789FF0-4D8C-475D-A594-935DBF55E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90750"/>
            <a:ext cx="1428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32D6C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736783-8F5A-4068-B677-DF40E7F9F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381250"/>
            <a:ext cx="1162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inproc service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F9022A-6320-4051-90E1-F471FCDA4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05075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1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A382AF-AC0C-443D-B98B-8803DB963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190750"/>
            <a:ext cx="1428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F2C15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038A72-656C-4445-9B8E-C514A811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381250"/>
            <a:ext cx="1162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hil outputs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E302B2-80FD-42DB-84BD-ABCF71B1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147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9B823F-9C7E-45D5-9920-6053FD5FC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957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C853C7-43FE-4299-B327-A446CDA2F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29075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rPr>
              <a:t>windows ready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3811D9-9E4C-4EC0-96CE-C8CAF77B1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00525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n_windows_ready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2C1CA1-3DDE-4F4A-8D2A-4528880A5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7147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4E7703-20F8-47E4-8230-120E59776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6957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F7AC61-2EE8-4A03-A3D1-113A77088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4029075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rPr>
              <a:t>slow updates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5C906D-24BA-4D85-A109-A25C0AA7F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4200525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finished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391792-3C53-4AA8-803A-F16B4BBF8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526D95-68B1-45CB-A470-D50A777ED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695700"/>
            <a:ext cx="1238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73DE73B-8D64-48E6-BED4-5114A7720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29075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rPr>
              <a:t>commits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1BE6600-9289-4747-B0BE-18A4A30EA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200525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applied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E370B63-D0A5-463A-88DD-68FA76AAB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147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8891214-7D9B-4A48-AAA5-28EC0F512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95700"/>
            <a:ext cx="1619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0.454375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065BFA3-555A-49A6-A730-B8A459D9F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29075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2C1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2C15B"/>
                </a:solidFill>
                <a:latin typeface="Microsoft YaHei"/>
                <a:ea typeface="Microsoft YaHei"/>
                <a:cs typeface="Microsoft YaHei"/>
              </a:rPr>
              <a:t>final LER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F3DA90B-D26E-4F38-961E-2529C10F6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00525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T12 deterministic run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FE6BF0E-9794-4EE4-901B-8295CB099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7147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0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6E3348B-EDB9-4806-A5BF-CD8DE4788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695700"/>
            <a:ext cx="152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0.002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9EFDFC1-6388-4111-8B6C-CAC8AC39A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029075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E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5EE08B"/>
                </a:solidFill>
                <a:latin typeface="Microsoft YaHei"/>
                <a:ea typeface="Microsoft YaHei"/>
                <a:cs typeface="Microsoft YaHei"/>
              </a:rPr>
              <a:t>overflow rate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EC26839-B265-4DBF-B9FF-46A28E9F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200525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bounded recovery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1349206-3867-4BDC-AB99-390B19322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38750"/>
            <a:ext cx="3200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5EE08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209F9D4-F570-48B3-AA54-D504AD380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372100"/>
            <a:ext cx="2895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E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EE08B"/>
                </a:solidFill>
                <a:latin typeface="Microsoft YaHei"/>
                <a:ea typeface="Microsoft YaHei"/>
                <a:cs typeface="Microsoft YaHei"/>
              </a:rPr>
              <a:t>确定性复验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24AA2C8-A37E-4530-AAC7-465A1C195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676900"/>
            <a:ext cx="2895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两次 run 的 hil_summary.json 与 hil_events.json SHA256 均一致。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FC50B2F-981A-4509-B386-0DB39492C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238750"/>
            <a:ext cx="3200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F2C15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9AB9342-9699-41A0-AB14-DDF334DA2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372100"/>
            <a:ext cx="2895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C1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2C15B"/>
                </a:solidFill>
                <a:latin typeface="Microsoft YaHei"/>
                <a:ea typeface="Microsoft YaHei"/>
                <a:cs typeface="Microsoft YaHei"/>
              </a:rPr>
              <a:t>当前边界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5C834BB-D4AB-40E1-8525-B8C822D50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676900"/>
            <a:ext cx="2895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路径固定为 mock + model_artifact + artifact_npz + inproc。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383D180-DA52-4A89-AC38-C42F1C17D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238750"/>
            <a:ext cx="2571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F9734D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2F3865F-02C2-41D9-9C2B-0B05D0743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372100"/>
            <a:ext cx="2266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973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9734D"/>
                </a:solidFill>
                <a:latin typeface="Microsoft YaHei"/>
                <a:ea typeface="Microsoft YaHei"/>
                <a:cs typeface="Microsoft YaHei"/>
              </a:rPr>
              <a:t>不能宣称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F643FEA-CBCC-477D-8540-1952DD0C4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676900"/>
            <a:ext cx="2266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不是 real_board；不是 .tflite runtime evidence。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86DA379-BE83-4C0D-8471-D189DC9E6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466850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32D6C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15FE282-101A-4393-99F0-4F836348A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495425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rPr>
              <a:t>software HIL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A7563EA-261C-42B5-B9D0-F1FD91BA3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752600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F9734D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312C12B-796E-452C-A22C-A9DEEF381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781175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973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1">
                <a:solidFill>
                  <a:srgbClr val="F9734D"/>
                </a:solidFill>
                <a:latin typeface="Microsoft YaHei"/>
                <a:ea typeface="Microsoft YaHei"/>
                <a:cs typeface="Microsoft YaHei"/>
              </a:rPr>
              <a:t>not real board</a:t>
            </a:r>
          </a:p>
        </p:txBody>
      </p:sp>
    </p:spTree>
    <p:extLst>
      <p:ext uri="{BB962C8B-B14F-4D97-AF65-F5344CB8AC3E}">
        <p14:creationId xmlns:p14="http://schemas.microsoft.com/office/powerpoint/2010/main" val="62755921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22B09B-7CB4-472C-A181-3B42116BE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AF34B3-D277-4AC6-9B0D-B31BCF484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08495F-1B94-4E0E-9194-C4BA3FC40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B6CA51-B027-4426-AE5A-B2228CDD7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28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2869A"/>
                </a:solidFill>
                <a:latin typeface="Microsoft YaHei"/>
                <a:ea typeface="Microsoft YaHei"/>
                <a:cs typeface="Microsoft YaHei"/>
              </a:rPr>
              <a:t>DriftAdaptiveQEC | CNN-FPGA-GKP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19E7C5-B546-480A-BFD1-5B24CAB9B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05550"/>
            <a:ext cx="51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A9B8C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A9B8C8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A3BFFAF-DFAD-4197-8F8D-A8CDC40B5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013682C-12FB-4ABF-AC53-71CA0A372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9B8C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9B8C8"/>
                </a:solidFill>
                <a:latin typeface="Aptos"/>
                <a:ea typeface="Aptos"/>
                <a:cs typeface="Aptos"/>
              </a:rPr>
              <a:t>P4 MAIN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63F3F7-707C-41BE-BB95-E1B1553C7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71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4F7F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75" b="1">
                <a:solidFill>
                  <a:srgbClr val="F4F7FB"/>
                </a:solidFill>
                <a:latin typeface="Microsoft YaHei UI"/>
                <a:ea typeface="Microsoft YaHei UI"/>
                <a:cs typeface="Microsoft YaHei UI"/>
              </a:rPr>
              <a:t>历史 formal 结果显示：Hybrid Residual-B 仍优于最强经典 baseline UKF。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D7D5DB-B169-4990-8EDB-C3822A33F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29150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1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239C37-F807-4326-B288-DB49E46D8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16369"/>
            <a:ext cx="1116330" cy="9127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A41D79-3C97-4535-880C-EB2736EF5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49669"/>
            <a:ext cx="119253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0.798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7984A8-A942-43EE-A89B-0571D12D8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43450"/>
            <a:ext cx="123063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9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Hybrid</a:t>
            </a:r>
          </a:p>
          <a:p xmlns:a="http://schemas.openxmlformats.org/drawingml/2006/main">
            <a:pPr algn="ctr">
              <a:defRPr sz="69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Residual-B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316AA9-79C0-457E-9C42-CEAF8742F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4080" y="3248644"/>
            <a:ext cx="1116330" cy="13805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644AB1-278A-4111-95CA-037CE09A3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5980" y="2981944"/>
            <a:ext cx="119253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0.818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360CB4-448D-4A0C-812A-3BFE92BB6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6930" y="4743450"/>
            <a:ext cx="123063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9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UKF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046E84-8F8C-4DFA-BB4C-53542F9AB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2810" y="3064216"/>
            <a:ext cx="1116330" cy="15649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BA98EF-FF10-4017-B945-9FA8E6722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4710" y="2797516"/>
            <a:ext cx="119253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0.826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69FA27-FE6F-423F-AD5D-43AF6B465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5660" y="4743450"/>
            <a:ext cx="123063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9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Const</a:t>
            </a:r>
          </a:p>
          <a:p xmlns:a="http://schemas.openxmlformats.org/drawingml/2006/main">
            <a:pPr algn="ctr">
              <a:defRPr sz="69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Residual-Mu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AC35CB-6FB1-454E-BD03-7AF08E230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1540" y="3012091"/>
            <a:ext cx="1116330" cy="161705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39D0D7-60AA-4374-BD37-48CE4350D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745391"/>
            <a:ext cx="119253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0.828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A8FEAC-D1B0-4B4D-9A03-57759D577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4390" y="4743450"/>
            <a:ext cx="123063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9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RLS</a:t>
            </a:r>
          </a:p>
          <a:p xmlns:a="http://schemas.openxmlformats.org/drawingml/2006/main">
            <a:pPr algn="ctr">
              <a:defRPr sz="69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Residual-B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E4E5A0-DF66-4618-8E64-60750B6B7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0270" y="3001113"/>
            <a:ext cx="1116330" cy="16280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1157C9-F2A2-4FCF-9206-E8E7D3175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2170" y="2734413"/>
            <a:ext cx="119253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4F7F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7FB"/>
                </a:solidFill>
                <a:latin typeface="Aptos"/>
                <a:ea typeface="Aptos"/>
                <a:cs typeface="Aptos"/>
              </a:rPr>
              <a:t>0.828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CE9C20-578F-428D-AEBF-47A0F255B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3120" y="4743450"/>
            <a:ext cx="123063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9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EKF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E4F015-8E60-4E05-88A7-6E87E2DC0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1495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28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2869A"/>
                </a:solidFill>
                <a:latin typeface="Microsoft YaHei"/>
                <a:ea typeface="Microsoft YaHei"/>
                <a:cs typeface="Microsoft YaHei"/>
              </a:rPr>
              <a:t>平均 LER，越低越好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B82043-CFDA-40AC-A66A-94114E952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62150"/>
            <a:ext cx="1752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8EACA0-7ADA-4C7D-ADCE-F751B8F62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28825"/>
            <a:ext cx="1600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rPr>
              <a:t>方法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168BA0-2A0E-4F36-A737-B21076E2F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962150"/>
            <a:ext cx="1123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E0A4A7-CF16-4E27-87D6-4DA5FF404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028825"/>
            <a:ext cx="971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rPr>
              <a:t>Avg LER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7E1DF6-A501-461F-B20C-AB09E7452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05050"/>
            <a:ext cx="1752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B98F74D-1A24-4D4D-A62F-99E6B444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71725"/>
            <a:ext cx="1600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Hybrid Residual-B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A9B32A7-52BE-4ADF-B200-8E60138C1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305050"/>
            <a:ext cx="1123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DAABE1E-AA15-411C-A341-615E436DE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371725"/>
            <a:ext cx="971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0.798332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81DF23-B1C3-41DD-B083-D62789565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647950"/>
            <a:ext cx="1752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52C47CC-F4F4-4D0F-ACFD-52395DBA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14625"/>
            <a:ext cx="1600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UKF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7F6EBAB-6A02-4AF8-80EA-0FDDD83E9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647950"/>
            <a:ext cx="1123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FBB546E-B432-4DE6-9417-37B3B8797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714625"/>
            <a:ext cx="971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0.817974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B3091B4-6687-4BFE-94B8-5C67CAFC0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90850"/>
            <a:ext cx="1752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39AE555-DB5D-4289-96FE-174C0389B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57525"/>
            <a:ext cx="1600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Constant Residual-Mu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20B4EAD-FA14-4F5E-A719-CE9F8664D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90850"/>
            <a:ext cx="1123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5103466-073C-4F1A-9067-985AAA16F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057525"/>
            <a:ext cx="971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0.825719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7CFAA73-A61D-4049-8329-EFBA094F0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333750"/>
            <a:ext cx="1752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F809BFE-326C-4BA6-974E-B3698FD99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400425"/>
            <a:ext cx="1600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RLS Residual-B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0E79EE7-73C2-4AAE-8962-78788199C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333750"/>
            <a:ext cx="1123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D0F0D7C-89DB-4252-A81B-276EFE6D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400425"/>
            <a:ext cx="971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0.827908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52ED79F-57F8-4C99-9B84-36F2379E9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676650"/>
            <a:ext cx="1752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2E9626B-1E00-4576-B4EC-EB109E6C9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743325"/>
            <a:ext cx="1600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EKF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F6F956C-FEA3-47E3-A223-62C9510E3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676650"/>
            <a:ext cx="1123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C98CCCE-D748-4738-8B35-3FBA10C3A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743325"/>
            <a:ext cx="971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0.828369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502610E-F27A-43E8-B51D-851A619B1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343400"/>
            <a:ext cx="29337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5EE08B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E3D9120-F272-4A37-9187-E91E0D10C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476750"/>
            <a:ext cx="2628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E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EE08B"/>
                </a:solidFill>
                <a:latin typeface="Microsoft YaHei"/>
                <a:ea typeface="Microsoft YaHei"/>
                <a:cs typeface="Microsoft YaHei"/>
              </a:rPr>
              <a:t>关键解释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72630DD-E2B9-41E7-9C47-D888EE90B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781550"/>
            <a:ext cx="26289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领先 UKF 的 gap 约 0.019642；且 correction_saturation_rate = 0、aggressive_param_rate = 0。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FAB2105-D654-489F-ADDD-2AA363821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29300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口径提醒：这是历史 formal strong-baseline 结论；Phase 2 正在通过 T15/T16 补当前机器上的 bounded development evidence。</a:t>
            </a:r>
          </a:p>
        </p:txBody>
      </p:sp>
    </p:spTree>
    <p:extLst>
      <p:ext uri="{BB962C8B-B14F-4D97-AF65-F5344CB8AC3E}">
        <p14:creationId xmlns:p14="http://schemas.microsoft.com/office/powerpoint/2010/main" val="168593327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8B75DC-0B91-47C1-B716-E72BF139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865FA4-AFF4-4FE6-B0C5-ABDBDBA08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FA8D6F-DECF-4219-B56D-9B2B72C06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3D4073-76EC-4984-A6D0-8773ABF33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28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2869A"/>
                </a:solidFill>
                <a:latin typeface="Microsoft YaHei"/>
                <a:ea typeface="Microsoft YaHei"/>
                <a:cs typeface="Microsoft YaHei"/>
              </a:rPr>
              <a:t>DriftAdaptiveQEC | CNN-FPGA-GKP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3CB2C1-8B73-46DE-BDA6-EBA4A0AB2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05550"/>
            <a:ext cx="51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A9B8C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A9B8C8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3A4110D-B112-4914-AF0F-948B133A6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891B2F6-77B3-4A0D-9C50-1F1CA7B41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9B8C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9B8C8"/>
                </a:solidFill>
                <a:latin typeface="Aptos"/>
                <a:ea typeface="Aptos"/>
                <a:cs typeface="Aptos"/>
              </a:rPr>
              <a:t>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491151-F80F-4F51-AAD7-709322E29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71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4F7F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75" b="1">
                <a:solidFill>
                  <a:srgbClr val="F4F7FB"/>
                </a:solidFill>
                <a:latin typeface="Microsoft YaHei UI"/>
                <a:ea typeface="Microsoft YaHei UI"/>
                <a:cs typeface="Microsoft YaHei UI"/>
              </a:rPr>
              <a:t>学习模块最有价值的角色，是修正 teacher 在运行时控制量上的偏差。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C4F35B-5BED-4BA4-BBB6-A01D57F7F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33909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F9734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EB6A2B-6BF1-4D74-8A9C-E01FEE02F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38350"/>
            <a:ext cx="276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973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9734D"/>
                </a:solidFill>
                <a:latin typeface="Microsoft YaHei"/>
                <a:ea typeface="Microsoft YaHei"/>
                <a:cs typeface="Microsoft YaHei"/>
              </a:rPr>
              <a:t>早期 Full teacher broadcast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9CB40E-A6AD-4D34-916C-72F3BD42D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57450"/>
            <a:ext cx="2667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整包 teacher 标量被广播成平面通道，容易带来冗余、尺度耦合与闭环语义失配。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571B11-F5A7-4EB5-AC82-D07CEEEFA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33750"/>
            <a:ext cx="819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3348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250E73-7468-44F5-AB6E-F5AE6E87D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448050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hist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A9E392-A320-4F57-9662-3E0379E7D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333750"/>
            <a:ext cx="819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2738"/>
          </a:solidFill>
          <a:ln xmlns:a="http://schemas.openxmlformats.org/drawingml/2006/main" w="9525">
            <a:solidFill>
              <a:srgbClr val="F973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D759EE-7102-4081-AC7C-023E404FB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400425"/>
            <a:ext cx="47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teacher</a:t>
            </a:r>
          </a:p>
          <a:p xmlns:a="http://schemas.openxmlformats.org/drawingml/2006/main">
            <a:pPr algn="l">
              <a:defRPr sz="7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planes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B9687B-DBB1-4EFC-B09C-9CCB3B638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00375"/>
            <a:ext cx="781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1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6D389F-6B89-4C9F-AB33-3D2B00FEA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09750"/>
            <a:ext cx="4095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3A"/>
          </a:solidFill>
          <a:ln xmlns:a="http://schemas.openxmlformats.org/drawingml/2006/main" w="9525">
            <a:solidFill>
              <a:srgbClr val="32D6C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E670E9-1483-406C-B08B-404954F71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038350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rPr>
              <a:t>Gated v5 compact scalar branch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79218E-212F-45F2-802F-087F0E2C9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45745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只保留与 residual-b 直接相关的 4 个 teacher 标量，并通过 scalar branch + gated 注入。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45F81C-4671-4A3B-96A3-E711FD955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295650"/>
            <a:ext cx="742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34A"/>
          </a:solidFill>
          <a:ln xmlns:a="http://schemas.openxmlformats.org/drawingml/2006/main" w="9525">
            <a:solidFill>
              <a:srgbClr val="32D6C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EBA4B4-FE94-4B52-A8E5-CB54703D5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400425"/>
            <a:ext cx="628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teacher_b_q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E2BC9D-3BF7-4F8C-9CD4-F52C2FC84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95650"/>
            <a:ext cx="742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34A"/>
          </a:solidFill>
          <a:ln xmlns:a="http://schemas.openxmlformats.org/drawingml/2006/main" w="9525">
            <a:solidFill>
              <a:srgbClr val="32D6C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C9DA5F-1315-4B3D-B5DC-C7B56C83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400425"/>
            <a:ext cx="628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teacher_b_p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2D7914-C846-4A2E-9A90-B63329778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295650"/>
            <a:ext cx="742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34A"/>
          </a:solidFill>
          <a:ln xmlns:a="http://schemas.openxmlformats.org/drawingml/2006/main" w="9525">
            <a:solidFill>
              <a:srgbClr val="32D6C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BAEAEA-64CF-464C-A028-676750457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400425"/>
            <a:ext cx="628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delta_b_q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3FF36D-E53D-46DB-AD1A-306BFCCF0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95650"/>
            <a:ext cx="742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34A"/>
          </a:solidFill>
          <a:ln xmlns:a="http://schemas.openxmlformats.org/drawingml/2006/main" w="9525">
            <a:solidFill>
              <a:srgbClr val="32D6C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2C0E39-7F70-4EF8-83D7-05822F19E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00425"/>
            <a:ext cx="628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delta_b_p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E7DB96-3096-4D87-A475-CC11EC983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006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72C850-2BB2-4B75-B58D-EDD69D61F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81550"/>
            <a:ext cx="152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0.758829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144418-D5FF-474A-9F51-993FB6668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14925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973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9734D"/>
                </a:solidFill>
                <a:latin typeface="Microsoft YaHei"/>
                <a:ea typeface="Microsoft YaHei"/>
                <a:cs typeface="Microsoft YaHei"/>
              </a:rPr>
              <a:t>Full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EC1FB8-1AF3-4CC7-8377-44B0DFAA4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86375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chunked paired mean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8F9313B-767C-405F-A157-E17C39E92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8006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147616D-B109-4D09-B989-991089D76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781550"/>
            <a:ext cx="152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0.618195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1AA957E-6AF3-494E-9E5E-D2FDA161A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114925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rPr>
              <a:t>Gated v5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B309B4B-B5CD-49EA-A052-582F0F3F4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286375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candidate mean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BA512E3-9A36-4C32-B521-51789A4FD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8006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0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C96EC82-63CC-4F31-8993-DCEF0E6F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781550"/>
            <a:ext cx="133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F4F7FB"/>
                </a:solidFill>
                <a:latin typeface="Aptos Display"/>
                <a:ea typeface="Aptos Display"/>
                <a:cs typeface="Aptos Display"/>
              </a:rPr>
              <a:t>9 / 12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D3154B3-5E86-4E9B-97BC-0AF30B28C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114925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E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5EE08B"/>
                </a:solidFill>
                <a:latin typeface="Microsoft YaHei"/>
                <a:ea typeface="Microsoft YaHei"/>
                <a:cs typeface="Microsoft YaHei"/>
              </a:rPr>
              <a:t>wins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3F5E30E-2EDC-430F-A546-AE8B37D99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86375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seed-scenario 对照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ACB33F3-3BB2-4DB8-91E4-D17FCFEAC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62500"/>
            <a:ext cx="3143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F2C15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8B8B9E9-42D5-4467-BEE1-DCF63AE01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895850"/>
            <a:ext cx="2838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C1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2C15B"/>
                </a:solidFill>
                <a:latin typeface="Microsoft YaHei"/>
                <a:ea typeface="Microsoft YaHei"/>
                <a:cs typeface="Microsoft YaHei"/>
              </a:rPr>
              <a:t>谨慎结论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4F93AFB-3B59-4C2F-91F5-47F558C11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200650"/>
            <a:ext cx="2838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Gated v5 是当前最强 teacher-representation 候选，但 seed=20260429 下收益收缩，尚未完全替代正式主线。</a:t>
            </a:r>
          </a:p>
        </p:txBody>
      </p:sp>
    </p:spTree>
    <p:extLst>
      <p:ext uri="{BB962C8B-B14F-4D97-AF65-F5344CB8AC3E}">
        <p14:creationId xmlns:p14="http://schemas.microsoft.com/office/powerpoint/2010/main" val="97966770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86BFF9-396F-4C7F-8211-E9530748E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012F99-9FC7-4B5E-A4A3-1704C018D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2F1B66-67FA-48DB-8C0B-56CAA85BA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C15C81-46C7-4160-9A1A-51071A188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28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2869A"/>
                </a:solidFill>
                <a:latin typeface="Microsoft YaHei"/>
                <a:ea typeface="Microsoft YaHei"/>
                <a:cs typeface="Microsoft YaHei"/>
              </a:rPr>
              <a:t>DriftAdaptiveQEC | CNN-FPGA-GKP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463685-8393-4DCD-93A3-4C2B5C990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05550"/>
            <a:ext cx="51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A9B8C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A9B8C8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DAFC0EA-F2F1-47A3-BBC0-35D8CBEAB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DAB730B-61AC-4E33-AC0E-E985D1886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9B8C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9B8C8"/>
                </a:solidFill>
                <a:latin typeface="Aptos"/>
                <a:ea typeface="Aptos"/>
                <a:cs typeface="Aptos"/>
              </a:rPr>
              <a:t>PHASE 2 CURRENT TASK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87F635-3D9A-4BC6-959A-06B84C694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71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7F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1">
                <a:solidFill>
                  <a:srgbClr val="F4F7FB"/>
                </a:solidFill>
                <a:latin typeface="Microsoft YaHei UI"/>
                <a:ea typeface="Microsoft YaHei UI"/>
                <a:cs typeface="Microsoft YaHei UI"/>
              </a:rPr>
              <a:t>T15 把 P4 从单场景 recovery smoke 推进到受控多场景 development evidence。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41F5EB-C2F7-4DEF-B9F5-02F694442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811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32D6C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BEEA34-A7D6-49A1-BCD9-C6A1360DD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9725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rPr>
              <a:t>T9 recovery smoke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364874-7C82-4CF6-B516-0E5C6DCEA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581150"/>
            <a:ext cx="1562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5EE08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E87335-ADA7-4D90-9879-33366670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609725"/>
            <a:ext cx="1409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5EE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1">
                <a:solidFill>
                  <a:srgbClr val="5EE08B"/>
                </a:solidFill>
                <a:latin typeface="Microsoft YaHei"/>
                <a:ea typeface="Microsoft YaHei"/>
                <a:cs typeface="Microsoft YaHei"/>
              </a:rPr>
              <a:t>T14 protocol PASS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41AA6C-60DF-4141-874A-9300EB700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581150"/>
            <a:ext cx="1504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F2C15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7C56F9-A639-4007-95BD-077AAEE53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609725"/>
            <a:ext cx="1352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2C1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1">
                <a:solidFill>
                  <a:srgbClr val="F2C15B"/>
                </a:solidFill>
                <a:latin typeface="Microsoft YaHei"/>
                <a:ea typeface="Microsoft YaHei"/>
                <a:cs typeface="Microsoft YaHei"/>
              </a:rPr>
              <a:t>T15 bounded run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DEB511-7FE6-4A06-9A05-23DE1FBC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811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F9734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85E356-65AE-40FB-B4A4-E44B47433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609725"/>
            <a:ext cx="1276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973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1">
                <a:solidFill>
                  <a:srgbClr val="F9734D"/>
                </a:solidFill>
                <a:latin typeface="Microsoft YaHei"/>
                <a:ea typeface="Microsoft YaHei"/>
                <a:cs typeface="Microsoft YaHei"/>
              </a:rPr>
              <a:t>T16 gate 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28069A-2EB6-4867-B1A4-26814AA2C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F348F3-E84F-4CA0-93F5-A19C5758E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47925"/>
            <a:ext cx="1847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rPr>
              <a:t>T15 matrix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FCBD1B-DC97-4CEB-926E-3B4462483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381250"/>
            <a:ext cx="342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55EAE9-8310-4589-892A-3BED84F97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447925"/>
            <a:ext cx="3276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rPr>
              <a:t>固定范围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19BAE2-B2BA-4806-AEDE-A53D3A792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0350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610D13-43DF-4301-AC5D-919215B79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67025"/>
            <a:ext cx="1847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Config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AC7B63-5DE3-4279-B291-2BC4C3991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800350"/>
            <a:ext cx="342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4CD599-C947-4EF1-AE8A-012F67DDB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67025"/>
            <a:ext cx="3276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cnn_fpga/config/p4_multiscenario_strong_baselines.yaml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F56ACC-0226-4B2C-99C9-B3469AE37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19450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4B74BB-847E-4877-880A-F9DF46B1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86125"/>
            <a:ext cx="1847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Scenarios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B9E028-BC1D-4730-A23F-79D81279B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219450"/>
            <a:ext cx="342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CED190-FAA9-431F-804D-1A5229719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86125"/>
            <a:ext cx="3276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static_bias_theta / linear_ramp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B2B06E-E556-4B16-B125-C01DA8938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3671D4-FE5C-4A1B-9920-4FEF6E93D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05225"/>
            <a:ext cx="1847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Modes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BD6C8F-062E-4CB5-989A-55F0FDFF9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638550"/>
            <a:ext cx="342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AC47396-A31A-4BA8-A9E7-08D760C26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705225"/>
            <a:ext cx="3276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ekf / ukf / constant_residual_mu / rls_residual_b / hybrid_residual_b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C0191D-483B-4303-A1E4-FDD772F51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57650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24918B4-A173-418E-A08A-BC028C2FF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24325"/>
            <a:ext cx="1847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Repeats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7018C26-F40B-48F0-BF7A-CB2469359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057650"/>
            <a:ext cx="342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97D759E-6916-40D9-A4FC-1FDB6E9BA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124325"/>
            <a:ext cx="3276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E28435E-5F6D-4021-887B-36DA70A3E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97C826F-FFD9-4873-BA3E-53AAF973E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43425"/>
            <a:ext cx="1847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Seed policy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844B61C-CCBB-4C9E-A4BB-C9B899241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476750"/>
            <a:ext cx="342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2A415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9ADB3D4-01BB-420B-9CF5-2F19C4307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543425"/>
            <a:ext cx="3276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--paired-seeds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C47ABA7-C24D-46D0-86B9-26C85FA21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495550"/>
            <a:ext cx="3143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5EE08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99603E6-7072-43B4-AE43-7D1423FF2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628900"/>
            <a:ext cx="2838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E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EE08B"/>
                </a:solidFill>
                <a:latin typeface="Microsoft YaHei"/>
                <a:ea typeface="Microsoft YaHei"/>
                <a:cs typeface="Microsoft YaHei"/>
              </a:rPr>
              <a:t>允许做什么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B3ED3AC-924B-43A8-8FFC-71603E648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933700"/>
            <a:ext cx="2838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扩展到双场景、五模式、repeats=2；不改 runner、不改 config、不改 baseline 集合。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A3670FF-5D71-4D79-A550-6686B7D41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676650"/>
            <a:ext cx="31432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F9734D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7E5DEBE-C751-4168-8E07-0B8E4572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810000"/>
            <a:ext cx="2838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973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9734D"/>
                </a:solidFill>
                <a:latin typeface="Microsoft YaHei"/>
                <a:ea typeface="Microsoft YaHei"/>
                <a:cs typeface="Microsoft YaHei"/>
              </a:rPr>
              <a:t>明确不是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35499EE-C462-4FF6-A3EF-140FC1710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114800"/>
            <a:ext cx="28384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不是完整四场景 formal benchmark；不是 real_board；不是 .tflite runtime evidence。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7D4BF7E-DD35-4E49-A236-FFDE61279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10250"/>
            <a:ext cx="933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T15 的价值：为 T16 判断是否扩展 formal benchmark、停止在 bounded evidence、或转向 manifest / training / .tflite / cleanup 提供证据。</a:t>
            </a:r>
          </a:p>
        </p:txBody>
      </p:sp>
    </p:spTree>
    <p:extLst>
      <p:ext uri="{BB962C8B-B14F-4D97-AF65-F5344CB8AC3E}">
        <p14:creationId xmlns:p14="http://schemas.microsoft.com/office/powerpoint/2010/main" val="19533738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6CD884-DA36-4531-BA7B-0181D285B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594D5F-FE17-4206-9BDD-1B0155A14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9D7ACE-C866-4011-862A-46FD0BBCB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11DA4F-F1A3-459A-B82E-B351A316F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28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2869A"/>
                </a:solidFill>
                <a:latin typeface="Microsoft YaHei"/>
                <a:ea typeface="Microsoft YaHei"/>
                <a:cs typeface="Microsoft YaHei"/>
              </a:rPr>
              <a:t>DriftAdaptiveQEC | CNN-FPGA-GKP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055D9E-CB7D-4C27-98FF-A17F365EF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05550"/>
            <a:ext cx="51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A9B8C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A9B8C8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CE5962AC-D4AE-4B38-BACD-1524A1172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17B1732-1BE7-4728-9036-A7A4B5373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9B8C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9B8C8"/>
                </a:solidFill>
                <a:latin typeface="Aptos"/>
                <a:ea typeface="Aptos"/>
                <a:cs typeface="Aptos"/>
              </a:rPr>
              <a:t>NEXT MOVES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2C5487-EF3F-4028-B779-E75578DEE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914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7F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F4F7FB"/>
                </a:solidFill>
                <a:latin typeface="Microsoft YaHei UI"/>
                <a:ea typeface="Microsoft YaHei UI"/>
                <a:cs typeface="Microsoft YaHei UI"/>
              </a:rPr>
              <a:t>后续不是盲目扩线，而是补证据、补 manifest、补边界。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D26A1C-1690-439B-A3AC-4DC24010F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30480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F2C15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325302-B4A2-4951-8ABB-F865AEDFF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24050"/>
            <a:ext cx="2743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C1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2C15B"/>
                </a:solidFill>
                <a:latin typeface="Microsoft YaHei"/>
                <a:ea typeface="Microsoft YaHei"/>
                <a:cs typeface="Microsoft YaHei"/>
              </a:rPr>
              <a:t>证据补强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E7D009-96FB-4476-8A69-0C81C0C90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274320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1. T15/T16：P4 bounded evidence + gate review</a:t>
            </a:r>
          </a:p>
          <a:p xmlns:a="http://schemas.openxmlformats.org/drawingml/2006/main">
            <a:pPr algn="l">
              <a:defRPr sz="863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2. 决定是否恢复完整四场景 formal set</a:t>
            </a:r>
          </a:p>
          <a:p xmlns:a="http://schemas.openxmlformats.org/drawingml/2006/main">
            <a:pPr algn="l">
              <a:defRPr sz="863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3. 固化 benchmark 报告口径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261B20-54D8-4FE9-91CB-59F47B1F3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790700"/>
            <a:ext cx="30480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32D6C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0E3256-1EB9-4C6A-9724-9AC6F3BED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924050"/>
            <a:ext cx="2743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rPr>
              <a:t>研究改进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B80252-FAE8-4BB9-970A-B71095B5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28850"/>
            <a:ext cx="274320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1. 诊断 seed=20260429 收益收缩</a:t>
            </a:r>
          </a:p>
          <a:p xmlns:a="http://schemas.openxmlformats.org/drawingml/2006/main">
            <a:pPr algn="l">
              <a:defRPr sz="863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2. Gated v5 小改版：弱化 delta、控制 scale/clip</a:t>
            </a:r>
          </a:p>
          <a:p xmlns:a="http://schemas.openxmlformats.org/drawingml/2006/main">
            <a:pPr algn="l">
              <a:defRPr sz="863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3. paper_inspired_statcalib_v1：compact statistics + closed-loop loss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6C19C8-6550-46DB-959F-B87C18E7E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790700"/>
            <a:ext cx="30480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5EE08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4FD700-F7EB-4EA9-821A-4088279A9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924050"/>
            <a:ext cx="2743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E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EE08B"/>
                </a:solidFill>
                <a:latin typeface="Microsoft YaHei"/>
                <a:ea typeface="Microsoft YaHei"/>
                <a:cs typeface="Microsoft YaHei"/>
              </a:rPr>
              <a:t>工程补强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A768D4-D3CF-482B-8BA7-7F87D21D2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28850"/>
            <a:ext cx="2743200" cy="2419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1. T17 训练链 manifest</a:t>
            </a:r>
          </a:p>
          <a:p xmlns:a="http://schemas.openxmlformats.org/drawingml/2006/main">
            <a:pPr algn="l">
              <a:defRPr sz="863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2. T18 .tflite manifest / smoke plan</a:t>
            </a:r>
          </a:p>
          <a:p xmlns:a="http://schemas.openxmlformats.org/drawingml/2006/main">
            <a:pPr algn="l">
              <a:defRPr sz="863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3. T20 real-board readiness checklist</a:t>
            </a:r>
          </a:p>
          <a:p xmlns:a="http://schemas.openxmlformats.org/drawingml/2006/main">
            <a:pPr algn="l">
              <a:defRPr sz="863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4. load-aware latency / fault injector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D23958-ED60-4EEB-95A7-6EAEBC6E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10200"/>
            <a:ext cx="933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当前暂停项：无任务包的新 teacher-representation 长跑、P4 formal 长跑、真板 backend 扩写、大规模 repo cleanup。</a:t>
            </a:r>
          </a:p>
        </p:txBody>
      </p:sp>
    </p:spTree>
    <p:extLst>
      <p:ext uri="{BB962C8B-B14F-4D97-AF65-F5344CB8AC3E}">
        <p14:creationId xmlns:p14="http://schemas.microsoft.com/office/powerpoint/2010/main" val="133846911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B67B21-5A90-4579-8D08-1817FE64C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A47396-D098-40F3-9287-3B83B719C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DB05C3-4473-4142-AC1F-13AF73CFE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1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2F96F4-589E-4F02-B4DE-5B051BD7F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685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28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2869A"/>
                </a:solidFill>
                <a:latin typeface="Microsoft YaHei"/>
                <a:ea typeface="Microsoft YaHei"/>
                <a:cs typeface="Microsoft YaHei"/>
              </a:rPr>
              <a:t>论文思路与总结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1DE9BD-108E-48CC-9CE1-9033123A1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05550"/>
            <a:ext cx="514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A9B8C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A9B8C8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6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DDC7B3A-8753-4271-83AA-822635E0F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0DFBFA1-934B-4ED4-AD86-FAC70229C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9B8C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9B8C8"/>
                </a:solidFill>
                <a:latin typeface="Aptos"/>
                <a:ea typeface="Aptos"/>
                <a:cs typeface="Aptos"/>
              </a:rPr>
              <a:t>PAPER POSITIONING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B80731-6D0B-4CD8-9981-30090729E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001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7FB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250" b="1">
                <a:solidFill>
                  <a:srgbClr val="F4F7FB"/>
                </a:solidFill>
                <a:latin typeface="Microsoft YaHei UI"/>
                <a:ea typeface="Microsoft YaHei UI"/>
                <a:cs typeface="Microsoft YaHei UI"/>
              </a:rPr>
              <a:t>论文主线：运行时一致的 teacher-guided residual adaptive decoding。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6C0146-71FE-49FE-8C84-4EC1F7124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866900"/>
            <a:ext cx="2476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83F"/>
          </a:solidFill>
          <a:ln xmlns:a="http://schemas.openxmlformats.org/drawingml/2006/main" w="9525">
            <a:solidFill>
              <a:srgbClr val="32D6C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9261CC-181D-45D4-9C89-49BCC73A6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0383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2D6C6"/>
                </a:solidFill>
                <a:latin typeface="Microsoft YaHei"/>
                <a:ea typeface="Microsoft YaHei"/>
                <a:cs typeface="Microsoft YaHei"/>
              </a:rPr>
              <a:t>System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DCB1E0-F999-4F80-ADB3-D7D6B149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381250"/>
            <a:ext cx="1714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双回路 CNN-FPGA</a:t>
            </a:r>
          </a:p>
          <a:p xmlns:a="http://schemas.openxmlformats.org/drawingml/2006/main">
            <a:pPr algn="l">
              <a:defRPr sz="9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软件 HIL / param bank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6C8A40-9B46-4BDA-9CCF-B39A7BF92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848100"/>
            <a:ext cx="2476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D37"/>
          </a:solidFill>
          <a:ln xmlns:a="http://schemas.openxmlformats.org/drawingml/2006/main" w="9525">
            <a:solidFill>
              <a:srgbClr val="F2C15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81B895-8BAE-4633-A924-F942D0DE0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01955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C1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2C15B"/>
                </a:solidFill>
                <a:latin typeface="Microsoft YaHei"/>
                <a:ea typeface="Microsoft YaHei"/>
                <a:cs typeface="Microsoft YaHei"/>
              </a:rPr>
              <a:t>Method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EDCBA2-B553-454F-B66C-917BE985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362450"/>
            <a:ext cx="1790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teacher-guided</a:t>
            </a:r>
          </a:p>
          <a:p xmlns:a="http://schemas.openxmlformats.org/drawingml/2006/main">
            <a:pPr algn="l">
              <a:defRPr sz="9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residual-b correction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5F2E35-C56B-452D-84E6-2AF142AD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66900"/>
            <a:ext cx="2476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3447"/>
          </a:solidFill>
          <a:ln xmlns:a="http://schemas.openxmlformats.org/drawingml/2006/main" w="9525">
            <a:solidFill>
              <a:srgbClr val="5EE08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B929FF-4F8F-467A-9BC3-ED035465C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EE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EE08B"/>
                </a:solidFill>
                <a:latin typeface="Microsoft YaHei"/>
                <a:ea typeface="Microsoft YaHei"/>
                <a:cs typeface="Microsoft YaHei"/>
              </a:rPr>
              <a:t>Deployment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55CC75-461C-49C6-A068-3B9AB2CD8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8125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runtime-consistent data</a:t>
            </a:r>
          </a:p>
          <a:p xmlns:a="http://schemas.openxmlformats.org/drawingml/2006/main">
            <a:pPr algn="l">
              <a:defRPr sz="9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4F7FB"/>
                </a:solidFill>
                <a:latin typeface="Microsoft YaHei"/>
                <a:ea typeface="Microsoft YaHei"/>
                <a:cs typeface="Microsoft YaHei"/>
              </a:rPr>
              <a:t>artifact / HIL / benchmark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BA1F21-A96C-4626-8AF6-E0EF4BBF7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00300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1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E9E13D-E43B-4AAD-BE8E-C5CE3C62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400300"/>
            <a:ext cx="190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1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ABEE45-08D3-4BD9-AE19-B6CF43E81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095750"/>
            <a:ext cx="333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1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01D63E-41A6-4992-B4AD-4278C41DA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9575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1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DD60DA-484D-4985-A60B-CA41C3214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400300"/>
            <a:ext cx="190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1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1EF09F-C4A2-49E4-8A69-4C6FAB862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4003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1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47A350-B379-44F4-B86C-E9292CC63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00300"/>
            <a:ext cx="3829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15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4E9F8C-27AD-4621-812C-AF1363097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67300"/>
            <a:ext cx="2952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5EE08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A5C214-8074-4895-867B-349440322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00650"/>
            <a:ext cx="2647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E0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5EE08B"/>
                </a:solidFill>
                <a:latin typeface="Microsoft YaHei"/>
                <a:ea typeface="Microsoft YaHei"/>
                <a:cs typeface="Microsoft YaHei"/>
              </a:rPr>
              <a:t>已有成果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402B27-AF7E-4D4B-9006-25DD6355B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05450"/>
            <a:ext cx="2647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P0-P2 基线与闭环验证；P3 software HIL recovery path；P4 历史 formal 主线。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19B8A7-1DEE-41F1-8EC5-67E99BF02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067300"/>
            <a:ext cx="2952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F9734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D499FAF-F987-4CBD-9134-6930E452B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200650"/>
            <a:ext cx="2647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973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9734D"/>
                </a:solidFill>
                <a:latin typeface="Microsoft YaHei"/>
                <a:ea typeface="Microsoft YaHei"/>
                <a:cs typeface="Microsoft YaHei"/>
              </a:rPr>
              <a:t>当前边界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8A6BED-7A62-425E-B272-0EE427CE3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505450"/>
            <a:ext cx="2647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真板 HIL、当前 .tflite recovery、完整 formal benchmark 仍需补证据。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AEAD5A6-112D-426C-8705-985AE1A65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067300"/>
            <a:ext cx="2952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134"/>
          </a:solidFill>
          <a:ln xmlns:a="http://schemas.openxmlformats.org/drawingml/2006/main" w="9525">
            <a:solidFill>
              <a:srgbClr val="F2C15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2C70F2F-012C-482A-8BC4-953E66430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200650"/>
            <a:ext cx="2647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C1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2C15B"/>
                </a:solidFill>
                <a:latin typeface="Microsoft YaHei"/>
                <a:ea typeface="Microsoft YaHei"/>
                <a:cs typeface="Microsoft YaHei"/>
              </a:rPr>
              <a:t>论文策略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8583A78-2E85-41F2-B12A-0E50415BD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505450"/>
            <a:ext cx="2647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QCE / TQE / EPJQT 优先；补强后再考虑 QST / npjQI / ACM TQC。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4EF8CDC-0FDA-4187-9921-2E360B64F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943600"/>
            <a:ext cx="942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9050" tIns="19050" rIns="19050" bIns="1905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A9B8C8"/>
                </a:solidFill>
                <a:latin typeface="Microsoft YaHei"/>
                <a:ea typeface="Microsoft YaHei"/>
                <a:cs typeface="Microsoft YaHei"/>
              </a:rPr>
              <a:t>一句话结论：保留经典 teacher，并让轻量 CNN 学习 residual-b 修正，比直接做绝对参数回归更贴近部署语义，也更有论文叙事韧性。</a:t>
            </a:r>
          </a:p>
        </p:txBody>
      </p:sp>
    </p:spTree>
    <p:extLst>
      <p:ext uri="{BB962C8B-B14F-4D97-AF65-F5344CB8AC3E}">
        <p14:creationId xmlns:p14="http://schemas.microsoft.com/office/powerpoint/2010/main" val="4258257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2026-05-08T16:07:50.3170000Z</dcterms:created>
  <dcterms:modified xsi:type="dcterms:W3CDTF">2026-05-08T16:07:50.3170000Z</dcterms:modified>
</coreProperties>
</file>