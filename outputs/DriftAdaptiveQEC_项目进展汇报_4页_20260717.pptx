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固定参数</c:f>
              <c:strCache>
                <c:ptCount val="1"/>
                <c:pt idx="0">
                  <c:v>固定参数</c:v>
                </c:pt>
              </c:strCache>
            </c:strRef>
          </c:tx>
          <c:spPr>
            <a:solidFill>
              <a:srgbClr val="B4BEC9"/>
            </a:solidFill>
            <a:ln w="9525">
              <a:solidFill>
                <a:srgbClr val="7D8A98"/>
              </a:solidFill>
              <a:prstDash val="solid"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{"截断规模 12
(n = 8)","截断规模 16
(n = 4)"}</c:f>
              <c:strCache>
                <c:ptCount val="2"/>
                <c:pt idx="0">
                  <c:v>截断规模 12
(n = 8)</c:v>
                </c:pt>
                <c:pt idx="1">
                  <c:v>截断规模 16
(n = 4)</c:v>
                </c:pt>
              </c:strCache>
            </c:strRef>
          </c:cat>
          <c:val>
            <c:numRef>
              <c:f>{3.57,5.99}</c:f>
              <c:numCache>
                <c:formatCode>0.0</c:formatCode>
                <c:ptCount val="2"/>
                <c:pt idx="0">
                  <c:v>3.57</c:v>
                </c:pt>
                <c:pt idx="1">
                  <c:v>5.99</c:v>
                </c:pt>
              </c:numCache>
            </c:numRef>
          </c:val>
        </c:ser>
        <c:ser>
          <c:idx val="1"/>
          <c:order val="1"/>
          <c:tx>
            <c:strRef>
              <c:f>MF 强基线均值</c:f>
              <c:strCache>
                <c:ptCount val="1"/>
                <c:pt idx="0">
                  <c:v>MF 强基线均值</c:v>
                </c:pt>
              </c:strCache>
            </c:strRef>
          </c:tx>
          <c:spPr>
            <a:solidFill>
              <a:srgbClr val="6F91BC"/>
            </a:solidFill>
            <a:ln w="9525">
              <a:solidFill>
                <a:srgbClr val="466F9E"/>
              </a:solidFill>
              <a:prstDash val="solid"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{"截断规模 12
(n = 8)","截断规模 16
(n = 4)"}</c:f>
              <c:strCache>
                <c:ptCount val="2"/>
                <c:pt idx="0">
                  <c:v>截断规模 12
(n = 8)</c:v>
                </c:pt>
                <c:pt idx="1">
                  <c:v>截断规模 16
(n = 4)</c:v>
                </c:pt>
              </c:strCache>
            </c:strRef>
          </c:cat>
          <c:val>
            <c:numRef>
              <c:f>{8.62,9.16}</c:f>
              <c:numCache>
                <c:formatCode>0.0</c:formatCode>
                <c:ptCount val="2"/>
                <c:pt idx="0">
                  <c:v>8.62</c:v>
                </c:pt>
                <c:pt idx="1">
                  <c:v>9.16</c:v>
                </c:pt>
              </c:numCache>
            </c:numRef>
          </c:val>
        </c:ser>
        <c:ser>
          <c:idx val="2"/>
          <c:order val="2"/>
          <c:tx>
            <c:strRef>
              <c:f>离线教师</c:f>
              <c:strCache>
                <c:ptCount val="1"/>
                <c:pt idx="0">
                  <c:v>离线教师</c:v>
                </c:pt>
              </c:strCache>
            </c:strRef>
          </c:tx>
          <c:spPr>
            <a:solidFill>
              <a:srgbClr val="F1C575"/>
            </a:solidFill>
            <a:ln w="9525">
              <a:solidFill>
                <a:srgbClr val="C7831C"/>
              </a:solidFill>
              <a:prstDash val="solid"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{"截断规模 12
(n = 8)","截断规模 16
(n = 4)"}</c:f>
              <c:strCache>
                <c:ptCount val="2"/>
                <c:pt idx="0">
                  <c:v>截断规模 12
(n = 8)</c:v>
                </c:pt>
                <c:pt idx="1">
                  <c:v>截断规模 16
(n = 4)</c:v>
                </c:pt>
              </c:strCache>
            </c:strRef>
          </c:cat>
          <c:val>
            <c:numRef>
              <c:f>{8.44,9.53}</c:f>
              <c:numCache>
                <c:formatCode>0.0</c:formatCode>
                <c:ptCount val="2"/>
                <c:pt idx="0">
                  <c:v>8.44</c:v>
                </c:pt>
                <c:pt idx="1">
                  <c:v>9.53</c:v>
                </c:pt>
              </c:numCache>
            </c:numRef>
          </c:val>
        </c:ser>
        <c:ser>
          <c:idx val="3"/>
          <c:order val="3"/>
          <c:tx>
            <c:strRef>
              <c:f>4 状态学生</c:f>
              <c:strCache>
                <c:ptCount val="1"/>
                <c:pt idx="0">
                  <c:v>4 状态学生</c:v>
                </c:pt>
              </c:strCache>
            </c:strRef>
          </c:tx>
          <c:spPr>
            <a:solidFill>
              <a:srgbClr val="4E9D76"/>
            </a:solidFill>
            <a:ln w="9525">
              <a:solidFill>
                <a:srgbClr val="2A7652"/>
              </a:solidFill>
              <a:prstDash val="solid"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{"截断规模 12
(n = 8)","截断规模 16
(n = 4)"}</c:f>
              <c:strCache>
                <c:ptCount val="2"/>
                <c:pt idx="0">
                  <c:v>截断规模 12
(n = 8)</c:v>
                </c:pt>
                <c:pt idx="1">
                  <c:v>截断规模 16
(n = 4)</c:v>
                </c:pt>
              </c:strCache>
            </c:strRef>
          </c:cat>
          <c:val>
            <c:numRef>
              <c:f>{8.43,9.49}</c:f>
              <c:numCache>
                <c:formatCode>0.0</c:formatCode>
                <c:ptCount val="2"/>
                <c:pt idx="0">
                  <c:v>8.43</c:v>
                </c:pt>
                <c:pt idx="1">
                  <c:v>9.49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1F2A3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1" i="0" u="none" strike="noStrike" kern="1200" baseline="0">
                <a:solidFill>
                  <a:srgbClr val="1F2A37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.5"/>
          <c:min val="0"/>
        </c:scaling>
        <c:delete val="0"/>
        <c:axPos val="l"/>
        <c:majorGridlines>
          <c:spPr>
            <a:ln w="9525">
              <a:solidFill>
                <a:srgbClr val="D8E0E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50" b="1">
                    <a:solidFill>
                      <a:srgbClr val="1F2A37"/>
                    </a:solidFill>
                  </a:rPr>
                  <a:t>有效保真寿命（纠错周期）</a:t>
                </a:r>
                <a:endParaRPr sz="1050" b="1">
                  <a:solidFill>
                    <a:srgbClr val="1F2A37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1F2A3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60708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1F2A37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6d1a50-4f21-41d0-a656-b624899c3b07}"/>
      </c:ext>
    </c:extLst>
  </c:chart>
  <c:spPr>
    <a:solidFill>
      <a:srgbClr val="FFFFFF"/>
    </a:solidFill>
    <a:ln w="9525">
      <a:solidFill>
        <a:srgbClr val="D8E0E8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讲解顺序：</a:t>
            </a:r>
          </a:p>
          <a:p>
            <a:r>
              <a:t>1. 先说旧方案的贡献：它建立了快慢双回路。慢回路按测量窗口估计漂移；快回路每次 syndrome 只执行定点仿射修正。</a:t>
            </a:r>
          </a:p>
          <a:p>
            <a:r>
              <a:t>2. 再说三项工程优点：时间尺度分离、固定点/固定路径、Stage-then-commit。</a:t>
            </a:r>
          </a:p>
          <a:p>
            <a:r>
              <a:t>3. 然后解释为什么要升级：四场景结果确实都胜过 UKF，但平均相对优势仅约 2.32%，且每场景 n=2，只能做描述性比较。</a:t>
            </a:r>
          </a:p>
          <a:p>
            <a:r>
              <a:t>4. Tiny-CNN 只学习 teacher 尚未解释的偏置残差，在线快路径仍是 Δ=Ks+b；这对早期可行性验证足够，但对长记忆、状态切换和复杂尾部故障表达有限。</a:t>
            </a:r>
          </a:p>
          <a:p>
            <a:r>
              <a:t>5. 最后强调证据边界：这是 mock-backed software-HIL，不包含真实板卡 latency、资源、功耗和 transport。</a:t>
            </a:r>
          </a:p>
          <a:p>
            <a:r>
              <a:t>老师可能追问：旧方案是不是失败？回答：不是。它完成了“系统接口和方向验证”，但没有通过后来提高后的统计、强基线、长序列和硬件证据门，因此不再作为主性能结论。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先从上半部分讲慢回路。离线 GRU Teacher 负责学习复杂的历史依赖，只用于训练；部署候选是 4 状态、95 个浮点标量的轻量 Student。</a:t>
            </a:r>
          </a:p>
          <a:p>
            <a:r>
              <a:t>2. Student 不直接输出每个周期的物理动作，而是基于近期 syndrome 历史提出慢参数更新。</a:t>
            </a:r>
          </a:p>
          <a:p>
            <a:r>
              <a:t>3. 候选参数先写入 inactive bank，并通过版本、CRC、完整镜像和安全边界检查；只有原子提交后才成为 active bank。</a:t>
            </a:r>
          </a:p>
          <a:p>
            <a:r>
              <a:t>4. 下半部分是每次测量的确定性快路径：定点 MAP-LUT 做地址、插值、符号判断；事件 FSM 处理连续 e、leakage、reset、health fault，再更新 Pauli frame 或保持安全状态。</a:t>
            </a:r>
          </a:p>
          <a:p>
            <a:r>
              <a:t>5. 这个设计的关键不是“把大模型搬上 FPGA”，而是把学习能力放在慢回路，把确定性、可验证性和 fail-closed 行为留在关键路径。</a:t>
            </a:r>
          </a:p>
          <a:p>
            <a:r>
              <a:t>6. 当前状态必须更新：Teacher/Student 的强性能主张没有通过全部 matched-baseline 门，因此任务板已把 Route-A contract-centric 安全双回路设为主线；Teacher/Student 保留为可替换增强。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讲解顺序：</a:t>
            </a:r>
          </a:p>
          <a:p>
            <a:r>
              <a:t>1. 先解释“有效保真寿命”：它把 10 周期保真度曲线的有限时域面积换成等效寿命，越高说明信息在这段仿真中保持得越久。不是 FPGA 墙钟时间。</a:t>
            </a:r>
          </a:p>
          <a:p>
            <a:r>
              <a:t>2. cutoff 12：固定参数 3.57、MF 均值 8.62、Teacher 8.44、Student 8.43；Student 相对固定参数约 2.36 倍。</a:t>
            </a:r>
          </a:p>
          <a:p>
            <a:r>
              <a:t>3. cutoff 16：固定参数 5.99、MF 9.16、Teacher 9.53、Student 9.49；Student 相对固定参数约 1.58 倍。</a:t>
            </a:r>
          </a:p>
          <a:p>
            <a:r>
              <a:t>4. Student 对 Teacher 的收益保持率在六个预注册点估计中最低为 98.15%；模型标量从 72,853 降到 95，约 767 倍。这支持“压缩后基本保留 Teacher 收益”。</a:t>
            </a:r>
          </a:p>
          <a:p>
            <a:r>
              <a:t>5. 反例必须主动说：cutoff 12 中 MF 强基线比 Teacher/Student 更高；因此不能说学习模型在所有条件下都最好。这也是任务板 T5.1.4 将 CNN 强性能主张删除、转向 Route-A 系统主张的原因。</a:t>
            </a:r>
          </a:p>
          <a:p>
            <a:r>
              <a:t>6. 工程证据是另一条线：production fast path 已完成 1,000,000-cycle RTL/CXXRTL 全字段零 mismatch；integrated P&amp;R min Fmax 39.5726 MHz、最大 3802 LUT4/1022 FF/8 BSRAM。它们是资格验证和综合/P&amp;R估计，不是板卡测量。</a:t>
            </a:r>
          </a:p>
          <a:p>
            <a:r>
              <a:t>7. 当前推荐任务 T6.7.3 正在把 integrated Route-A 扩展到至少 10^6 cycles 的 fixed-point/CXXRTL/RTL 故障资格验证。</a:t>
            </a:r>
          </a:p>
          <a:p>
            <a:r>
              <a:t>老师可能追问：为何还保留 Student？回答：它在性能—复杂度折中上有价值，适合作为可替换增强；但论文主结果必须由 observed-only、matched-budget、tail-safe 的 Route-A promotion gate 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矩形 4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F70"/>
          </a:solidFill>
          <a:ln w="0">
            <a:solidFill>
              <a:srgbClr val="173F7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45085"/>
            <a:ext cx="3048000" cy="238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B776C"/>
                </a:solidFill>
              </a:defRPr>
            </a:pPr>
            <a:r>
              <a:rPr sz="1050" b="1">
                <a:solidFill>
                  <a:srgbClr val="0B776C"/>
                </a:solidFill>
              </a:rPr>
              <a:t>01  </a:t>
            </a:r>
            <a:r>
              <a:rPr lang="zh-CN" sz="1050" b="1">
                <a:solidFill>
                  <a:srgbClr val="0B776C"/>
                </a:solidFill>
              </a:rPr>
              <a:t>已有</a:t>
            </a:r>
            <a:r>
              <a:rPr sz="1050" b="1">
                <a:solidFill>
                  <a:srgbClr val="0B776C"/>
                </a:solidFill>
              </a:rPr>
              <a:t>方案</a:t>
            </a:r>
            <a:endParaRPr lang="zh-CN" sz="1050" b="1">
              <a:solidFill>
                <a:srgbClr val="0B77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332740"/>
            <a:ext cx="11334750" cy="65595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F2A37"/>
                </a:solidFill>
              </a:defRPr>
            </a:pPr>
            <a:r>
              <a:rPr sz="2700" b="1">
                <a:solidFill>
                  <a:srgbClr val="1F2A37"/>
                </a:solidFill>
              </a:rPr>
              <a:t>CNN–FPGA 回路：</a:t>
            </a:r>
            <a:r>
              <a:rPr lang="zh-CN" sz="2700" b="1">
                <a:solidFill>
                  <a:srgbClr val="1F2A37"/>
                </a:solidFill>
              </a:rPr>
              <a:t>在延迟和漂移适应性上均有优势</a:t>
            </a:r>
            <a:endParaRPr lang="zh-CN" altLang="en-US" sz="2700" b="1">
              <a:solidFill>
                <a:srgbClr val="1F2A37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1076325"/>
            <a:ext cx="11239500" cy="762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7083"/>
                </a:solidFill>
              </a:defRPr>
            </a:pPr>
            <a:endParaRPr sz="1200" b="0">
              <a:solidFill>
                <a:srgbClr val="60708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133475"/>
            <a:ext cx="11382375" cy="28575"/>
          </a:xfrm>
          <a:prstGeom prst="rect">
            <a:avLst/>
          </a:prstGeom>
          <a:solidFill>
            <a:srgbClr val="159D8C"/>
          </a:solidFill>
          <a:ln w="0">
            <a:solidFill>
              <a:srgbClr val="159D8C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1476375" y="2066925"/>
            <a:ext cx="523875" cy="247650"/>
          </a:xfrm>
          <a:prstGeom prst="rightArrow">
            <a:avLst/>
          </a:prstGeom>
          <a:solidFill>
            <a:srgbClr val="159D8C"/>
          </a:solidFill>
          <a:ln w="0">
            <a:solidFill>
              <a:srgbClr val="159D8C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3171825" y="2066925"/>
            <a:ext cx="523875" cy="247650"/>
          </a:xfrm>
          <a:prstGeom prst="rightArrow">
            <a:avLst/>
          </a:prstGeom>
          <a:solidFill>
            <a:srgbClr val="159D8C"/>
          </a:solidFill>
          <a:ln w="0">
            <a:solidFill>
              <a:srgbClr val="159D8C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5629275" y="2066925"/>
            <a:ext cx="523875" cy="247650"/>
          </a:xfrm>
          <a:prstGeom prst="rightArrow">
            <a:avLst/>
          </a:prstGeom>
          <a:solidFill>
            <a:srgbClr val="159D8C"/>
          </a:solidFill>
          <a:ln w="0">
            <a:solidFill>
              <a:srgbClr val="159D8C"/>
            </a:solidFill>
            <a:prstDash val="solid"/>
          </a:ln>
        </p:spPr>
      </p:sp>
      <p:sp>
        <p:nvSpPr>
          <p:cNvPr id="10" name="下箭头 9"/>
          <p:cNvSpPr>
            <a:spLocks noGrp="1"/>
          </p:cNvSpPr>
          <p:nvPr/>
        </p:nvSpPr>
        <p:spPr>
          <a:xfrm>
            <a:off x="6429375" y="2781300"/>
            <a:ext cx="304800" cy="552450"/>
          </a:xfrm>
          <a:prstGeom prst="downArrow">
            <a:avLst/>
          </a:prstGeom>
          <a:solidFill>
            <a:srgbClr val="E88619"/>
          </a:solidFill>
          <a:ln w="0">
            <a:solidFill>
              <a:srgbClr val="E88619"/>
            </a:solidFill>
            <a:prstDash val="solid"/>
          </a:ln>
        </p:spPr>
      </p:sp>
      <p:sp>
        <p:nvSpPr>
          <p:cNvPr id="11" name="右箭头 10"/>
          <p:cNvSpPr>
            <a:spLocks noGrp="1"/>
          </p:cNvSpPr>
          <p:nvPr/>
        </p:nvSpPr>
        <p:spPr>
          <a:xfrm>
            <a:off x="1943100" y="4067175"/>
            <a:ext cx="647700" cy="285750"/>
          </a:xfrm>
          <a:prstGeom prst="rightArrow">
            <a:avLst/>
          </a:prstGeom>
          <a:solidFill>
            <a:srgbClr val="7760A9"/>
          </a:solidFill>
          <a:ln w="0">
            <a:solidFill>
              <a:srgbClr val="7760A9"/>
            </a:solidFill>
            <a:prstDash val="solid"/>
          </a:ln>
        </p:spPr>
      </p:sp>
      <p:sp>
        <p:nvSpPr>
          <p:cNvPr id="12" name="右箭头 11"/>
          <p:cNvSpPr>
            <a:spLocks noGrp="1"/>
          </p:cNvSpPr>
          <p:nvPr/>
        </p:nvSpPr>
        <p:spPr>
          <a:xfrm>
            <a:off x="5191125" y="4067175"/>
            <a:ext cx="619125" cy="285750"/>
          </a:xfrm>
          <a:prstGeom prst="rightArrow">
            <a:avLst/>
          </a:prstGeom>
          <a:solidFill>
            <a:srgbClr val="7760A9"/>
          </a:solidFill>
          <a:ln w="0">
            <a:solidFill>
              <a:srgbClr val="7760A9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57200" y="1323975"/>
            <a:ext cx="1828800" cy="285750"/>
          </a:xfrm>
          <a:prstGeom prst="roundRect">
            <a:avLst>
              <a:gd name="adj" fmla="val 50000"/>
            </a:avLst>
          </a:prstGeom>
          <a:solidFill>
            <a:srgbClr val="E8F6F3"/>
          </a:solidFill>
          <a:ln w="9525">
            <a:solidFill>
              <a:srgbClr val="A7DDD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1343025"/>
            <a:ext cx="167640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B776C"/>
                </a:solidFill>
              </a:defRPr>
            </a:pPr>
            <a:r>
              <a:rPr sz="975" b="1">
                <a:solidFill>
                  <a:srgbClr val="0B776C"/>
                </a:solidFill>
              </a:rPr>
              <a:t>慢回路 · 按窗口更新</a:t>
            </a:r>
            <a:endParaRPr sz="975" b="1">
              <a:solidFill>
                <a:srgbClr val="0B776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57200" y="3333750"/>
            <a:ext cx="1828800" cy="28575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9525">
            <a:solidFill>
              <a:srgbClr val="CFC3E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3352800"/>
            <a:ext cx="167640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7760A9"/>
                </a:solidFill>
              </a:defRPr>
            </a:pPr>
            <a:r>
              <a:rPr sz="975" b="1">
                <a:solidFill>
                  <a:srgbClr val="7760A9"/>
                </a:solidFill>
              </a:rPr>
              <a:t>快回路 · 每次测量</a:t>
            </a:r>
            <a:endParaRPr sz="975" b="1">
              <a:solidFill>
                <a:srgbClr val="7760A9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57200" y="1762125"/>
            <a:ext cx="1019175" cy="876300"/>
          </a:xfrm>
          <a:prstGeom prst="roundRect">
            <a:avLst>
              <a:gd name="adj" fmla="val 13043"/>
            </a:avLst>
          </a:prstGeom>
          <a:solidFill>
            <a:srgbClr val="EAF1F8"/>
          </a:solidFill>
          <a:ln w="14288">
            <a:solidFill>
              <a:srgbClr val="9EB5C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1866900"/>
            <a:ext cx="790575" cy="609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F2F55"/>
                </a:solidFill>
              </a:defRPr>
            </a:pPr>
            <a:r>
              <a:rPr sz="1425" b="1">
                <a:solidFill>
                  <a:srgbClr val="0F2F55"/>
                </a:solidFill>
              </a:rPr>
              <a:t>近期测量</a:t>
            </a:r>
            <a:endParaRPr sz="1425" b="1">
              <a:solidFill>
                <a:srgbClr val="0F2F55"/>
              </a:solidFill>
            </a:endParaRPr>
          </a:p>
          <a:p>
            <a:pPr algn="ctr">
              <a:defRPr sz="1425" b="1">
                <a:solidFill>
                  <a:srgbClr val="0F2F55"/>
                </a:solidFill>
              </a:defRPr>
            </a:pPr>
            <a:r>
              <a:rPr sz="1425" b="1">
                <a:solidFill>
                  <a:srgbClr val="0F2F55"/>
                </a:solidFill>
              </a:rPr>
              <a:t>窗口</a:t>
            </a:r>
            <a:endParaRPr sz="1425" b="1">
              <a:solidFill>
                <a:srgbClr val="0F2F55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000250" y="1762125"/>
            <a:ext cx="1171575" cy="876300"/>
          </a:xfrm>
          <a:prstGeom prst="roundRect">
            <a:avLst>
              <a:gd name="adj" fmla="val 13043"/>
            </a:avLst>
          </a:prstGeom>
          <a:solidFill>
            <a:srgbClr val="EAF1F8"/>
          </a:solidFill>
          <a:ln w="14288">
            <a:solidFill>
              <a:srgbClr val="9EB5C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105025" y="1866900"/>
            <a:ext cx="962025" cy="609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F2F55"/>
                </a:solidFill>
              </a:defRPr>
            </a:pPr>
            <a:r>
              <a:rPr sz="1350" b="1">
                <a:solidFill>
                  <a:srgbClr val="0F2F55"/>
                </a:solidFill>
              </a:rPr>
              <a:t>syndrome</a:t>
            </a:r>
            <a:endParaRPr sz="1350" b="1">
              <a:solidFill>
                <a:srgbClr val="0F2F55"/>
              </a:solidFill>
            </a:endParaRPr>
          </a:p>
          <a:p>
            <a:pPr algn="ctr">
              <a:defRPr sz="1350" b="1">
                <a:solidFill>
                  <a:srgbClr val="0F2F55"/>
                </a:solidFill>
              </a:defRPr>
            </a:pPr>
            <a:r>
              <a:rPr sz="1350" b="1">
                <a:solidFill>
                  <a:srgbClr val="0F2F55"/>
                </a:solidFill>
              </a:rPr>
              <a:t>直方图 H</a:t>
            </a:r>
            <a:endParaRPr sz="1350" b="1">
              <a:solidFill>
                <a:srgbClr val="0F2F55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3695700" y="1581150"/>
            <a:ext cx="1933575" cy="1238250"/>
          </a:xfrm>
          <a:prstGeom prst="roundRect">
            <a:avLst>
              <a:gd name="adj" fmla="val 9231"/>
            </a:avLst>
          </a:prstGeom>
          <a:solidFill>
            <a:srgbClr val="E8F6F3"/>
          </a:solidFill>
          <a:ln w="14288">
            <a:solidFill>
              <a:srgbClr val="8BC9C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829050" y="1685925"/>
            <a:ext cx="1666875" cy="4381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F2F55"/>
                </a:solidFill>
              </a:defRPr>
            </a:pPr>
            <a:r>
              <a:rPr sz="1350" b="1">
                <a:solidFill>
                  <a:srgbClr val="0F2F55"/>
                </a:solidFill>
              </a:rPr>
              <a:t>Classical Teacher</a:t>
            </a:r>
            <a:endParaRPr sz="1350" b="1">
              <a:solidFill>
                <a:srgbClr val="0F2F55"/>
              </a:solidFill>
            </a:endParaRPr>
          </a:p>
          <a:p>
            <a:pPr algn="ctr">
              <a:defRPr sz="1350" b="1">
                <a:solidFill>
                  <a:srgbClr val="0F2F55"/>
                </a:solidFill>
              </a:defRPr>
            </a:pPr>
            <a:r>
              <a:rPr sz="1350" b="1">
                <a:solidFill>
                  <a:srgbClr val="0F2F55"/>
                </a:solidFill>
              </a:rPr>
              <a:t>UKF / EKF</a:t>
            </a:r>
            <a:endParaRPr sz="1350" b="1">
              <a:solidFill>
                <a:srgbClr val="0F2F5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943350" y="2200275"/>
            <a:ext cx="1428750" cy="14288"/>
          </a:xfrm>
          <a:prstGeom prst="rect">
            <a:avLst/>
          </a:prstGeom>
          <a:solidFill>
            <a:srgbClr val="A4D9D2"/>
          </a:solidFill>
          <a:ln w="0">
            <a:solidFill>
              <a:srgbClr val="A4D9D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867150" y="2266950"/>
            <a:ext cx="1600200" cy="4095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0B776C"/>
                </a:solidFill>
              </a:defRPr>
            </a:pPr>
            <a:r>
              <a:rPr sz="1125" b="0">
                <a:solidFill>
                  <a:srgbClr val="0B776C"/>
                </a:solidFill>
              </a:rPr>
              <a:t>+ Tiny-CNN 残差</a:t>
            </a:r>
            <a:endParaRPr sz="1125" b="0">
              <a:solidFill>
                <a:srgbClr val="0B776C"/>
              </a:solidFill>
            </a:endParaRPr>
          </a:p>
          <a:p>
            <a:pPr algn="ctr">
              <a:defRPr sz="1125" b="0">
                <a:solidFill>
                  <a:srgbClr val="0B776C"/>
                </a:solidFill>
              </a:defRPr>
            </a:pPr>
            <a:r>
              <a:rPr sz="1125" b="0">
                <a:solidFill>
                  <a:srgbClr val="0B776C"/>
                </a:solidFill>
              </a:rPr>
              <a:t>修正</a:t>
            </a:r>
            <a:endParaRPr sz="1125" b="0">
              <a:solidFill>
                <a:srgbClr val="0B776C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153150" y="1762125"/>
            <a:ext cx="1019175" cy="876300"/>
          </a:xfrm>
          <a:prstGeom prst="roundRect">
            <a:avLst>
              <a:gd name="adj" fmla="val 13043"/>
            </a:avLst>
          </a:prstGeom>
          <a:solidFill>
            <a:srgbClr val="FFF2DE"/>
          </a:solidFill>
          <a:ln w="14288">
            <a:solidFill>
              <a:srgbClr val="EDB76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86500" y="1876425"/>
            <a:ext cx="752475" cy="571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774512"/>
                </a:solidFill>
              </a:defRPr>
            </a:pPr>
            <a:r>
              <a:rPr sz="1275" b="1">
                <a:solidFill>
                  <a:srgbClr val="774512"/>
                </a:solidFill>
              </a:rPr>
              <a:t>量化 +</a:t>
            </a:r>
            <a:endParaRPr sz="1275" b="1">
              <a:solidFill>
                <a:srgbClr val="774512"/>
              </a:solidFill>
            </a:endParaRPr>
          </a:p>
          <a:p>
            <a:pPr algn="ctr">
              <a:defRPr sz="1275" b="1">
                <a:solidFill>
                  <a:srgbClr val="774512"/>
                </a:solidFill>
              </a:defRPr>
            </a:pPr>
            <a:r>
              <a:rPr sz="1275" b="1">
                <a:solidFill>
                  <a:srgbClr val="774512"/>
                </a:solidFill>
              </a:rPr>
              <a:t>安全提交</a:t>
            </a:r>
            <a:endParaRPr sz="1275" b="1">
              <a:solidFill>
                <a:srgbClr val="774512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66725" y="3762375"/>
            <a:ext cx="1476375" cy="866775"/>
          </a:xfrm>
          <a:prstGeom prst="roundRect">
            <a:avLst>
              <a:gd name="adj" fmla="val 13187"/>
            </a:avLst>
          </a:prstGeom>
          <a:solidFill>
            <a:srgbClr val="EAF1F8"/>
          </a:solidFill>
          <a:ln w="14288">
            <a:solidFill>
              <a:srgbClr val="9EB5C9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90550" y="3895725"/>
            <a:ext cx="121920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F2F55"/>
                </a:solidFill>
              </a:defRPr>
            </a:pPr>
            <a:r>
              <a:rPr sz="1350" b="1">
                <a:solidFill>
                  <a:srgbClr val="0F2F55"/>
                </a:solidFill>
              </a:rPr>
              <a:t>模化 syndrome</a:t>
            </a:r>
            <a:endParaRPr sz="1350" b="1">
              <a:solidFill>
                <a:srgbClr val="0F2F55"/>
              </a:solidFill>
            </a:endParaRPr>
          </a:p>
          <a:p>
            <a:pPr algn="ctr">
              <a:defRPr sz="1350" b="1">
                <a:solidFill>
                  <a:srgbClr val="0F2F55"/>
                </a:solidFill>
              </a:defRPr>
            </a:pPr>
            <a:r>
              <a:rPr sz="1350" b="1">
                <a:solidFill>
                  <a:srgbClr val="0F2F55"/>
                </a:solidFill>
              </a:rPr>
              <a:t>sₜ</a:t>
            </a:r>
            <a:endParaRPr sz="1350" b="1">
              <a:solidFill>
                <a:srgbClr val="0F2F55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581275" y="3638550"/>
            <a:ext cx="2609850" cy="1114425"/>
          </a:xfrm>
          <a:prstGeom prst="roundRect">
            <a:avLst>
              <a:gd name="adj" fmla="val 10256"/>
            </a:avLst>
          </a:prstGeom>
          <a:solidFill>
            <a:srgbClr val="EFEAF7"/>
          </a:solidFill>
          <a:ln w="14288">
            <a:solidFill>
              <a:srgbClr val="A89AC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743200" y="3743325"/>
            <a:ext cx="228600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F2F55"/>
                </a:solidFill>
              </a:defRPr>
            </a:pPr>
            <a:r>
              <a:rPr sz="1275" b="1">
                <a:solidFill>
                  <a:srgbClr val="0F2F55"/>
                </a:solidFill>
              </a:rPr>
              <a:t>FPGA-facing 定点仿射快路径</a:t>
            </a:r>
            <a:endParaRPr sz="1275" b="1">
              <a:solidFill>
                <a:srgbClr val="0F2F5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38450" y="4048125"/>
            <a:ext cx="2095500" cy="3238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7760A9"/>
                </a:solidFill>
              </a:defRPr>
            </a:pPr>
            <a:r>
              <a:rPr sz="1875" b="1">
                <a:solidFill>
                  <a:srgbClr val="7760A9"/>
                </a:solidFill>
              </a:rPr>
              <a:t>Δ = K·s + b</a:t>
            </a:r>
            <a:endParaRPr sz="1875" b="1">
              <a:solidFill>
                <a:srgbClr val="7760A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857500" y="4419600"/>
            <a:ext cx="2057400" cy="1905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40" b="0">
                <a:solidFill>
                  <a:srgbClr val="607083"/>
                </a:solidFill>
              </a:defRPr>
            </a:pPr>
            <a:r>
              <a:rPr sz="940" b="0">
                <a:solidFill>
                  <a:srgbClr val="607083"/>
                </a:solidFill>
              </a:rPr>
              <a:t>clip · matvec · register</a:t>
            </a:r>
            <a:endParaRPr sz="940" b="0">
              <a:solidFill>
                <a:srgbClr val="607083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810250" y="3762375"/>
            <a:ext cx="1362075" cy="866775"/>
          </a:xfrm>
          <a:prstGeom prst="roundRect">
            <a:avLst>
              <a:gd name="adj" fmla="val 13187"/>
            </a:avLst>
          </a:prstGeom>
          <a:solidFill>
            <a:srgbClr val="FFF2DE"/>
          </a:solidFill>
          <a:ln w="14288">
            <a:solidFill>
              <a:srgbClr val="EDB76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943600" y="3886200"/>
            <a:ext cx="1095375" cy="5429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774512"/>
                </a:solidFill>
              </a:defRPr>
            </a:pPr>
            <a:r>
              <a:rPr sz="1275" b="1">
                <a:solidFill>
                  <a:srgbClr val="774512"/>
                </a:solidFill>
              </a:rPr>
              <a:t>位移纠正 /</a:t>
            </a:r>
            <a:endParaRPr sz="1275" b="1">
              <a:solidFill>
                <a:srgbClr val="774512"/>
              </a:solidFill>
            </a:endParaRPr>
          </a:p>
          <a:p>
            <a:pPr algn="ctr">
              <a:defRPr sz="1275" b="1">
                <a:solidFill>
                  <a:srgbClr val="774512"/>
                </a:solidFill>
              </a:defRPr>
            </a:pPr>
            <a:r>
              <a:rPr sz="1275" b="1">
                <a:solidFill>
                  <a:srgbClr val="774512"/>
                </a:solidFill>
              </a:rPr>
              <a:t>Pauli 帧更新</a:t>
            </a:r>
            <a:endParaRPr sz="1275" b="1">
              <a:solidFill>
                <a:srgbClr val="774512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308850" y="1371600"/>
            <a:ext cx="4425950" cy="40005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392035" y="1412875"/>
            <a:ext cx="3571875" cy="3238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0F2F55"/>
                </a:solidFill>
              </a:defRPr>
            </a:pPr>
            <a:r>
              <a:rPr lang="zh-CN" sz="1725" b="1">
                <a:solidFill>
                  <a:srgbClr val="0F2F55"/>
                </a:solidFill>
              </a:rPr>
              <a:t>该</a:t>
            </a:r>
            <a:r>
              <a:rPr sz="1725" b="1">
                <a:solidFill>
                  <a:srgbClr val="0F2F55"/>
                </a:solidFill>
              </a:rPr>
              <a:t>架构</a:t>
            </a:r>
            <a:r>
              <a:rPr lang="zh-CN" sz="1725" b="1">
                <a:solidFill>
                  <a:srgbClr val="0F2F55"/>
                </a:solidFill>
              </a:rPr>
              <a:t>的</a:t>
            </a:r>
            <a:r>
              <a:rPr lang="zh-CN" sz="1725" b="1">
                <a:solidFill>
                  <a:srgbClr val="0F2F55"/>
                </a:solidFill>
              </a:rPr>
              <a:t>优势</a:t>
            </a:r>
            <a:endParaRPr lang="zh-CN" sz="1725" b="1">
              <a:solidFill>
                <a:srgbClr val="0F2F55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449820" y="1685290"/>
            <a:ext cx="3884930" cy="164909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A7652"/>
                </a:solidFill>
              </a:defRPr>
            </a:pPr>
            <a:r>
              <a:rPr sz="1350" b="0">
                <a:solidFill>
                  <a:srgbClr val="2A7652"/>
                </a:solidFill>
              </a:rPr>
              <a:t>✓  把漂移估计与逐次解码分成快、慢两个时间尺度</a:t>
            </a:r>
            <a:r>
              <a:rPr 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Teacher+TinyCNN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平均推理延迟在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229µs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左右，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FPGA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仿真平均解码延迟在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65ns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左右，和已有的使用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MAT-LUT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协议的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FPGA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延迟几乎相同</a:t>
            </a:r>
            <a:endParaRPr sz="1350" b="0">
              <a:solidFill>
                <a:srgbClr val="2A7652"/>
              </a:solidFill>
            </a:endParaRPr>
          </a:p>
          <a:p>
            <a:pPr algn="l">
              <a:defRPr sz="1350" b="0">
                <a:solidFill>
                  <a:srgbClr val="2A7652"/>
                </a:solidFill>
              </a:defRPr>
            </a:pPr>
            <a:r>
              <a:rPr sz="1350" b="0">
                <a:solidFill>
                  <a:srgbClr val="2A7652"/>
                </a:solidFill>
              </a:rPr>
              <a:t>✓  </a:t>
            </a:r>
            <a:r>
              <a:rPr lang="zh-CN" sz="1350" b="0">
                <a:solidFill>
                  <a:srgbClr val="2A7652"/>
                </a:solidFill>
              </a:rPr>
              <a:t>在静态、线性、阶跃、周期化的四场景</a:t>
            </a:r>
            <a:r>
              <a:rPr lang="zh-CN" altLang="en-US" sz="1350" b="0">
                <a:solidFill>
                  <a:srgbClr val="2A7652"/>
                </a:solidFill>
              </a:rPr>
              <a:t>噪声</a:t>
            </a:r>
            <a:r>
              <a:rPr lang="zh-CN" sz="1350" b="0">
                <a:solidFill>
                  <a:srgbClr val="2A7652"/>
                </a:solidFill>
              </a:rPr>
              <a:t>中都展现了优于旧的马尔可夫</a:t>
            </a:r>
            <a:r>
              <a:rPr lang="en-US" altLang="zh-CN" sz="1350" b="0">
                <a:solidFill>
                  <a:srgbClr val="2A7652"/>
                </a:solidFill>
              </a:rPr>
              <a:t>+SBS</a:t>
            </a:r>
            <a:r>
              <a:rPr lang="zh-CN" altLang="en-US" sz="1350" b="0">
                <a:solidFill>
                  <a:srgbClr val="2A7652"/>
                </a:solidFill>
              </a:rPr>
              <a:t>协议的</a:t>
            </a:r>
            <a:r>
              <a:rPr lang="en-US" altLang="zh-CN" sz="1350" b="0">
                <a:solidFill>
                  <a:srgbClr val="2A7652"/>
                </a:solidFill>
              </a:rPr>
              <a:t>GKP</a:t>
            </a:r>
            <a:r>
              <a:rPr lang="zh-CN" altLang="en-US" sz="1350" b="0">
                <a:solidFill>
                  <a:srgbClr val="2A7652"/>
                </a:solidFill>
              </a:rPr>
              <a:t>纠错方案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，分别在单轮纠错的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LER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上有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2.3%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63.1%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58.6%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350" b="0">
                <a:solidFill>
                  <a:srgbClr val="2A7652"/>
                </a:solidFill>
                <a:ea typeface="宋体" panose="02010600030101010101" pitchFamily="2" charset="-122"/>
              </a:rPr>
              <a:t>74.1%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的</a:t>
            </a:r>
            <a:r>
              <a:rPr lang="zh-CN" altLang="en-US" sz="1350" b="0">
                <a:solidFill>
                  <a:srgbClr val="2A7652"/>
                </a:solidFill>
                <a:ea typeface="宋体" panose="02010600030101010101" pitchFamily="2" charset="-122"/>
              </a:rPr>
              <a:t>降低。</a:t>
            </a:r>
            <a:endParaRPr lang="zh-CN" altLang="en-US" sz="1350" b="0">
              <a:solidFill>
                <a:srgbClr val="2A7652"/>
              </a:solidFill>
              <a:ea typeface="宋体" panose="02010600030101010101" pitchFamily="2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392035" y="3501390"/>
            <a:ext cx="3571875" cy="3238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C74D4D"/>
                </a:solidFill>
              </a:defRPr>
            </a:pPr>
            <a:r>
              <a:rPr lang="zh-CN" sz="1725" b="1">
                <a:solidFill>
                  <a:srgbClr val="C74D4D"/>
                </a:solidFill>
              </a:rPr>
              <a:t>该架构的</a:t>
            </a:r>
            <a:r>
              <a:rPr lang="zh-CN" sz="1725" b="1">
                <a:solidFill>
                  <a:srgbClr val="C74D4D"/>
                </a:solidFill>
              </a:rPr>
              <a:t>不足</a:t>
            </a:r>
            <a:endParaRPr lang="zh-CN" sz="1725" b="1">
              <a:solidFill>
                <a:srgbClr val="C74D4D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464425" y="3825240"/>
            <a:ext cx="3823335" cy="1381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315" b="0">
                <a:solidFill>
                  <a:srgbClr val="1F2A37"/>
                </a:solidFill>
              </a:defRPr>
            </a:pPr>
            <a:r>
              <a:rPr sz="1315" b="0">
                <a:solidFill>
                  <a:srgbClr val="1F2A37"/>
                </a:solidFill>
              </a:rPr>
              <a:t>•  </a:t>
            </a:r>
            <a:r>
              <a:rPr lang="zh-CN" sz="1315" b="0">
                <a:solidFill>
                  <a:srgbClr val="1F2A37"/>
                </a:solidFill>
              </a:rPr>
              <a:t>已有工作使用基于</a:t>
            </a:r>
            <a:r>
              <a:rPr lang="en-US" altLang="zh-CN" sz="1315" b="0">
                <a:solidFill>
                  <a:srgbClr val="1F2A37"/>
                </a:solidFill>
              </a:rPr>
              <a:t>RNN</a:t>
            </a:r>
            <a:r>
              <a:rPr lang="zh-CN" altLang="en-US" sz="1315" b="0">
                <a:solidFill>
                  <a:srgbClr val="1F2A37"/>
                </a:solidFill>
              </a:rPr>
              <a:t>的</a:t>
            </a:r>
            <a:r>
              <a:rPr lang="en-US" altLang="zh-CN" sz="1315" b="0">
                <a:solidFill>
                  <a:srgbClr val="1F2A37"/>
                </a:solidFill>
              </a:rPr>
              <a:t>GRU</a:t>
            </a:r>
            <a:r>
              <a:rPr lang="zh-CN" altLang="en-US" sz="1315" b="0">
                <a:solidFill>
                  <a:srgbClr val="1F2A37"/>
                </a:solidFill>
              </a:rPr>
              <a:t>进行软件仿真实验，我这边将</a:t>
            </a:r>
            <a:r>
              <a:rPr lang="en-US" altLang="zh-CN" sz="1315" b="0">
                <a:solidFill>
                  <a:srgbClr val="1F2A37"/>
                </a:solidFill>
              </a:rPr>
              <a:t>teacher+CNN</a:t>
            </a:r>
            <a:r>
              <a:rPr lang="zh-CN" altLang="en-US" sz="1315" b="0">
                <a:solidFill>
                  <a:srgbClr val="1F2A37"/>
                </a:solidFill>
              </a:rPr>
              <a:t>换成</a:t>
            </a:r>
            <a:r>
              <a:rPr lang="en-US" altLang="zh-CN" sz="1315" b="0">
                <a:solidFill>
                  <a:srgbClr val="1F2A37"/>
                </a:solidFill>
              </a:rPr>
              <a:t>GRU</a:t>
            </a:r>
            <a:r>
              <a:rPr lang="zh-CN" altLang="en-US" sz="1315" b="0">
                <a:solidFill>
                  <a:srgbClr val="1F2A37"/>
                </a:solidFill>
              </a:rPr>
              <a:t>后反而能够实现更好的</a:t>
            </a:r>
            <a:r>
              <a:rPr lang="en-US" altLang="zh-CN" sz="1315" b="0">
                <a:solidFill>
                  <a:srgbClr val="1F2A37"/>
                </a:solidFill>
              </a:rPr>
              <a:t>syndrome</a:t>
            </a:r>
            <a:r>
              <a:rPr lang="zh-CN" altLang="en-US" sz="1315" b="0">
                <a:solidFill>
                  <a:srgbClr val="1F2A37"/>
                </a:solidFill>
              </a:rPr>
              <a:t>时间序列预测，目前</a:t>
            </a:r>
            <a:r>
              <a:rPr lang="zh-CN" altLang="en-US" sz="1315" b="0">
                <a:solidFill>
                  <a:srgbClr val="1F2A37"/>
                </a:solidFill>
              </a:rPr>
              <a:t>已在优势基础上继续提升从</a:t>
            </a:r>
            <a:r>
              <a:rPr lang="en-US" altLang="zh-CN" sz="1315" b="0">
                <a:solidFill>
                  <a:srgbClr val="1F2A37"/>
                </a:solidFill>
              </a:rPr>
              <a:t>12%</a:t>
            </a:r>
            <a:r>
              <a:rPr lang="zh-CN" altLang="en-US" sz="1315" b="0">
                <a:solidFill>
                  <a:srgbClr val="1F2A37"/>
                </a:solidFill>
              </a:rPr>
              <a:t>到</a:t>
            </a:r>
            <a:r>
              <a:rPr lang="en-US" altLang="zh-CN" sz="1315" b="0">
                <a:solidFill>
                  <a:srgbClr val="1F2A37"/>
                </a:solidFill>
              </a:rPr>
              <a:t>27%</a:t>
            </a:r>
            <a:r>
              <a:rPr lang="zh-CN" altLang="en-US" sz="1315" b="0">
                <a:solidFill>
                  <a:srgbClr val="1F2A37"/>
                </a:solidFill>
              </a:rPr>
              <a:t>的</a:t>
            </a:r>
            <a:r>
              <a:rPr lang="en-US" altLang="zh-CN" sz="1315" b="0">
                <a:solidFill>
                  <a:srgbClr val="1F2A37"/>
                </a:solidFill>
              </a:rPr>
              <a:t>LER</a:t>
            </a:r>
            <a:r>
              <a:rPr lang="zh-CN" altLang="en-US" sz="1315" b="0">
                <a:solidFill>
                  <a:srgbClr val="1F2A37"/>
                </a:solidFill>
              </a:rPr>
              <a:t>降低水准，且逻辑寿命也有同等的</a:t>
            </a:r>
            <a:r>
              <a:rPr lang="zh-CN" altLang="en-US" sz="1315" b="0">
                <a:solidFill>
                  <a:srgbClr val="1F2A37"/>
                </a:solidFill>
              </a:rPr>
              <a:t>提升。</a:t>
            </a:r>
            <a:endParaRPr lang="en-US" sz="1320" b="0">
              <a:solidFill>
                <a:srgbClr val="1F2A37"/>
              </a:solidFill>
              <a:sym typeface="+mn-ea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457200" y="5600700"/>
            <a:ext cx="11277600" cy="647700"/>
          </a:xfrm>
          <a:prstGeom prst="roundRect">
            <a:avLst>
              <a:gd name="adj" fmla="val 17647"/>
            </a:avLst>
          </a:prstGeom>
          <a:solidFill>
            <a:srgbClr val="0F2F55"/>
          </a:solidFill>
          <a:ln w="0">
            <a:solidFill>
              <a:srgbClr val="0F2F5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51180" y="5762625"/>
            <a:ext cx="1047750" cy="2857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8FE0D4"/>
                </a:solidFill>
              </a:defRPr>
            </a:pPr>
            <a:r>
              <a:rPr sz="1275" b="1">
                <a:solidFill>
                  <a:srgbClr val="8FE0D4"/>
                </a:solidFill>
              </a:rPr>
              <a:t>阶段结论</a:t>
            </a:r>
            <a:endParaRPr sz="1275" b="1">
              <a:solidFill>
                <a:srgbClr val="8FE0D4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537970" y="5715000"/>
            <a:ext cx="10189210" cy="3619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lang="zh-CN" sz="1575" b="1">
                <a:solidFill>
                  <a:srgbClr val="FFFFFF"/>
                </a:solidFill>
              </a:rPr>
              <a:t>已有</a:t>
            </a:r>
            <a:r>
              <a:rPr sz="1575" b="1">
                <a:solidFill>
                  <a:srgbClr val="FFFFFF"/>
                </a:solidFill>
              </a:rPr>
              <a:t>回路证明了“漂移估计 + 确定性快路径”方向可行，但</a:t>
            </a:r>
            <a:r>
              <a:rPr lang="zh-CN" sz="1575" b="1">
                <a:solidFill>
                  <a:srgbClr val="FFFFFF"/>
                </a:solidFill>
              </a:rPr>
              <a:t>对比已有工作还需进行完整实验复现并确定新的叙事点</a:t>
            </a:r>
            <a:r>
              <a:rPr sz="1575" b="1">
                <a:solidFill>
                  <a:srgbClr val="FFFFFF"/>
                </a:solidFill>
              </a:rPr>
              <a:t>。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1191875" y="6429375"/>
            <a:ext cx="55245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173F70"/>
                </a:solidFill>
              </a:defRPr>
            </a:pPr>
            <a:r>
              <a:rPr sz="1050" b="1">
                <a:solidFill>
                  <a:srgbClr val="173F70"/>
                </a:solidFill>
              </a:rPr>
              <a:t>01</a:t>
            </a:r>
            <a:endParaRPr sz="1050" b="1">
              <a:solidFill>
                <a:srgbClr val="173F7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F70"/>
          </a:solidFill>
          <a:ln w="0">
            <a:solidFill>
              <a:srgbClr val="173F7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09550"/>
            <a:ext cx="3048000" cy="238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B776C"/>
                </a:solidFill>
              </a:defRPr>
            </a:pPr>
            <a:r>
              <a:rPr sz="1050" b="1">
                <a:solidFill>
                  <a:srgbClr val="0B776C"/>
                </a:solidFill>
              </a:rPr>
              <a:t>0</a:t>
            </a:r>
            <a:r>
              <a:rPr lang="en-US" sz="1050" b="1">
                <a:solidFill>
                  <a:srgbClr val="0B776C"/>
                </a:solidFill>
              </a:rPr>
              <a:t>2</a:t>
            </a:r>
            <a:r>
              <a:rPr sz="1050" b="1">
                <a:solidFill>
                  <a:srgbClr val="0B776C"/>
                </a:solidFill>
              </a:rPr>
              <a:t>  升级架构</a:t>
            </a:r>
            <a:endParaRPr sz="1050" b="1">
              <a:solidFill>
                <a:srgbClr val="0B77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428625"/>
            <a:ext cx="1133475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F2A37"/>
                </a:solidFill>
              </a:defRPr>
            </a:pPr>
            <a:r>
              <a:rPr sz="2700" b="1">
                <a:solidFill>
                  <a:srgbClr val="1F2A37"/>
                </a:solidFill>
              </a:rPr>
              <a:t>教师–学生升级架构：</a:t>
            </a:r>
            <a:r>
              <a:rPr lang="zh-CN" sz="2700" b="1">
                <a:solidFill>
                  <a:srgbClr val="1F2A37"/>
                </a:solidFill>
              </a:rPr>
              <a:t>保持</a:t>
            </a:r>
            <a:r>
              <a:rPr lang="en-US" altLang="zh-CN" sz="2700" b="1">
                <a:solidFill>
                  <a:srgbClr val="1F2A37"/>
                </a:solidFill>
              </a:rPr>
              <a:t>FPGA</a:t>
            </a:r>
            <a:r>
              <a:rPr lang="zh-CN" altLang="en-US" sz="2700" b="1">
                <a:solidFill>
                  <a:srgbClr val="1F2A37"/>
                </a:solidFill>
              </a:rPr>
              <a:t>双回路不变，选用不同慢回路</a:t>
            </a:r>
            <a:r>
              <a:rPr lang="zh-CN" altLang="en-US" sz="2700" b="1">
                <a:solidFill>
                  <a:srgbClr val="1F2A37"/>
                </a:solidFill>
              </a:rPr>
              <a:t>模型</a:t>
            </a:r>
            <a:endParaRPr lang="zh-CN" altLang="en-US" sz="2700" b="1">
              <a:solidFill>
                <a:srgbClr val="1F2A37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895350"/>
            <a:ext cx="11239500" cy="2571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7083"/>
                </a:solidFill>
              </a:defRPr>
            </a:pPr>
            <a:r>
              <a:rPr sz="1200" b="0">
                <a:solidFill>
                  <a:srgbClr val="607083"/>
                </a:solidFill>
              </a:rPr>
              <a:t>离线模型学习历史依赖；在线候选只做慢参数建议；每次测量仍由可审计的 MAP-LUT + FSM 执行。</a:t>
            </a:r>
            <a:endParaRPr sz="1200" b="0">
              <a:solidFill>
                <a:srgbClr val="60708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133475"/>
            <a:ext cx="11382375" cy="28575"/>
          </a:xfrm>
          <a:prstGeom prst="rect">
            <a:avLst/>
          </a:prstGeom>
          <a:solidFill>
            <a:srgbClr val="159D8C"/>
          </a:solidFill>
          <a:ln w="0">
            <a:solidFill>
              <a:srgbClr val="159D8C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381000" y="1381125"/>
            <a:ext cx="8477250" cy="496443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673860"/>
            <a:ext cx="8321675" cy="4582795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9105900" y="1381125"/>
            <a:ext cx="2553335" cy="4877435"/>
          </a:xfrm>
          <a:prstGeom prst="roundRect">
            <a:avLst>
              <a:gd name="adj" fmla="val 5797"/>
            </a:avLst>
          </a:prstGeom>
          <a:solidFill>
            <a:srgbClr val="0F2F55"/>
          </a:solidFill>
          <a:ln w="0">
            <a:solidFill>
              <a:srgbClr val="0F2F55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9315450" y="1571625"/>
            <a:ext cx="2190750" cy="285750"/>
          </a:xfrm>
          <a:prstGeom prst="roundRect">
            <a:avLst>
              <a:gd name="adj" fmla="val 50000"/>
            </a:avLst>
          </a:prstGeom>
          <a:solidFill>
            <a:srgbClr val="204E79"/>
          </a:solidFill>
          <a:ln w="9525">
            <a:solidFill>
              <a:srgbClr val="3A6B9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91650" y="1590675"/>
            <a:ext cx="203835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8DDD6"/>
                </a:solidFill>
              </a:defRPr>
            </a:pPr>
            <a:r>
              <a:rPr sz="975" b="1">
                <a:solidFill>
                  <a:srgbClr val="A8DDD6"/>
                </a:solidFill>
              </a:rPr>
              <a:t>当前定位：候选增强</a:t>
            </a:r>
            <a:endParaRPr sz="975" b="1">
              <a:solidFill>
                <a:srgbClr val="A8DDD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34500" y="1981200"/>
            <a:ext cx="2190750" cy="2571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架构</a:t>
            </a:r>
            <a:r>
              <a:rPr lang="zh-CN" sz="1500" b="1">
                <a:solidFill>
                  <a:srgbClr val="FFFFFF"/>
                </a:solidFill>
              </a:rPr>
              <a:t>特点</a:t>
            </a:r>
            <a:endParaRPr lang="zh-CN" sz="150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334500" y="2286000"/>
            <a:ext cx="2133600" cy="224028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075" b="0">
                <a:solidFill>
                  <a:srgbClr val="E7EEF5"/>
                </a:solidFill>
              </a:defRPr>
            </a:pPr>
            <a:r>
              <a:rPr sz="1075" b="0">
                <a:solidFill>
                  <a:srgbClr val="E7EEF5"/>
                </a:solidFill>
              </a:rPr>
              <a:t>01  离线 GRU Teacher</a:t>
            </a:r>
            <a:r>
              <a:rPr lang="en-US" sz="1075" b="0">
                <a:solidFill>
                  <a:srgbClr val="E7EEF5"/>
                </a:solidFill>
              </a:rPr>
              <a:t> </a:t>
            </a:r>
            <a:r>
              <a:rPr lang="zh-CN" altLang="en-US" sz="1075" b="0">
                <a:solidFill>
                  <a:srgbClr val="E7EEF5"/>
                </a:solidFill>
              </a:rPr>
              <a:t>能力更强，且仍做蒸馏处理</a:t>
            </a:r>
            <a:endParaRPr sz="1075" b="0">
              <a:solidFill>
                <a:srgbClr val="E7EEF5"/>
              </a:solidFill>
            </a:endParaRPr>
          </a:p>
          <a:p>
            <a:endParaRPr sz="1075"/>
          </a:p>
          <a:p>
            <a:pPr algn="l">
              <a:defRPr sz="1075" b="0">
                <a:solidFill>
                  <a:srgbClr val="E7EEF5"/>
                </a:solidFill>
              </a:defRPr>
            </a:pPr>
            <a:r>
              <a:rPr sz="1075" b="0">
                <a:solidFill>
                  <a:srgbClr val="E7EEF5"/>
                </a:solidFill>
              </a:rPr>
              <a:t>02  Student</a:t>
            </a:r>
            <a:r>
              <a:rPr lang="zh-CN" sz="1075" b="0">
                <a:solidFill>
                  <a:srgbClr val="E7EEF5"/>
                </a:solidFill>
              </a:rPr>
              <a:t>模型</a:t>
            </a:r>
            <a:r>
              <a:rPr sz="1075" b="0">
                <a:solidFill>
                  <a:srgbClr val="E7EEF5"/>
                </a:solidFill>
              </a:rPr>
              <a:t>保留短记忆</a:t>
            </a:r>
            <a:r>
              <a:rPr lang="zh-CN" sz="1075" b="0">
                <a:solidFill>
                  <a:srgbClr val="E7EEF5"/>
                </a:solidFill>
                <a:ea typeface="宋体" panose="02010600030101010101" pitchFamily="2" charset="-122"/>
              </a:rPr>
              <a:t>，大幅降低参数量的同时几乎损失极小</a:t>
            </a:r>
            <a:endParaRPr sz="1075" b="0">
              <a:solidFill>
                <a:srgbClr val="E7EEF5"/>
              </a:solidFill>
            </a:endParaRPr>
          </a:p>
          <a:p>
            <a:endParaRPr sz="1075"/>
          </a:p>
          <a:p>
            <a:pPr algn="l">
              <a:defRPr sz="1075" b="0">
                <a:solidFill>
                  <a:srgbClr val="E7EEF5"/>
                </a:solidFill>
              </a:defRPr>
            </a:pPr>
            <a:r>
              <a:rPr sz="1075" b="0">
                <a:solidFill>
                  <a:srgbClr val="E7EEF5"/>
                </a:solidFill>
              </a:rPr>
              <a:t>0</a:t>
            </a:r>
            <a:r>
              <a:rPr lang="en-US" sz="1075" b="0">
                <a:solidFill>
                  <a:srgbClr val="E7EEF5"/>
                </a:solidFill>
              </a:rPr>
              <a:t>3</a:t>
            </a:r>
            <a:r>
              <a:rPr sz="1075" b="0">
                <a:solidFill>
                  <a:srgbClr val="E7EEF5"/>
                </a:solidFill>
              </a:rPr>
              <a:t> </a:t>
            </a:r>
            <a:r>
              <a:rPr lang="en-US" sz="1075" b="0">
                <a:solidFill>
                  <a:srgbClr val="E7EEF5"/>
                </a:solidFill>
              </a:rPr>
              <a:t> FPGA</a:t>
            </a:r>
            <a:r>
              <a:rPr lang="zh-CN" altLang="en-US" sz="1075" b="0">
                <a:solidFill>
                  <a:srgbClr val="E7EEF5"/>
                </a:solidFill>
              </a:rPr>
              <a:t>线性解码与</a:t>
            </a:r>
            <a:r>
              <a:rPr sz="1075" b="0">
                <a:solidFill>
                  <a:srgbClr val="E7EEF5"/>
                </a:solidFill>
              </a:rPr>
              <a:t>MAP-LUT+事件FSM</a:t>
            </a:r>
            <a:r>
              <a:rPr lang="zh-CN" sz="1075" b="0">
                <a:solidFill>
                  <a:srgbClr val="E7EEF5"/>
                </a:solidFill>
              </a:rPr>
              <a:t>在延迟上几乎无区别，因此也将后者纳入</a:t>
            </a:r>
            <a:r>
              <a:rPr lang="zh-CN" sz="1075" b="0">
                <a:solidFill>
                  <a:srgbClr val="E7EEF5"/>
                </a:solidFill>
              </a:rPr>
              <a:t>实验</a:t>
            </a:r>
            <a:endParaRPr lang="zh-CN" altLang="en-US" sz="1075" b="0">
              <a:solidFill>
                <a:srgbClr val="E7EEF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315450" y="4725670"/>
            <a:ext cx="2124075" cy="14288"/>
          </a:xfrm>
          <a:prstGeom prst="rect">
            <a:avLst/>
          </a:prstGeom>
          <a:solidFill>
            <a:srgbClr val="42678A"/>
          </a:solidFill>
          <a:ln w="0">
            <a:solidFill>
              <a:srgbClr val="42678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315450" y="4869180"/>
            <a:ext cx="1047750" cy="2476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BF74"/>
                </a:solidFill>
              </a:defRPr>
            </a:pPr>
            <a:r>
              <a:rPr sz="1275" b="1">
                <a:solidFill>
                  <a:srgbClr val="FFBF74"/>
                </a:solidFill>
              </a:rPr>
              <a:t>仍未闭合</a:t>
            </a:r>
            <a:endParaRPr sz="1275" b="1">
              <a:solidFill>
                <a:srgbClr val="FFBF7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15450" y="5117465"/>
            <a:ext cx="2133600" cy="79756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990" b="0">
                <a:solidFill>
                  <a:srgbClr val="D9E3EC"/>
                </a:solidFill>
              </a:defRPr>
            </a:pPr>
            <a:r>
              <a:rPr lang="zh-CN" sz="990" b="0">
                <a:solidFill>
                  <a:srgbClr val="D9E3EC"/>
                </a:solidFill>
              </a:rPr>
              <a:t>还需复现原论文工作，并作进一步对比。</a:t>
            </a:r>
            <a:endParaRPr sz="990" b="0">
              <a:solidFill>
                <a:srgbClr val="D9E3EC"/>
              </a:solidFill>
            </a:endParaRPr>
          </a:p>
          <a:p>
            <a:pPr algn="l">
              <a:defRPr sz="990" b="0">
                <a:solidFill>
                  <a:srgbClr val="D9E3EC"/>
                </a:solidFill>
              </a:defRPr>
            </a:pPr>
            <a:r>
              <a:rPr sz="990" b="0">
                <a:solidFill>
                  <a:srgbClr val="D9E3EC"/>
                </a:solidFill>
              </a:rPr>
              <a:t>Student 定点 RTL 与</a:t>
            </a:r>
            <a:r>
              <a:rPr lang="en-US" sz="990" b="0">
                <a:solidFill>
                  <a:srgbClr val="D9E3EC"/>
                </a:solidFill>
              </a:rPr>
              <a:t> FPGA </a:t>
            </a:r>
            <a:r>
              <a:rPr sz="990" b="0">
                <a:solidFill>
                  <a:srgbClr val="D9E3EC"/>
                </a:solidFill>
              </a:rPr>
              <a:t>真板闭环尚待完成；</a:t>
            </a:r>
            <a:endParaRPr sz="990" b="0">
              <a:solidFill>
                <a:srgbClr val="D9E3E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191875" y="6429375"/>
            <a:ext cx="55245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173F70"/>
                </a:solidFill>
              </a:defRPr>
            </a:pPr>
            <a:r>
              <a:rPr sz="1050" b="1">
                <a:solidFill>
                  <a:srgbClr val="173F70"/>
                </a:solidFill>
              </a:rPr>
              <a:t>0</a:t>
            </a:r>
            <a:r>
              <a:rPr lang="en-US" sz="1050" b="1">
                <a:solidFill>
                  <a:srgbClr val="173F70"/>
                </a:solidFill>
              </a:rPr>
              <a:t>2</a:t>
            </a:r>
            <a:endParaRPr lang="en-US" sz="1050" b="1">
              <a:solidFill>
                <a:srgbClr val="173F7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F70"/>
          </a:solidFill>
          <a:ln w="0">
            <a:solidFill>
              <a:srgbClr val="173F7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09550"/>
            <a:ext cx="3048000" cy="238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B776C"/>
                </a:solidFill>
              </a:defRPr>
            </a:pPr>
            <a:r>
              <a:rPr sz="1050" b="1">
                <a:solidFill>
                  <a:srgbClr val="0B776C"/>
                </a:solidFill>
              </a:rPr>
              <a:t>0</a:t>
            </a:r>
            <a:r>
              <a:rPr lang="en-US" sz="1050" b="1">
                <a:solidFill>
                  <a:srgbClr val="0B776C"/>
                </a:solidFill>
              </a:rPr>
              <a:t>3</a:t>
            </a:r>
            <a:r>
              <a:rPr sz="1050" b="1">
                <a:solidFill>
                  <a:srgbClr val="0B776C"/>
                </a:solidFill>
              </a:rPr>
              <a:t>  升级架构数据</a:t>
            </a:r>
            <a:endParaRPr sz="1050" b="1">
              <a:solidFill>
                <a:srgbClr val="0B776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428625"/>
            <a:ext cx="11334750" cy="5143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F2A37"/>
                </a:solidFill>
              </a:defRPr>
            </a:pPr>
            <a:r>
              <a:rPr lang="zh-CN" sz="2700" b="1">
                <a:solidFill>
                  <a:srgbClr val="1F2A37"/>
                </a:solidFill>
              </a:rPr>
              <a:t>目前</a:t>
            </a:r>
            <a:r>
              <a:rPr sz="2700" b="1">
                <a:solidFill>
                  <a:srgbClr val="1F2A37"/>
                </a:solidFill>
              </a:rPr>
              <a:t>数据支持“高压缩 + 高收益保持”</a:t>
            </a:r>
            <a:endParaRPr sz="2700" b="1">
              <a:solidFill>
                <a:srgbClr val="1F2A37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895350"/>
            <a:ext cx="11239500" cy="2571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7083"/>
                </a:solidFill>
              </a:defRPr>
            </a:pPr>
            <a:r>
              <a:rPr sz="1200" b="0">
                <a:solidFill>
                  <a:srgbClr val="607083"/>
                </a:solidFill>
              </a:rPr>
              <a:t>有效保真寿命来自 10 周期 paired 物理回放；右侧工程数字属于软件 / RTL / P&amp;R 资格证据，不是板测。</a:t>
            </a:r>
            <a:endParaRPr sz="1200" b="0">
              <a:solidFill>
                <a:srgbClr val="60708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133475"/>
            <a:ext cx="11382375" cy="28575"/>
          </a:xfrm>
          <a:prstGeom prst="rect">
            <a:avLst/>
          </a:prstGeom>
          <a:solidFill>
            <a:srgbClr val="159D8C"/>
          </a:solidFill>
          <a:ln w="0">
            <a:solidFill>
              <a:srgbClr val="159D8C"/>
            </a:solidFill>
            <a:prstDash val="solid"/>
          </a:ln>
        </p:spPr>
      </p:sp>
      <p:graphicFrame>
        <p:nvGraphicFramePr>
          <p:cNvPr id="34" name="Chart"/>
          <p:cNvGraphicFramePr/>
          <p:nvPr/>
        </p:nvGraphicFramePr>
        <p:xfrm>
          <a:off x="400050" y="1409700"/>
          <a:ext cx="7810500" cy="44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圆角矩形 7"/>
          <p:cNvSpPr>
            <a:spLocks noGrp="1"/>
          </p:cNvSpPr>
          <p:nvPr/>
        </p:nvSpPr>
        <p:spPr>
          <a:xfrm>
            <a:off x="8498840" y="1772920"/>
            <a:ext cx="3248025" cy="3952875"/>
          </a:xfrm>
          <a:prstGeom prst="roundRect">
            <a:avLst>
              <a:gd name="adj" fmla="val 4692"/>
            </a:avLst>
          </a:prstGeom>
          <a:solidFill>
            <a:srgbClr val="FFFFFF"/>
          </a:solidFill>
          <a:ln w="11430">
            <a:solidFill>
              <a:srgbClr val="D8E0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5540" y="1963420"/>
            <a:ext cx="2667000" cy="2952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F2F55"/>
                </a:solidFill>
              </a:defRPr>
            </a:pPr>
            <a:r>
              <a:rPr sz="1650" b="1">
                <a:solidFill>
                  <a:srgbClr val="0F2F55"/>
                </a:solidFill>
              </a:rPr>
              <a:t>性能—复杂度结论</a:t>
            </a:r>
            <a:endParaRPr sz="1650" b="1">
              <a:solidFill>
                <a:srgbClr val="0F2F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5540" y="2315845"/>
            <a:ext cx="2714625" cy="44767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2A7652"/>
                </a:solidFill>
              </a:defRPr>
            </a:pPr>
            <a:r>
              <a:rPr sz="2550" b="1">
                <a:solidFill>
                  <a:srgbClr val="2A7652"/>
                </a:solidFill>
              </a:rPr>
              <a:t>2.36× / 1.58×</a:t>
            </a:r>
            <a:endParaRPr sz="2550" b="1">
              <a:solidFill>
                <a:srgbClr val="2A765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75065" y="2763520"/>
            <a:ext cx="2647950" cy="3619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015" b="0">
                <a:solidFill>
                  <a:srgbClr val="607083"/>
                </a:solidFill>
              </a:defRPr>
            </a:pPr>
            <a:r>
              <a:rPr sz="1015" b="0">
                <a:solidFill>
                  <a:srgbClr val="607083"/>
                </a:solidFill>
              </a:rPr>
              <a:t>Student 相对固定参数的有效寿命提升（cutoff 12 / 16）</a:t>
            </a:r>
            <a:endParaRPr sz="1015" b="0">
              <a:solidFill>
                <a:srgbClr val="60708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5540" y="3220720"/>
            <a:ext cx="2657475" cy="14288"/>
          </a:xfrm>
          <a:prstGeom prst="rect">
            <a:avLst/>
          </a:prstGeom>
          <a:solidFill>
            <a:srgbClr val="D8E0E8"/>
          </a:solidFill>
          <a:ln w="0">
            <a:solidFill>
              <a:srgbClr val="D8E0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5540" y="3363595"/>
            <a:ext cx="2095500" cy="4286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0B776C"/>
                </a:solidFill>
              </a:defRPr>
            </a:pPr>
            <a:r>
              <a:rPr sz="2325" b="1">
                <a:solidFill>
                  <a:srgbClr val="0B776C"/>
                </a:solidFill>
              </a:rPr>
              <a:t>≥ 98.15%</a:t>
            </a:r>
            <a:endParaRPr sz="2325" b="1">
              <a:solidFill>
                <a:srgbClr val="0B776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75065" y="3782695"/>
            <a:ext cx="2647950" cy="3238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015" b="0">
                <a:solidFill>
                  <a:srgbClr val="607083"/>
                </a:solidFill>
              </a:defRPr>
            </a:pPr>
            <a:r>
              <a:rPr sz="1015" b="0">
                <a:solidFill>
                  <a:srgbClr val="607083"/>
                </a:solidFill>
              </a:rPr>
              <a:t>六个预注册点估计中的最低教师收益保持率</a:t>
            </a:r>
            <a:endParaRPr sz="1015" b="0">
              <a:solidFill>
                <a:srgbClr val="60708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65540" y="4182745"/>
            <a:ext cx="1714500" cy="4191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E88619"/>
                </a:solidFill>
              </a:defRPr>
            </a:pPr>
            <a:r>
              <a:rPr sz="2325" b="1">
                <a:solidFill>
                  <a:srgbClr val="E88619"/>
                </a:solidFill>
              </a:rPr>
              <a:t>约 767×</a:t>
            </a:r>
            <a:endParaRPr sz="2325" b="1">
              <a:solidFill>
                <a:srgbClr val="E8861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75065" y="4592320"/>
            <a:ext cx="219075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015" b="0">
                <a:solidFill>
                  <a:srgbClr val="607083"/>
                </a:solidFill>
              </a:defRPr>
            </a:pPr>
            <a:r>
              <a:rPr sz="1015" b="0">
                <a:solidFill>
                  <a:srgbClr val="607083"/>
                </a:solidFill>
              </a:rPr>
              <a:t>模型标量 72,853 → 95</a:t>
            </a:r>
            <a:endParaRPr sz="1015" b="0">
              <a:solidFill>
                <a:srgbClr val="60708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5540" y="4935220"/>
            <a:ext cx="2657475" cy="14288"/>
          </a:xfrm>
          <a:prstGeom prst="rect">
            <a:avLst/>
          </a:prstGeom>
          <a:solidFill>
            <a:srgbClr val="D8E0E8"/>
          </a:solidFill>
          <a:ln w="0">
            <a:solidFill>
              <a:srgbClr val="D8E0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5540" y="5011420"/>
            <a:ext cx="2333625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1140" b="1">
                <a:solidFill>
                  <a:srgbClr val="0F2F55"/>
                </a:solidFill>
              </a:defRPr>
            </a:pPr>
            <a:r>
              <a:rPr sz="1140" b="1">
                <a:solidFill>
                  <a:srgbClr val="0F2F55"/>
                </a:solidFill>
              </a:rPr>
              <a:t>工程资格证据（均非板测）</a:t>
            </a:r>
            <a:endParaRPr sz="1140" b="1">
              <a:solidFill>
                <a:srgbClr val="0F2F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5540" y="5259070"/>
            <a:ext cx="2714625" cy="4572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l">
              <a:defRPr sz="865" b="0">
                <a:solidFill>
                  <a:srgbClr val="1F2A37"/>
                </a:solidFill>
              </a:defRPr>
            </a:pPr>
            <a:r>
              <a:rPr sz="865" b="0">
                <a:solidFill>
                  <a:srgbClr val="1F2A37"/>
                </a:solidFill>
              </a:rPr>
              <a:t>•  1,000,000 cycles：全字段 0 mismatch</a:t>
            </a:r>
            <a:endParaRPr sz="865" b="0">
              <a:solidFill>
                <a:srgbClr val="1F2A37"/>
              </a:solidFill>
            </a:endParaRPr>
          </a:p>
          <a:p>
            <a:pPr algn="l">
              <a:defRPr sz="865" b="0">
                <a:solidFill>
                  <a:srgbClr val="1F2A37"/>
                </a:solidFill>
              </a:defRPr>
            </a:pPr>
            <a:r>
              <a:rPr sz="865" b="0">
                <a:solidFill>
                  <a:srgbClr val="1F2A37"/>
                </a:solidFill>
              </a:rPr>
              <a:t>•  P&amp;R min Fmax 39.57 MHz</a:t>
            </a:r>
            <a:endParaRPr sz="865" b="0">
              <a:solidFill>
                <a:srgbClr val="1F2A37"/>
              </a:solidFill>
            </a:endParaRPr>
          </a:p>
          <a:p>
            <a:pPr algn="l">
              <a:defRPr sz="865" b="0">
                <a:solidFill>
                  <a:srgbClr val="1F2A37"/>
                </a:solidFill>
              </a:defRPr>
            </a:pPr>
            <a:r>
              <a:rPr sz="865" b="0">
                <a:solidFill>
                  <a:srgbClr val="1F2A37"/>
                </a:solidFill>
              </a:rPr>
              <a:t>•  3802 LUT4 / 1022 FF / 8 BSRAM</a:t>
            </a:r>
            <a:endParaRPr sz="865" b="0">
              <a:solidFill>
                <a:srgbClr val="1F2A37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191875" y="6429375"/>
            <a:ext cx="552450" cy="2667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173F70"/>
                </a:solidFill>
              </a:defRPr>
            </a:pPr>
            <a:r>
              <a:rPr sz="1050" b="1">
                <a:solidFill>
                  <a:srgbClr val="173F70"/>
                </a:solidFill>
              </a:rPr>
              <a:t>0</a:t>
            </a:r>
            <a:r>
              <a:rPr lang="en-US" sz="1050" b="1">
                <a:solidFill>
                  <a:srgbClr val="173F70"/>
                </a:solidFill>
              </a:rPr>
              <a:t>3</a:t>
            </a:r>
            <a:endParaRPr lang="en-US" sz="1050" b="1">
              <a:solidFill>
                <a:srgbClr val="173F7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DAQEC Progress">
      <a:dk1>
        <a:srgbClr val="000000"/>
      </a:dk1>
      <a:lt1>
        <a:srgbClr val="FFFFFF"/>
      </a:lt1>
      <a:dk2>
        <a:srgbClr val="0F2F55"/>
      </a:dk2>
      <a:lt2>
        <a:srgbClr val="D8E0E8"/>
      </a:lt2>
      <a:accent1>
        <a:srgbClr val="173F70"/>
      </a:accent1>
      <a:accent2>
        <a:srgbClr val="159D8C"/>
      </a:accent2>
      <a:accent3>
        <a:srgbClr val="E88619"/>
      </a:accent3>
      <a:accent4>
        <a:srgbClr val="C74D4D"/>
      </a:accent4>
      <a:accent5>
        <a:srgbClr val="7760A9"/>
      </a:accent5>
      <a:accent6>
        <a:srgbClr val="4E9D76"/>
      </a:accent6>
      <a:hlink>
        <a:srgbClr val="173F70"/>
      </a:hlink>
      <a:folHlink>
        <a:srgbClr val="7760A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AQEC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DAQEC Progress">
      <a:dk1>
        <a:srgbClr val="000000"/>
      </a:dk1>
      <a:lt1>
        <a:srgbClr val="FFFFFF"/>
      </a:lt1>
      <a:dk2>
        <a:srgbClr val="0F2F55"/>
      </a:dk2>
      <a:lt2>
        <a:srgbClr val="D8E0E8"/>
      </a:lt2>
      <a:accent1>
        <a:srgbClr val="173F70"/>
      </a:accent1>
      <a:accent2>
        <a:srgbClr val="159D8C"/>
      </a:accent2>
      <a:accent3>
        <a:srgbClr val="E88619"/>
      </a:accent3>
      <a:accent4>
        <a:srgbClr val="C74D4D"/>
      </a:accent4>
      <a:accent5>
        <a:srgbClr val="7760A9"/>
      </a:accent5>
      <a:accent6>
        <a:srgbClr val="4E9D76"/>
      </a:accent6>
      <a:hlink>
        <a:srgbClr val="173F70"/>
      </a:hlink>
      <a:folHlink>
        <a:srgbClr val="7760A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AQEC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WPS 演示</Application>
  <PresentationFormat>Converted Presentation</PresentationFormat>
  <Paragraphs>101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秦cy</cp:lastModifiedBy>
  <cp:revision>3</cp:revision>
  <dcterms:created xsi:type="dcterms:W3CDTF">2026-07-17T08:00:52Z</dcterms:created>
  <dcterms:modified xsi:type="dcterms:W3CDTF">2026-07-17T08:26:01Z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503F94E29A6640E8880D99B1FD95117F_12</vt:lpwstr>
  </property>
</Properties>
</file>