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?????????????????? simulation-first systems-method claim?LER ?????????? software-HIL ???????????????????? Q4.20 ????????????? residual-boundary surrogate?????? controlled drift ?????????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????????????? FPGA ???? CNN??????? posterior???????? K,b ????? 2x2 ????????? clip???????? counters ?????????????? syndrome histogram?teacher ?????????????? stage/validate/commit ????? bank???????? software-HIL??????Q4.20 ?? parity ? runtime observability??? FPGA ????????bitstream/RTL hash?DMA/MMIO ??? measured latency/resource/power?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955279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C2226"/>
                </a:solidFill>
                <a:latin typeface="Microsoft YaHei"/>
              </a:rPr>
              <a:t>???????????????????????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7772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C676F"/>
                </a:solidFill>
                <a:latin typeface="Microsoft YaHei"/>
              </a:rPr>
              <a:t>?? CNN_FPGA_GKP_submission_draft.tex?????? simulation-first / software-HIL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72600" y="310896"/>
            <a:ext cx="2331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50" b="1">
                <a:solidFill>
                  <a:srgbClr val="1D7079"/>
                </a:solidFill>
                <a:latin typeface="Microsoft YaHei"/>
              </a:rPr>
              <a:t>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6760" y="640080"/>
            <a:ext cx="333756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2000" b="1">
                <a:solidFill>
                  <a:srgbClr val="1C2226"/>
                </a:solidFill>
                <a:latin typeface="Aptos"/>
              </a:rPr>
              <a:t>?? = K?s? + b?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188720"/>
            <a:ext cx="580644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F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02_main_software_hil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307592"/>
            <a:ext cx="5532120" cy="29077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" y="4261104"/>
            <a:ext cx="5349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5C676F"/>
                </a:solidFill>
                <a:latin typeface="Microsoft YaHei"/>
              </a:rPr>
              <a:t>Source: Fig. 2 main software-HIL results?n=2 descriptive, not CI/p-value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0" y="1170432"/>
            <a:ext cx="5074920" cy="868680"/>
          </a:xfrm>
          <a:prstGeom prst="rect">
            <a:avLst/>
          </a:prstGeom>
          <a:solidFill>
            <a:srgbClr val="E1EFE8"/>
          </a:solidFill>
          <a:ln w="10160">
            <a:solidFill>
              <a:srgbClr val="29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37960" y="1170432"/>
            <a:ext cx="73152" cy="868680"/>
          </a:xfrm>
          <a:prstGeom prst="rect">
            <a:avLst/>
          </a:prstGeom>
          <a:solidFill>
            <a:srgbClr val="29795B"/>
          </a:solidFill>
          <a:ln>
            <a:solidFill>
              <a:srgbClr val="29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1252728"/>
            <a:ext cx="4818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29795B"/>
                </a:solidFill>
                <a:latin typeface="Microsoft YaHei"/>
              </a:rPr>
              <a:t>???? / ??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2552" y="1499616"/>
            <a:ext cx="4818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1C2226"/>
                </a:solidFill>
                <a:latin typeface="Microsoft YaHei"/>
              </a:rPr>
              <a:t>? shot ??? 2?2 ?? + 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1837943"/>
            <a:ext cx="4818888" cy="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76F"/>
                </a:solidFill>
                <a:latin typeface="Microsoft YaHei"/>
              </a:rPr>
              <a:t>4 mult + 4 add?6 ??????Q4.20 ??????? 10?? ????????? FPGA latency?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2185416"/>
            <a:ext cx="5074920" cy="868680"/>
          </a:xfrm>
          <a:prstGeom prst="rect">
            <a:avLst/>
          </a:prstGeom>
          <a:solidFill>
            <a:srgbClr val="E2EBF6"/>
          </a:solidFill>
          <a:ln w="10160">
            <a:solidFill>
              <a:srgbClr val="3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185416"/>
            <a:ext cx="73152" cy="868680"/>
          </a:xfrm>
          <a:prstGeom prst="rect">
            <a:avLst/>
          </a:prstGeom>
          <a:solidFill>
            <a:srgbClr val="305E91"/>
          </a:solidFill>
          <a:ln>
            <a:solidFill>
              <a:srgbClr val="3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2267712"/>
            <a:ext cx="4818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305E91"/>
                </a:solidFill>
                <a:latin typeface="Microsoft YaHei"/>
              </a:rPr>
              <a:t>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2514600"/>
            <a:ext cx="4818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1C2226"/>
                </a:solidFill>
                <a:latin typeface="Microsoft YaHei"/>
              </a:rPr>
              <a:t>????????????? mean final_ler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852928"/>
            <a:ext cx="4818888" cy="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76F"/>
                </a:solidFill>
                <a:latin typeface="Microsoft YaHei"/>
              </a:rPr>
              <a:t>?? UKF ?????????? 1.8?2.9%???? 2.3%????? repeats ??????????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200400"/>
            <a:ext cx="5074920" cy="868680"/>
          </a:xfrm>
          <a:prstGeom prst="rect">
            <a:avLst/>
          </a:prstGeom>
          <a:solidFill>
            <a:srgbClr val="F6EDDE"/>
          </a:solidFill>
          <a:ln w="10160">
            <a:solidFill>
              <a:srgbClr val="B07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3200400"/>
            <a:ext cx="73152" cy="868680"/>
          </a:xfrm>
          <a:prstGeom prst="rect">
            <a:avLst/>
          </a:prstGeom>
          <a:solidFill>
            <a:srgbClr val="B07121"/>
          </a:solidFill>
          <a:ln>
            <a:solidFill>
              <a:srgbClr val="B07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3282696"/>
            <a:ext cx="4818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B07121"/>
                </a:solidFill>
                <a:latin typeface="Microsoft YaHei"/>
              </a:rPr>
              <a:t>??? / 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529584"/>
            <a:ext cx="4818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1C2226"/>
                </a:solidFill>
                <a:latin typeface="Microsoft YaHei"/>
              </a:rPr>
              <a:t>??? residual-boundary surrogate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867912"/>
            <a:ext cx="4818888" cy="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76F"/>
                </a:solidFill>
                <a:latin typeface="Microsoft YaHei"/>
              </a:rPr>
              <a:t>q/p ??????????????????? finite-energy logical-channel fidelity ? process fidelity?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215384"/>
            <a:ext cx="5074920" cy="868680"/>
          </a:xfrm>
          <a:prstGeom prst="rect">
            <a:avLst/>
          </a:prstGeom>
          <a:solidFill>
            <a:srgbClr val="F4E5E2"/>
          </a:solidFill>
          <a:ln w="10160">
            <a:solidFill>
              <a:srgbClr val="9B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4215384"/>
            <a:ext cx="73152" cy="868680"/>
          </a:xfrm>
          <a:prstGeom prst="rect">
            <a:avLst/>
          </a:prstGeom>
          <a:solidFill>
            <a:srgbClr val="9B4B43"/>
          </a:solidFill>
          <a:ln>
            <a:solidFill>
              <a:srgbClr val="9B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02552" y="4297680"/>
            <a:ext cx="4818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>
                <a:solidFill>
                  <a:srgbClr val="9B4B43"/>
                </a:solidFill>
                <a:latin typeface="Microsoft YaHei"/>
              </a:rPr>
              <a:t>??????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4544568"/>
            <a:ext cx="4818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1C2226"/>
                </a:solidFill>
                <a:latin typeface="Microsoft YaHei"/>
              </a:rPr>
              <a:t>????? syndrome statistics ?? (K,b)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4882896"/>
            <a:ext cx="4818888" cy="1554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76F"/>
                </a:solidFill>
                <a:latin typeface="Microsoft YaHei"/>
              </a:rPr>
              <a:t>static / ramp / step / periodic drift ?? controlled software-HIL?holdout stress ??????? robustness proof?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" y="5596128"/>
            <a:ext cx="11137392" cy="640080"/>
          </a:xfrm>
          <a:prstGeom prst="rect">
            <a:avLst/>
          </a:prstGeom>
          <a:solidFill>
            <a:srgbClr val="EBEFEE"/>
          </a:solidFill>
          <a:ln>
            <a:solidFill>
              <a:srgbClr val="EBE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5715000"/>
            <a:ext cx="107167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C2226"/>
                </a:solidFill>
                <a:latin typeface="Microsoft YaHei"/>
              </a:rPr>
              <a:t>???????????CNN ?????????????????????????????????????????????????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>
                <a:solidFill>
                  <a:srgbClr val="5C676F"/>
                </a:solidFill>
                <a:latin typeface="Microsoft YaHei"/>
              </a:rPr>
              <a:t>Boundary: no real-board execution success, no measured FPGA timing/resource/power, no deployment closure.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9692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C2226"/>
                </a:solidFill>
                <a:latin typeface="Microsoft YaHei"/>
              </a:rPr>
              <a:t>?????FPGA ????????????????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9601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C676F"/>
                </a:solidFill>
                <a:latin typeface="Microsoft YaHei"/>
              </a:rPr>
              <a:t>?????????????? / ????????????? per-shot critical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86200" cy="2176272"/>
          </a:xfrm>
          <a:prstGeom prst="rect">
            <a:avLst/>
          </a:prstGeom>
          <a:solidFill>
            <a:srgbClr val="FFFFFF"/>
          </a:solidFill>
          <a:ln w="10160">
            <a:solidFill>
              <a:srgbClr val="CFD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01_dual_loo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07008"/>
            <a:ext cx="3657600" cy="17556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5216" y="299923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70" b="0">
                <a:solidFill>
                  <a:srgbClr val="5C676F"/>
                </a:solidFill>
                <a:latin typeface="Microsoft YaHei"/>
              </a:rPr>
              <a:t>Source: Fig. 1 dual-loop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97280"/>
            <a:ext cx="3218688" cy="2176272"/>
          </a:xfrm>
          <a:prstGeom prst="roundRect">
            <a:avLst/>
          </a:prstGeom>
          <a:solidFill>
            <a:srgbClr val="E9F2EE"/>
          </a:solidFill>
          <a:ln w="10160">
            <a:solidFill>
              <a:srgbClr val="29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91456" y="1261872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9795B"/>
                </a:solidFill>
                <a:latin typeface="Microsoft YaHei"/>
              </a:rPr>
              <a:t>?????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91456" y="1609344"/>
            <a:ext cx="2788920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software-HIL ????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?? fast-path ????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Q4.20 ???? parity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runtime counters / source-data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1456" y="283464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5C676F"/>
                </a:solidFill>
                <a:latin typeface="Microsoft YaHei"/>
              </a:rPr>
              <a:t>????? HIL ?????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97280"/>
            <a:ext cx="3182112" cy="2176272"/>
          </a:xfrm>
          <a:prstGeom prst="roundRect">
            <a:avLst/>
          </a:prstGeom>
          <a:solidFill>
            <a:srgbClr val="F7EBE8"/>
          </a:solidFill>
          <a:ln w="10160">
            <a:solidFill>
              <a:srgbClr val="9B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26187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9B4B43"/>
                </a:solidFill>
                <a:latin typeface="Microsoft YaHei"/>
              </a:rPr>
              <a:t>???????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1609344"/>
            <a:ext cx="2770632" cy="1261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board logs / device path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bitstream ? RTL hash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DMA / MMIO evidence</a:t>
            </a: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019">
                <a:solidFill>
                  <a:srgbClr val="1C2226"/>
                </a:solidFill>
                <a:latin typeface="Microsoft YaHei"/>
              </a:rPr>
              <a:t>? latency / resource / power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834640"/>
            <a:ext cx="2788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0">
                <a:solidFill>
                  <a:srgbClr val="5C676F"/>
                </a:solidFill>
                <a:latin typeface="Microsoft YaHei"/>
              </a:rPr>
              <a:t>??????? measurement 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1572768" cy="1005840"/>
          </a:xfrm>
          <a:prstGeom prst="roundRect">
            <a:avLst/>
          </a:prstGeom>
          <a:solidFill>
            <a:srgbClr val="E2EBF6"/>
          </a:solidFill>
          <a:ln w="10160">
            <a:solidFill>
              <a:srgbClr val="3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1792" y="4078224"/>
            <a:ext cx="329184" cy="329184"/>
          </a:xfrm>
          <a:prstGeom prst="ellipse">
            <a:avLst/>
          </a:prstGeom>
          <a:solidFill>
            <a:srgbClr val="305E91"/>
          </a:solidFill>
          <a:ln>
            <a:solidFill>
              <a:srgbClr val="305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41193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1" y="4059935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C2226"/>
                </a:solidFill>
                <a:latin typeface="Microsoft YaHei"/>
              </a:rPr>
              <a:t>syndrome 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43484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5C676F"/>
                </a:solidFill>
                <a:latin typeface="Microsoft YaHei"/>
              </a:rPr>
              <a:t>GKP ?????? syndrome??? q/p analog ??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48840" y="4434840"/>
            <a:ext cx="173736" cy="0"/>
          </a:xfrm>
          <a:prstGeom prst="line">
            <a:avLst/>
          </a:prstGeom>
          <a:ln w="15240">
            <a:solidFill>
              <a:srgbClr val="5C6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395728" y="3931920"/>
            <a:ext cx="1572768" cy="1005840"/>
          </a:xfrm>
          <a:prstGeom prst="roundRect">
            <a:avLst/>
          </a:prstGeom>
          <a:solidFill>
            <a:srgbClr val="E1EFE8"/>
          </a:solidFill>
          <a:ln w="10160">
            <a:solidFill>
              <a:srgbClr val="29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14600" y="4078224"/>
            <a:ext cx="329184" cy="329184"/>
          </a:xfrm>
          <a:prstGeom prst="ellipse">
            <a:avLst/>
          </a:prstGeom>
          <a:solidFill>
            <a:srgbClr val="29795B"/>
          </a:solidFill>
          <a:ln>
            <a:solidFill>
              <a:srgbClr val="297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1193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059935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C2226"/>
                </a:solidFill>
                <a:latin typeface="Microsoft YaHei"/>
              </a:rPr>
              <a:t>active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43484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5C676F"/>
                </a:solidFill>
                <a:latin typeface="Microsoft YaHei"/>
              </a:rPr>
              <a:t>?????????? K?,b??? bank ???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41648" y="4434840"/>
            <a:ext cx="182880" cy="0"/>
          </a:xfrm>
          <a:prstGeom prst="line">
            <a:avLst/>
          </a:prstGeom>
          <a:ln w="15240">
            <a:solidFill>
              <a:srgbClr val="5C6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97680" y="3931920"/>
            <a:ext cx="1572768" cy="1005840"/>
          </a:xfrm>
          <a:prstGeom prst="roundRect">
            <a:avLst/>
          </a:prstGeom>
          <a:solidFill>
            <a:srgbClr val="E8F1F2"/>
          </a:solidFill>
          <a:ln w="10160">
            <a:solidFill>
              <a:srgbClr val="1D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6552" y="4078224"/>
            <a:ext cx="329184" cy="329184"/>
          </a:xfrm>
          <a:prstGeom prst="ellipse">
            <a:avLst/>
          </a:prstGeom>
          <a:solidFill>
            <a:srgbClr val="1D7079"/>
          </a:solidFill>
          <a:ln>
            <a:solidFill>
              <a:srgbClr val="1D70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41193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059935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C2226"/>
                </a:solidFill>
                <a:latin typeface="Microsoft YaHei"/>
              </a:rPr>
              <a:t>FPGA fast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443484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5C676F"/>
                </a:solidFill>
                <a:latin typeface="Microsoft YaHei"/>
              </a:rPr>
              <a:t>?? = K?s? + b??Q4.20 / clip / ????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0" y="4434840"/>
            <a:ext cx="182880" cy="0"/>
          </a:xfrm>
          <a:prstGeom prst="line">
            <a:avLst/>
          </a:prstGeom>
          <a:ln w="15240">
            <a:solidFill>
              <a:srgbClr val="5C6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199632" y="3931920"/>
            <a:ext cx="1572768" cy="1005840"/>
          </a:xfrm>
          <a:prstGeom prst="roundRect">
            <a:avLst/>
          </a:prstGeom>
          <a:solidFill>
            <a:srgbClr val="F6EDDE"/>
          </a:solidFill>
          <a:ln w="10160">
            <a:solidFill>
              <a:srgbClr val="B07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18504" y="4078224"/>
            <a:ext cx="329184" cy="329184"/>
          </a:xfrm>
          <a:prstGeom prst="ellipse">
            <a:avLst/>
          </a:prstGeom>
          <a:solidFill>
            <a:srgbClr val="B07121"/>
          </a:solidFill>
          <a:ln>
            <a:solidFill>
              <a:srgbClr val="B07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41193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059935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C2226"/>
                </a:solidFill>
                <a:latin typeface="Microsoft YaHei"/>
              </a:rPr>
              <a:t>correction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4224" y="443484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5C676F"/>
                </a:solidFill>
                <a:latin typeface="Microsoft YaHei"/>
              </a:rPr>
              <a:t>??????????overflow?commit ??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45552" y="4434840"/>
            <a:ext cx="182879" cy="0"/>
          </a:xfrm>
          <a:prstGeom prst="line">
            <a:avLst/>
          </a:prstGeom>
          <a:ln w="15240">
            <a:solidFill>
              <a:srgbClr val="5C6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101583" y="3931920"/>
            <a:ext cx="1572768" cy="1005840"/>
          </a:xfrm>
          <a:prstGeom prst="roundRect">
            <a:avLst/>
          </a:prstGeom>
          <a:solidFill>
            <a:srgbClr val="EEEBF6"/>
          </a:solidFill>
          <a:ln w="10160">
            <a:solidFill>
              <a:srgbClr val="695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20456" y="4078224"/>
            <a:ext cx="329184" cy="329184"/>
          </a:xfrm>
          <a:prstGeom prst="ellipse">
            <a:avLst/>
          </a:prstGeom>
          <a:solidFill>
            <a:srgbClr val="69569C"/>
          </a:solidFill>
          <a:ln>
            <a:solidFill>
              <a:srgbClr val="6956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0456" y="41193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31936" y="4059935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C2226"/>
                </a:solidFill>
                <a:latin typeface="Microsoft YaHei"/>
              </a:rPr>
              <a:t>slow estimator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5" y="443484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5C676F"/>
                </a:solidFill>
                <a:latin typeface="Microsoft YaHei"/>
              </a:rPr>
              <a:t>CNN / teacher / statcalib ?????????????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747504" y="4434840"/>
            <a:ext cx="173736" cy="0"/>
          </a:xfrm>
          <a:prstGeom prst="line">
            <a:avLst/>
          </a:prstGeom>
          <a:ln w="15240">
            <a:solidFill>
              <a:srgbClr val="5C67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994392" y="3931920"/>
            <a:ext cx="1572768" cy="1005840"/>
          </a:xfrm>
          <a:prstGeom prst="roundRect">
            <a:avLst/>
          </a:prstGeom>
          <a:solidFill>
            <a:srgbClr val="F4E5E2"/>
          </a:solidFill>
          <a:ln w="10160">
            <a:solidFill>
              <a:srgbClr val="9B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13264" y="4078224"/>
            <a:ext cx="329184" cy="329184"/>
          </a:xfrm>
          <a:prstGeom prst="ellipse">
            <a:avLst/>
          </a:prstGeom>
          <a:solidFill>
            <a:srgbClr val="9B4B43"/>
          </a:solidFill>
          <a:ln>
            <a:solidFill>
              <a:srgbClr val="9B4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13264" y="4119372"/>
            <a:ext cx="3291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4059935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C2226"/>
                </a:solidFill>
                <a:latin typeface="Microsoft YaHei"/>
              </a:rPr>
              <a:t>commit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58984" y="4434840"/>
            <a:ext cx="12801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0">
                <a:solidFill>
                  <a:srgbClr val="5C676F"/>
                </a:solidFill>
                <a:latin typeface="Microsoft YaHei"/>
              </a:rPr>
              <a:t>stage ? validate ? commit???? rollback / hold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789920" y="5065776"/>
            <a:ext cx="0" cy="768096"/>
          </a:xfrm>
          <a:prstGeom prst="line">
            <a:avLst/>
          </a:prstGeom>
          <a:ln w="15240">
            <a:solidFill>
              <a:srgbClr val="9B4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298448" y="5833872"/>
            <a:ext cx="9491472" cy="0"/>
          </a:xfrm>
          <a:prstGeom prst="line">
            <a:avLst/>
          </a:prstGeom>
          <a:ln w="15240">
            <a:solidFill>
              <a:srgbClr val="9B4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1298448" y="5074920"/>
            <a:ext cx="0" cy="758952"/>
          </a:xfrm>
          <a:prstGeom prst="line">
            <a:avLst/>
          </a:prstGeom>
          <a:ln w="15240">
            <a:solidFill>
              <a:srgbClr val="9B4B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187952" y="5961888"/>
            <a:ext cx="3794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9B4B43"/>
                </a:solidFill>
                <a:latin typeface="Microsoft YaHei"/>
              </a:rPr>
              <a:t>?????????? per-shot ??????commit ??? hold/rollback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6437376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80" b="0">
                <a:solidFill>
                  <a:srgbClr val="5C676F"/>
                </a:solidFill>
                <a:latin typeface="Microsoft YaHei"/>
              </a:rPr>
              <a:t>Engineering boundary: board_backend remains placeholder; no board-level timing, resource, power, DMA/MMIO, or source-vs-board result is claimed.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