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256" r:id="rId3"/>
    <p:sldId id="268" r:id="rId5"/>
    <p:sldId id="269" r:id="rId6"/>
    <p:sldId id="270" r:id="rId7"/>
    <p:sldId id="258" r:id="rId8"/>
    <p:sldId id="259" r:id="rId9"/>
    <p:sldId id="257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3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F2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4389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项目汇报 | 2026-05-0</a:t>
            </a:r>
            <a:r>
              <a:rPr lang="en-US" sz="750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lang="en-US" sz="750" b="0">
              <a:solidFill>
                <a:srgbClr val="7286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25200" y="630555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01</a:t>
            </a:r>
            <a:endParaRPr sz="1500" b="1">
              <a:solidFill>
                <a:srgbClr val="A9B8C8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kicker-marker"/>
          <p:cNvSpPr>
            <a:spLocks noGrp="1"/>
          </p:cNvSpPr>
          <p:nvPr/>
        </p:nvSpPr>
        <p:spPr>
          <a:xfrm>
            <a:off x="533400" y="419100"/>
            <a:ext cx="266700" cy="28575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label"/>
          <p:cNvSpPr>
            <a:spLocks noGrp="1"/>
          </p:cNvSpPr>
          <p:nvPr/>
        </p:nvSpPr>
        <p:spPr>
          <a:xfrm>
            <a:off x="914400" y="3524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CNN-FPGA-GKP REPORT</a:t>
            </a:r>
            <a:endParaRPr sz="750" b="1">
              <a:solidFill>
                <a:srgbClr val="A9B8C8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590550"/>
            <a:ext cx="68580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300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CNN-FPGA 协同的 GKP</a:t>
            </a:r>
            <a:endParaRPr sz="3000" b="1">
              <a:solidFill>
                <a:srgbClr val="F4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300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300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漂移自适应量子纠错系统</a:t>
            </a:r>
            <a:endParaRPr sz="3000" b="1">
              <a:solidFill>
                <a:srgbClr val="F4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33400" y="1524000"/>
            <a:ext cx="619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从物理仿真、双回路软件 HIL 到 teacher-guided residual 解码</a:t>
            </a:r>
            <a:endParaRPr sz="127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598535" y="240030"/>
            <a:ext cx="3288665" cy="3635375"/>
          </a:xfrm>
          <a:prstGeom prst="rect">
            <a:avLst/>
          </a:prstGeom>
          <a:solidFill>
            <a:srgbClr val="0B1B2B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923655" y="640080"/>
            <a:ext cx="1039495" cy="17335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FAST LOOP</a:t>
            </a:r>
            <a:endParaRPr sz="900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717915" y="963930"/>
            <a:ext cx="1264285" cy="554355"/>
          </a:xfrm>
          <a:prstGeom prst="rect">
            <a:avLst/>
          </a:prstGeom>
          <a:solidFill>
            <a:srgbClr val="10283F"/>
          </a:solidFill>
          <a:ln w="9525">
            <a:solidFill>
              <a:srgbClr val="32D6C6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842375" y="1097280"/>
            <a:ext cx="987425" cy="2946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FPGA 侧</a:t>
            </a:r>
            <a:endParaRPr sz="9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线性解码 K@s+b</a:t>
            </a:r>
            <a:endParaRPr sz="9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0344150" y="963930"/>
            <a:ext cx="1143000" cy="554355"/>
          </a:xfrm>
          <a:prstGeom prst="rect">
            <a:avLst/>
          </a:prstGeom>
          <a:solidFill>
            <a:srgbClr val="10283F"/>
          </a:solidFill>
          <a:ln w="9525">
            <a:solidFill>
              <a:srgbClr val="32D6C6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0452735" y="1097280"/>
            <a:ext cx="901065" cy="2946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32×32</a:t>
            </a:r>
            <a:endParaRPr sz="82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8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syndrome histogram</a:t>
            </a:r>
            <a:endParaRPr sz="82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999345" y="1268730"/>
            <a:ext cx="230505" cy="76200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931910" y="2164080"/>
            <a:ext cx="1126490" cy="17335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2C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2C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SLOW LOOP</a:t>
            </a:r>
            <a:endParaRPr sz="900" b="1">
              <a:solidFill>
                <a:srgbClr val="F2C1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717915" y="2487930"/>
            <a:ext cx="1264285" cy="554355"/>
          </a:xfrm>
          <a:prstGeom prst="rect">
            <a:avLst/>
          </a:prstGeom>
          <a:solidFill>
            <a:srgbClr val="1E2D37"/>
          </a:solidFill>
          <a:ln w="9525">
            <a:solidFill>
              <a:srgbClr val="F2C15B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842375" y="2621280"/>
            <a:ext cx="987425" cy="2946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Teacher + CNN</a:t>
            </a:r>
            <a:endParaRPr sz="9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residual-b</a:t>
            </a:r>
            <a:endParaRPr sz="9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344150" y="2487930"/>
            <a:ext cx="1143000" cy="554355"/>
          </a:xfrm>
          <a:prstGeom prst="rect">
            <a:avLst/>
          </a:prstGeom>
          <a:solidFill>
            <a:srgbClr val="1E2D37"/>
          </a:solidFill>
          <a:ln w="9525">
            <a:solidFill>
              <a:srgbClr val="F2C15B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0487660" y="2550795"/>
            <a:ext cx="866140" cy="2946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Param bank</a:t>
            </a:r>
            <a:endParaRPr sz="9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/ commit</a:t>
            </a:r>
            <a:endParaRPr sz="9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0801350" y="1573530"/>
            <a:ext cx="76200" cy="831215"/>
          </a:xfrm>
          <a:prstGeom prst="rect">
            <a:avLst/>
          </a:prstGeom>
          <a:solidFill>
            <a:srgbClr val="F2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9999345" y="2792730"/>
            <a:ext cx="230505" cy="76200"/>
          </a:xfrm>
          <a:prstGeom prst="rect">
            <a:avLst/>
          </a:prstGeom>
          <a:solidFill>
            <a:srgbClr val="F2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322435" y="3554730"/>
            <a:ext cx="1040765" cy="20828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32D6C6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9384665" y="3583305"/>
            <a:ext cx="902335" cy="1562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software HIL</a:t>
            </a:r>
            <a:endParaRPr sz="715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0567035" y="3554730"/>
            <a:ext cx="1110615" cy="20828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F2C15B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10629900" y="3583305"/>
            <a:ext cx="971550" cy="1562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1">
                <a:solidFill>
                  <a:srgbClr val="F2C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1">
                <a:solidFill>
                  <a:srgbClr val="F2C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P4 benchmark</a:t>
            </a:r>
            <a:endParaRPr sz="715" b="1">
              <a:solidFill>
                <a:srgbClr val="F2C1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84505" y="1871345"/>
            <a:ext cx="7498080" cy="4184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chemeClr val="accent1">
                    <a:lumMod val="40000"/>
                    <a:lumOff val="6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GKP </a:t>
            </a:r>
            <a:r>
              <a:rPr lang="zh-CN" altLang="en-US" sz="1400" b="1">
                <a:solidFill>
                  <a:schemeClr val="accent1">
                    <a:lumMod val="40000"/>
                    <a:lumOff val="6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码的基本思想</a:t>
            </a:r>
            <a:endParaRPr lang="zh-CN" altLang="en-US" sz="1400" b="1">
              <a:solidFill>
                <a:schemeClr val="accent1">
                  <a:lumMod val="40000"/>
                  <a:lumOff val="6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GKP 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码（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Gottesman-Kitaev-Preskill code）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是一类连续变量量子纠错码。它不是把一个逻辑量子比特编码到多个离散物理量子比特上，而是把逻辑信息编码到一个谐振子模式的相空间网格中。</a:t>
            </a:r>
            <a:endParaRPr lang="zh-CN" altLang="en-US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直观理解：</a:t>
            </a:r>
            <a:endParaRPr lang="en-US" altLang="zh-CN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谐振子有两个正交相空间坐标：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q 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 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p。</a:t>
            </a:r>
            <a:endParaRPr lang="en-US" altLang="zh-CN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理想 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GKP 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码态是在 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q/p 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空间上无限尖锐、无限周期的“梳状峰”。</a:t>
            </a:r>
            <a:endParaRPr lang="zh-CN" altLang="en-US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两个逻辑态可以理解为同一套晶格的不同平移：</a:t>
            </a:r>
            <a:endParaRPr lang="zh-CN" altLang="en-US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|0_L&gt;：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峰位落在一组偶格点上。</a:t>
            </a:r>
            <a:endParaRPr lang="zh-CN" altLang="en-US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|1_L&gt;：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峰位相对 |0_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L&gt; 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平移半个逻辑间距。</a:t>
            </a:r>
            <a:endParaRPr lang="zh-CN" altLang="en-US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小位移噪声只会把峰从格点附近推开；只要偏移没有超过判决边界，就可以测 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syndrome 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后把它推回最近格点。</a:t>
            </a:r>
            <a:endParaRPr lang="zh-CN" altLang="en-US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理想 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GKP 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态不可物理制备，因为它需要无限压缩和无限能量。因此真实系统中使用的是近似 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GKP 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码态：</a:t>
            </a:r>
            <a:endParaRPr lang="zh-CN" altLang="en-US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每个峰有有限宽度，对应 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finite squeezing。</a:t>
            </a:r>
            <a:endParaRPr lang="en-US" altLang="zh-CN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整个梳状结构还有有限包络，远离中心的峰权重下降。</a:t>
            </a:r>
            <a:endParaRPr lang="zh-CN" altLang="en-US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纠错时测到的 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syndrome 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会包含制备噪声、测量噪声、通道位移噪声和硬件读出误差。</a:t>
            </a:r>
            <a:endParaRPr lang="zh-CN" altLang="en-US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3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F2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4389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项目汇报 | 2026-05-0</a:t>
            </a:r>
            <a:r>
              <a:rPr lang="en-US" sz="750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lang="en-US" sz="750" b="0">
              <a:solidFill>
                <a:srgbClr val="7286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25200" y="630555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0</a:t>
            </a:r>
            <a:r>
              <a:rPr lang="en-US" sz="150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2</a:t>
            </a:r>
            <a:endParaRPr lang="en-US" sz="1500" b="1">
              <a:solidFill>
                <a:srgbClr val="A9B8C8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kicker-marker"/>
          <p:cNvSpPr>
            <a:spLocks noGrp="1"/>
          </p:cNvSpPr>
          <p:nvPr/>
        </p:nvSpPr>
        <p:spPr>
          <a:xfrm>
            <a:off x="533400" y="419100"/>
            <a:ext cx="266700" cy="28575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label"/>
          <p:cNvSpPr>
            <a:spLocks noGrp="1"/>
          </p:cNvSpPr>
          <p:nvPr/>
        </p:nvSpPr>
        <p:spPr>
          <a:xfrm>
            <a:off x="914400" y="3524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CNN-FPGA-GKP REPORT</a:t>
            </a:r>
            <a:endParaRPr sz="750" b="1">
              <a:solidFill>
                <a:srgbClr val="A9B8C8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590550"/>
            <a:ext cx="68580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300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CNN-FPGA 协同的 GKP</a:t>
            </a:r>
            <a:endParaRPr sz="3000" b="1">
              <a:solidFill>
                <a:srgbClr val="F4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300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300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漂移自适应量子纠错系统</a:t>
            </a:r>
            <a:endParaRPr sz="3000" b="1">
              <a:solidFill>
                <a:srgbClr val="F4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33400" y="1524000"/>
            <a:ext cx="619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从物理仿真、双回路软件 HIL 到 teacher-guided residual 解码</a:t>
            </a:r>
            <a:endParaRPr sz="127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598535" y="240030"/>
            <a:ext cx="3288665" cy="3635375"/>
          </a:xfrm>
          <a:prstGeom prst="rect">
            <a:avLst/>
          </a:prstGeom>
          <a:solidFill>
            <a:srgbClr val="0B1B2B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923655" y="640080"/>
            <a:ext cx="1039495" cy="17335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FAST LOOP</a:t>
            </a:r>
            <a:endParaRPr sz="900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717915" y="963930"/>
            <a:ext cx="1264285" cy="554355"/>
          </a:xfrm>
          <a:prstGeom prst="rect">
            <a:avLst/>
          </a:prstGeom>
          <a:solidFill>
            <a:srgbClr val="10283F"/>
          </a:solidFill>
          <a:ln w="9525">
            <a:solidFill>
              <a:srgbClr val="32D6C6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842375" y="1097280"/>
            <a:ext cx="987425" cy="2946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FPGA 侧</a:t>
            </a:r>
            <a:endParaRPr sz="9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线性解码 K@s+b</a:t>
            </a:r>
            <a:endParaRPr sz="9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0344150" y="963930"/>
            <a:ext cx="1143000" cy="554355"/>
          </a:xfrm>
          <a:prstGeom prst="rect">
            <a:avLst/>
          </a:prstGeom>
          <a:solidFill>
            <a:srgbClr val="10283F"/>
          </a:solidFill>
          <a:ln w="9525">
            <a:solidFill>
              <a:srgbClr val="32D6C6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0452735" y="1097280"/>
            <a:ext cx="901065" cy="2946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32×32</a:t>
            </a:r>
            <a:endParaRPr sz="82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8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syndrome histogram</a:t>
            </a:r>
            <a:endParaRPr sz="82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999345" y="1268730"/>
            <a:ext cx="230505" cy="76200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931910" y="2164080"/>
            <a:ext cx="1126490" cy="17335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2C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2C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SLOW LOOP</a:t>
            </a:r>
            <a:endParaRPr sz="900" b="1">
              <a:solidFill>
                <a:srgbClr val="F2C1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717915" y="2487930"/>
            <a:ext cx="1264285" cy="554355"/>
          </a:xfrm>
          <a:prstGeom prst="rect">
            <a:avLst/>
          </a:prstGeom>
          <a:solidFill>
            <a:srgbClr val="1E2D37"/>
          </a:solidFill>
          <a:ln w="9525">
            <a:solidFill>
              <a:srgbClr val="F2C15B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842375" y="2621280"/>
            <a:ext cx="987425" cy="2946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Teacher + CNN</a:t>
            </a:r>
            <a:endParaRPr sz="9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residual-b</a:t>
            </a:r>
            <a:endParaRPr sz="9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344150" y="2487930"/>
            <a:ext cx="1143000" cy="554355"/>
          </a:xfrm>
          <a:prstGeom prst="rect">
            <a:avLst/>
          </a:prstGeom>
          <a:solidFill>
            <a:srgbClr val="1E2D37"/>
          </a:solidFill>
          <a:ln w="9525">
            <a:solidFill>
              <a:srgbClr val="F2C15B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0487660" y="2550795"/>
            <a:ext cx="866140" cy="2946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Param bank</a:t>
            </a:r>
            <a:endParaRPr sz="9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/ commit</a:t>
            </a:r>
            <a:endParaRPr sz="9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0801350" y="1573530"/>
            <a:ext cx="76200" cy="831215"/>
          </a:xfrm>
          <a:prstGeom prst="rect">
            <a:avLst/>
          </a:prstGeom>
          <a:solidFill>
            <a:srgbClr val="F2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9999345" y="2792730"/>
            <a:ext cx="230505" cy="76200"/>
          </a:xfrm>
          <a:prstGeom prst="rect">
            <a:avLst/>
          </a:prstGeom>
          <a:solidFill>
            <a:srgbClr val="F2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322435" y="3554730"/>
            <a:ext cx="1040765" cy="20828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32D6C6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9384665" y="3583305"/>
            <a:ext cx="902335" cy="1562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software HIL</a:t>
            </a:r>
            <a:endParaRPr sz="715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0567035" y="3554730"/>
            <a:ext cx="1110615" cy="20828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F2C15B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10629900" y="3583305"/>
            <a:ext cx="971550" cy="1562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1">
                <a:solidFill>
                  <a:srgbClr val="F2C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1">
                <a:solidFill>
                  <a:srgbClr val="F2C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P4 benchmark</a:t>
            </a:r>
            <a:endParaRPr sz="715" b="1">
              <a:solidFill>
                <a:srgbClr val="F2C1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84505" y="1871345"/>
            <a:ext cx="7498080" cy="33534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solidFill>
                  <a:schemeClr val="accent1">
                    <a:lumMod val="40000"/>
                    <a:lumOff val="6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GKP</a:t>
            </a:r>
            <a:r>
              <a:rPr lang="zh-CN" altLang="en-US" sz="1600" b="1">
                <a:solidFill>
                  <a:schemeClr val="accent1">
                    <a:lumMod val="40000"/>
                    <a:lumOff val="6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码编码过程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：把逻辑比特嵌入相空间晶格</a:t>
            </a:r>
            <a:endParaRPr lang="zh-CN" altLang="en-US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近似 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GKP 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编码可以按三步理解：</a:t>
            </a:r>
            <a:endParaRPr lang="en-US" altLang="zh-CN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400" b="1">
                <a:solidFill>
                  <a:schemeClr val="accent2">
                    <a:lumMod val="40000"/>
                    <a:lumOff val="6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</a:t>
            </a:r>
            <a:r>
              <a:rPr lang="zh-CN" altLang="en-US" sz="1400" b="1">
                <a:solidFill>
                  <a:schemeClr val="accent2">
                    <a:lumMod val="40000"/>
                    <a:lumOff val="6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逻辑信息写入晶格位置</a:t>
            </a:r>
            <a:r>
              <a:rPr lang="en-US" altLang="zh-CN" sz="1400" b="1">
                <a:solidFill>
                  <a:schemeClr val="accent2">
                    <a:lumMod val="40000"/>
                    <a:lumOff val="6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:</a:t>
            </a:r>
            <a:endParaRPr lang="en-US" altLang="zh-CN" sz="1400" b="1">
              <a:solidFill>
                <a:schemeClr val="accent2">
                  <a:lumMod val="40000"/>
                  <a:lumOff val="6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逻辑 0/1 不再由单个能级表示，而由相空间中周期性峰的位置模式表示。</a:t>
            </a:r>
            <a:endParaRPr lang="zh-CN" altLang="en-US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q 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方向与 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 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方向都存在周期结构，使得小位移误差可以通过模格点测量被识别。</a:t>
            </a:r>
            <a:endParaRPr lang="zh-CN" altLang="en-US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zh-CN" altLang="en-US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400">
                <a:solidFill>
                  <a:schemeClr val="accent2">
                    <a:lumMod val="40000"/>
                    <a:lumOff val="6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2.</a:t>
            </a:r>
            <a:r>
              <a:rPr lang="zh-CN" altLang="en-US" sz="1400">
                <a:solidFill>
                  <a:schemeClr val="accent2">
                    <a:lumMod val="40000"/>
                    <a:lumOff val="6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有限压缩形成近似峰</a:t>
            </a:r>
            <a:r>
              <a:rPr lang="en-US" altLang="zh-CN" sz="1400">
                <a:solidFill>
                  <a:schemeClr val="accent2">
                    <a:lumMod val="40000"/>
                    <a:lumOff val="6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:</a:t>
            </a:r>
            <a:endParaRPr lang="en-US" altLang="zh-CN" sz="1400">
              <a:solidFill>
                <a:schemeClr val="accent2">
                  <a:lumMod val="40000"/>
                  <a:lumOff val="6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理想峰是 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delta 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函数；近似 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GKP 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中每个峰变成有限宽高斯峰。</a:t>
            </a:r>
            <a:endParaRPr lang="zh-CN" altLang="en-US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峰越窄，越容易区分小位移误差，但制备资源越高。</a:t>
            </a:r>
            <a:endParaRPr lang="zh-CN" altLang="en-US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400">
                <a:solidFill>
                  <a:schemeClr val="accent2">
                    <a:lumMod val="40000"/>
                    <a:lumOff val="6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3.</a:t>
            </a:r>
            <a:r>
              <a:rPr lang="zh-CN" altLang="en-US" sz="1400">
                <a:solidFill>
                  <a:schemeClr val="accent2">
                    <a:lumMod val="40000"/>
                    <a:lumOff val="6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实际噪声表现为相空间位移和形状变化</a:t>
            </a:r>
            <a:r>
              <a:rPr lang="en-US" altLang="zh-CN" sz="1400">
                <a:solidFill>
                  <a:schemeClr val="accent2">
                    <a:lumMod val="40000"/>
                    <a:lumOff val="6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:</a:t>
            </a:r>
            <a:endParaRPr lang="en-US" altLang="zh-CN" sz="1400">
              <a:solidFill>
                <a:schemeClr val="accent2">
                  <a:lumMod val="40000"/>
                  <a:lumOff val="6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位移均值偏移：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mu_q / mu_p</a:t>
            </a:r>
            <a:endParaRPr lang="en-US" altLang="zh-CN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噪声强度变化：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sigma</a:t>
            </a:r>
            <a:endParaRPr lang="en-US" altLang="zh-CN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q/p 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相关性或主轴旋转：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theta</a:t>
            </a:r>
            <a:endParaRPr lang="en-US" altLang="zh-CN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本项目把这些因素抽象为有效漂移参数，并让解码器在线适配它们。</a:t>
            </a:r>
            <a:endParaRPr lang="zh-CN" altLang="en-US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3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F2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4389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项目汇报 | 2026-05-0</a:t>
            </a:r>
            <a:r>
              <a:rPr lang="en-US" sz="750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lang="en-US" sz="750" b="0">
              <a:solidFill>
                <a:srgbClr val="7286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25200" y="630555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0</a:t>
            </a:r>
            <a:r>
              <a:rPr lang="en-US" sz="150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3</a:t>
            </a:r>
            <a:endParaRPr lang="en-US" sz="1500" b="1">
              <a:solidFill>
                <a:srgbClr val="A9B8C8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kicker-marker"/>
          <p:cNvSpPr>
            <a:spLocks noGrp="1"/>
          </p:cNvSpPr>
          <p:nvPr/>
        </p:nvSpPr>
        <p:spPr>
          <a:xfrm>
            <a:off x="533400" y="419100"/>
            <a:ext cx="266700" cy="28575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label"/>
          <p:cNvSpPr>
            <a:spLocks noGrp="1"/>
          </p:cNvSpPr>
          <p:nvPr/>
        </p:nvSpPr>
        <p:spPr>
          <a:xfrm>
            <a:off x="914400" y="3524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CNN-FPGA-GKP REPORT</a:t>
            </a:r>
            <a:endParaRPr sz="750" b="1">
              <a:solidFill>
                <a:srgbClr val="A9B8C8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590550"/>
            <a:ext cx="68580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300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CNN-FPGA 协同的 GKP</a:t>
            </a:r>
            <a:endParaRPr sz="3000" b="1">
              <a:solidFill>
                <a:srgbClr val="F4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300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300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漂移自适应量子纠错系统</a:t>
            </a:r>
            <a:endParaRPr sz="3000" b="1">
              <a:solidFill>
                <a:srgbClr val="F4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598535" y="240030"/>
            <a:ext cx="3288665" cy="3635375"/>
          </a:xfrm>
          <a:prstGeom prst="rect">
            <a:avLst/>
          </a:prstGeom>
          <a:solidFill>
            <a:srgbClr val="0B1B2B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923655" y="640080"/>
            <a:ext cx="1039495" cy="17335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FAST LOOP</a:t>
            </a:r>
            <a:endParaRPr sz="900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717915" y="963930"/>
            <a:ext cx="1264285" cy="554355"/>
          </a:xfrm>
          <a:prstGeom prst="rect">
            <a:avLst/>
          </a:prstGeom>
          <a:solidFill>
            <a:srgbClr val="10283F"/>
          </a:solidFill>
          <a:ln w="9525">
            <a:solidFill>
              <a:srgbClr val="32D6C6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842375" y="1097280"/>
            <a:ext cx="987425" cy="2946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FPGA 侧</a:t>
            </a:r>
            <a:endParaRPr sz="9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线性解码 K@s+b</a:t>
            </a:r>
            <a:endParaRPr sz="9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0344150" y="963930"/>
            <a:ext cx="1143000" cy="554355"/>
          </a:xfrm>
          <a:prstGeom prst="rect">
            <a:avLst/>
          </a:prstGeom>
          <a:solidFill>
            <a:srgbClr val="10283F"/>
          </a:solidFill>
          <a:ln w="9525">
            <a:solidFill>
              <a:srgbClr val="32D6C6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0452735" y="1097280"/>
            <a:ext cx="901065" cy="2946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32×32</a:t>
            </a:r>
            <a:endParaRPr sz="82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8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syndrome histogram</a:t>
            </a:r>
            <a:endParaRPr sz="82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999345" y="1268730"/>
            <a:ext cx="230505" cy="76200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931910" y="2164080"/>
            <a:ext cx="1126490" cy="17335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2C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2C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SLOW LOOP</a:t>
            </a:r>
            <a:endParaRPr sz="900" b="1">
              <a:solidFill>
                <a:srgbClr val="F2C1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717915" y="2487930"/>
            <a:ext cx="1264285" cy="554355"/>
          </a:xfrm>
          <a:prstGeom prst="rect">
            <a:avLst/>
          </a:prstGeom>
          <a:solidFill>
            <a:srgbClr val="1E2D37"/>
          </a:solidFill>
          <a:ln w="9525">
            <a:solidFill>
              <a:srgbClr val="F2C15B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842375" y="2621280"/>
            <a:ext cx="987425" cy="2946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Teacher + CNN</a:t>
            </a:r>
            <a:endParaRPr sz="9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residual-b</a:t>
            </a:r>
            <a:endParaRPr sz="9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344150" y="2487930"/>
            <a:ext cx="1143000" cy="554355"/>
          </a:xfrm>
          <a:prstGeom prst="rect">
            <a:avLst/>
          </a:prstGeom>
          <a:solidFill>
            <a:srgbClr val="1E2D37"/>
          </a:solidFill>
          <a:ln w="9525">
            <a:solidFill>
              <a:srgbClr val="F2C15B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0487660" y="2550795"/>
            <a:ext cx="866140" cy="2946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Param bank</a:t>
            </a:r>
            <a:endParaRPr sz="9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/ commit</a:t>
            </a:r>
            <a:endParaRPr sz="9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0801350" y="1573530"/>
            <a:ext cx="76200" cy="831215"/>
          </a:xfrm>
          <a:prstGeom prst="rect">
            <a:avLst/>
          </a:prstGeom>
          <a:solidFill>
            <a:srgbClr val="F2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9999345" y="2792730"/>
            <a:ext cx="230505" cy="76200"/>
          </a:xfrm>
          <a:prstGeom prst="rect">
            <a:avLst/>
          </a:prstGeom>
          <a:solidFill>
            <a:srgbClr val="F2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322435" y="3554730"/>
            <a:ext cx="1040765" cy="20828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32D6C6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9384665" y="3583305"/>
            <a:ext cx="902335" cy="1562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software HIL</a:t>
            </a:r>
            <a:endParaRPr sz="715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0567035" y="3554730"/>
            <a:ext cx="1110615" cy="20828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F2C15B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10629900" y="3583305"/>
            <a:ext cx="971550" cy="1562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1">
                <a:solidFill>
                  <a:srgbClr val="F2C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1">
                <a:solidFill>
                  <a:srgbClr val="F2C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P4 benchmark</a:t>
            </a:r>
            <a:endParaRPr sz="715" b="1">
              <a:solidFill>
                <a:srgbClr val="F2C1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84505" y="1659255"/>
            <a:ext cx="7498080" cy="46462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accent1">
                    <a:lumMod val="40000"/>
                    <a:lumOff val="6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解码过程：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测 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syndrome、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估计位移、施加校正</a:t>
            </a:r>
            <a:endParaRPr lang="zh-CN" altLang="en-US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近似 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GKP 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解码的核心不是“识别完整量子态”，而是估计相对于最近晶格点的残余位移。</a:t>
            </a:r>
            <a:endParaRPr lang="en-US" altLang="zh-CN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一轮典型解码可拆成：</a:t>
            </a:r>
            <a:endParaRPr lang="en-US" altLang="zh-CN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1.syndrome 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测量</a:t>
            </a:r>
            <a:endParaRPr lang="en-US" altLang="zh-CN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测量得到 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s_q, s_p，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表示当前状态相对 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GKP 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网格的模位移残差。</a:t>
            </a:r>
            <a:endParaRPr lang="zh-CN" altLang="en-US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如果残差还在判决边界内，理论上可以把状态推回正确格点。</a:t>
            </a:r>
            <a:endParaRPr lang="zh-CN" altLang="en-US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2.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位移估计</a:t>
            </a:r>
            <a:endParaRPr lang="en-US" altLang="zh-CN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最简单的解码器会假设噪声分布固定，直接用固定参数估计校正量。</a:t>
            </a:r>
            <a:endParaRPr lang="zh-CN" altLang="en-US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本项目采用线性控制形式：</a:t>
            </a:r>
            <a:endParaRPr lang="zh-CN" altLang="en-US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Delta = K @ s + b</a:t>
            </a:r>
            <a:endParaRPr lang="en-US" altLang="zh-CN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其中 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K 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表示对 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syndrome 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的线性增益，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 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表示偏置校正。</a:t>
            </a:r>
            <a:endParaRPr lang="zh-CN" altLang="en-US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3.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施加校正并判断逻辑错误</a:t>
            </a:r>
            <a:endParaRPr lang="en-US" altLang="zh-CN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校正后残差如果仍跨过 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GKP 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判决边界，就会形成逻辑错误。</a:t>
            </a:r>
            <a:endParaRPr lang="zh-CN" altLang="en-US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项目中用 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LER（logical error rate）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衡量最终解码效果。</a:t>
            </a:r>
            <a:endParaRPr lang="zh-CN" altLang="en-US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4.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窗口统计与慢回路更新</a:t>
            </a:r>
            <a:endParaRPr lang="en-US" altLang="zh-CN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单次 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syndrome 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噪声很大，但多个 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fast cycle 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 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syndrome histogram 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可以反映漂移趋势。</a:t>
            </a:r>
            <a:endParaRPr lang="zh-CN" altLang="en-US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因此本项目用 32 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x 32 syndrome histogram 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作为慢回路输入，让 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teacher/CNN 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周期性更新 (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K, b)。</a:t>
            </a:r>
            <a:endParaRPr lang="en-US" altLang="zh-CN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3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F2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125200" y="630555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0</a:t>
            </a:r>
            <a:r>
              <a:rPr lang="en-US" sz="150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4</a:t>
            </a:r>
            <a:endParaRPr lang="en-US" sz="1500" b="1">
              <a:solidFill>
                <a:srgbClr val="A9B8C8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kicker-marker"/>
          <p:cNvSpPr>
            <a:spLocks noGrp="1"/>
          </p:cNvSpPr>
          <p:nvPr/>
        </p:nvSpPr>
        <p:spPr>
          <a:xfrm>
            <a:off x="533400" y="304165"/>
            <a:ext cx="266700" cy="28575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label"/>
          <p:cNvSpPr>
            <a:spLocks noGrp="1"/>
          </p:cNvSpPr>
          <p:nvPr/>
        </p:nvSpPr>
        <p:spPr>
          <a:xfrm>
            <a:off x="914400" y="23749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CNN-FPGA-GKP REPORT</a:t>
            </a:r>
            <a:endParaRPr sz="750" b="1">
              <a:solidFill>
                <a:srgbClr val="A9B8C8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475615"/>
            <a:ext cx="68580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300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CNN-FPGA 协同的 GKP</a:t>
            </a:r>
            <a:endParaRPr sz="3000" b="1">
              <a:solidFill>
                <a:srgbClr val="F4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300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300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漂移自适应量子纠错系统</a:t>
            </a:r>
            <a:endParaRPr sz="3000" b="1">
              <a:solidFill>
                <a:srgbClr val="F4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82600" y="1481455"/>
            <a:ext cx="9324975" cy="13068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1000"/>
              </a:spcBef>
              <a:spcAft>
                <a:spcPts val="900"/>
              </a:spcAft>
            </a:pPr>
            <a:r>
              <a:rPr lang="zh-CN" altLang="en-US"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为什么本项目需要 </a:t>
            </a:r>
            <a:r>
              <a:rPr lang="en-US" altLang="zh-CN"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CNN-FPGA </a:t>
            </a:r>
            <a:r>
              <a:rPr lang="zh-CN" altLang="en-US"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双回路？</a:t>
            </a:r>
            <a:endParaRPr lang="zh-CN" altLang="en-US" sz="1600" b="0" i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spcBef>
                <a:spcPct val="0"/>
              </a:spcBef>
              <a:spcAft>
                <a:spcPts val="900"/>
              </a:spcAft>
            </a:pPr>
            <a:r>
              <a:rPr lang="zh-CN" altLang="en-US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近似 </a:t>
            </a:r>
            <a:r>
              <a:rPr lang="en-US" altLang="zh-CN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GKP </a:t>
            </a:r>
            <a:r>
              <a:rPr lang="zh-CN" altLang="en-US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解码有天然的工程矛盾：</a:t>
            </a:r>
            <a:endParaRPr lang="zh-CN" altLang="en-US" sz="1200" b="0" i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快回路必须非常快：每个 </a:t>
            </a:r>
            <a:r>
              <a:rPr lang="en-US" altLang="zh-CN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syndrome </a:t>
            </a:r>
            <a:r>
              <a:rPr lang="zh-CN" altLang="en-US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到 </a:t>
            </a:r>
            <a:r>
              <a:rPr lang="en-US" altLang="zh-CN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correction </a:t>
            </a:r>
            <a:r>
              <a:rPr lang="zh-CN" altLang="en-US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的路径要低延迟、确定性、适合 </a:t>
            </a:r>
            <a:r>
              <a:rPr lang="en-US" altLang="zh-CN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FPGA</a:t>
            </a:r>
            <a:r>
              <a:rPr lang="zh-CN" altLang="en-US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zh-CN" altLang="en-US" sz="1200" b="0" i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漂移估计又需要统计信息：必须看一段时间窗口，才能判断</a:t>
            </a:r>
            <a:r>
              <a:rPr lang="en-US" altLang="zh-CN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 </a:t>
            </a:r>
            <a:r>
              <a:rPr lang="en-US" altLang="zh-CN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sigma/mu/theta </a:t>
            </a:r>
            <a:r>
              <a:rPr lang="zh-CN" altLang="en-US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是否变了。</a:t>
            </a:r>
            <a:endParaRPr lang="zh-CN" altLang="en-US" sz="1200" b="0" i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spcBef>
                <a:spcPct val="0"/>
              </a:spcBef>
              <a:spcAft>
                <a:spcPts val="900"/>
              </a:spcAft>
            </a:pPr>
            <a:r>
              <a:rPr lang="zh-CN" altLang="en-US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因此项目采用快慢分离：</a:t>
            </a:r>
            <a:endParaRPr lang="zh-CN" altLang="en-US" sz="1200" b="0" i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17" name="表格 16"/>
          <p:cNvGraphicFramePr/>
          <p:nvPr/>
        </p:nvGraphicFramePr>
        <p:xfrm>
          <a:off x="482600" y="2827655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pPr marL="0" indent="0" latinLnBrk="0"/>
                      <a:r>
                        <a:rPr lang="zh-CN" altLang="en-US" sz="1100" b="1" i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层级</a:t>
                      </a:r>
                      <a:endParaRPr lang="zh-CN" altLang="en-US" sz="1100" b="1" i="0">
                        <a:solidFill>
                          <a:schemeClr val="bg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100" b="1" i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对应 </a:t>
                      </a:r>
                      <a:r>
                        <a:rPr lang="en-US" altLang="zh-CN" sz="1100" b="1" i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GKP </a:t>
                      </a:r>
                      <a:r>
                        <a:rPr lang="zh-CN" altLang="en-US" sz="1100" b="1" i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解码动作</a:t>
                      </a:r>
                      <a:endParaRPr lang="zh-CN" altLang="en-US" sz="1100" b="1" i="0">
                        <a:solidFill>
                          <a:schemeClr val="bg1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100" b="1" i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项目实现</a:t>
                      </a:r>
                      <a:endParaRPr lang="zh-CN" altLang="en-US" sz="1100" b="1" i="0">
                        <a:solidFill>
                          <a:schemeClr val="bg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100" b="0" i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Fast loop</a:t>
                      </a:r>
                      <a:endParaRPr lang="en-US" altLang="zh-CN" sz="1100" b="0" i="0">
                        <a:solidFill>
                          <a:schemeClr val="bg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100" b="0" i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对每次 </a:t>
                      </a:r>
                      <a:r>
                        <a:rPr lang="en-US" altLang="zh-CN" sz="1100" b="0" i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syndrome </a:t>
                      </a:r>
                      <a:r>
                        <a:rPr lang="zh-CN" altLang="en-US" sz="1100" b="0" i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立即给出位移校正</a:t>
                      </a:r>
                      <a:endParaRPr lang="zh-CN" altLang="en-US" sz="1100" b="0" i="0">
                        <a:solidFill>
                          <a:schemeClr val="bg1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100" b="0" i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FPGA/fast emulator </a:t>
                      </a:r>
                      <a:r>
                        <a:rPr lang="zh-CN" altLang="en-US" sz="1100" b="0" i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执行</a:t>
                      </a:r>
                      <a:r>
                        <a:rPr lang="en-US" altLang="zh-CN" sz="1100" b="0" i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 </a:t>
                      </a:r>
                      <a:r>
                        <a:rPr lang="en-US" altLang="zh-CN" sz="900" b="0" i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Delta = K @ s + b</a:t>
                      </a:r>
                      <a:endParaRPr lang="en-US" altLang="zh-CN" sz="900" b="0" i="0">
                        <a:solidFill>
                          <a:schemeClr val="bg1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100" b="0" i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Histogram window</a:t>
                      </a:r>
                      <a:endParaRPr lang="en-US" altLang="zh-CN" sz="1100" b="0" i="0">
                        <a:solidFill>
                          <a:schemeClr val="bg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100" b="0" i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汇总一段时间内的 </a:t>
                      </a:r>
                      <a:r>
                        <a:rPr lang="en-US" altLang="zh-CN" sz="1100" b="0" i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syndrome </a:t>
                      </a:r>
                      <a:r>
                        <a:rPr lang="zh-CN" altLang="en-US" sz="1100" b="0" i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分布</a:t>
                      </a:r>
                      <a:endParaRPr lang="zh-CN" altLang="en-US" sz="1100" b="0" i="0">
                        <a:solidFill>
                          <a:schemeClr val="bg1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900" b="0" i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32 x 32</a:t>
                      </a:r>
                      <a:r>
                        <a:rPr lang="en-US" altLang="zh-CN" sz="1100" b="0" i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 syndrome histogram</a:t>
                      </a:r>
                      <a:endParaRPr lang="en-US" altLang="zh-CN" sz="1100" b="0" i="0">
                        <a:solidFill>
                          <a:schemeClr val="bg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100" b="0" i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Slow loop</a:t>
                      </a:r>
                      <a:endParaRPr lang="en-US" altLang="zh-CN" sz="1100" b="0" i="0">
                        <a:solidFill>
                          <a:schemeClr val="bg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100" b="0" i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根据分布漂移更新解码参数</a:t>
                      </a:r>
                      <a:endParaRPr lang="zh-CN" altLang="en-US" sz="1100" b="0" i="0">
                        <a:solidFill>
                          <a:schemeClr val="bg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100" b="0" i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classical teacher + Tiny-CNN residual-b</a:t>
                      </a:r>
                      <a:endParaRPr lang="en-US" altLang="zh-CN" sz="1100" b="0" i="0">
                        <a:solidFill>
                          <a:schemeClr val="bg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100" b="0" i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Param commit</a:t>
                      </a:r>
                      <a:endParaRPr lang="en-US" altLang="zh-CN" sz="1100" b="0" i="0">
                        <a:solidFill>
                          <a:schemeClr val="bg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100" b="0" i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在周期边界切换新参数</a:t>
                      </a:r>
                      <a:endParaRPr lang="zh-CN" altLang="en-US" sz="1100" b="0" i="0">
                        <a:solidFill>
                          <a:schemeClr val="bg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100" b="0" i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A/B param bank + stage/commit</a:t>
                      </a:r>
                      <a:endParaRPr lang="en-US" altLang="zh-CN" sz="1100" b="0" i="0">
                        <a:solidFill>
                          <a:schemeClr val="bg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482600" y="4162425"/>
            <a:ext cx="10643235" cy="262763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换句话说，</a:t>
            </a:r>
            <a:r>
              <a:rPr lang="en-US" altLang="zh-CN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CNN </a:t>
            </a:r>
            <a:r>
              <a:rPr lang="zh-CN" altLang="en-US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在本项目中不是“直接做量子纠错判决”的黑箱模型，而是慢回路里的漂移感知与参数修正模块。真正进入 </a:t>
            </a:r>
            <a:r>
              <a:rPr lang="en-US" altLang="zh-CN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fast loop </a:t>
            </a:r>
            <a:r>
              <a:rPr lang="zh-CN" altLang="en-US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的仍然是可解释、可硬件化的线性解码参数</a:t>
            </a:r>
            <a:r>
              <a:rPr lang="en-US" altLang="zh-CN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 (K, b)</a:t>
            </a:r>
            <a:r>
              <a:rPr lang="zh-CN" altLang="en-US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zh-CN" altLang="en-US" sz="1200" b="0" i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spcBef>
                <a:spcPts val="1000"/>
              </a:spcBef>
              <a:spcAft>
                <a:spcPts val="900"/>
              </a:spcAft>
            </a:pPr>
            <a:r>
              <a:rPr lang="zh-CN" altLang="en-US" sz="14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本项目相对普通 </a:t>
            </a:r>
            <a:r>
              <a:rPr lang="en-US" altLang="zh-CN" sz="14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GKP </a:t>
            </a:r>
            <a:r>
              <a:rPr lang="zh-CN" altLang="en-US" sz="14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解码的研究重点</a:t>
            </a:r>
            <a:endParaRPr lang="zh-CN" altLang="en-US" sz="1400" b="0" i="0">
              <a:solidFill>
                <a:schemeClr val="accent1">
                  <a:lumMod val="40000"/>
                  <a:lumOff val="6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spcBef>
                <a:spcPct val="0"/>
              </a:spcBef>
              <a:spcAft>
                <a:spcPts val="900"/>
              </a:spcAft>
            </a:pPr>
            <a:r>
              <a:rPr lang="zh-CN" altLang="en-US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普通 </a:t>
            </a:r>
            <a:r>
              <a:rPr lang="en-US" altLang="zh-CN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GKP </a:t>
            </a:r>
            <a:r>
              <a:rPr lang="zh-CN" altLang="en-US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解码问题通常关注：</a:t>
            </a:r>
            <a:endParaRPr lang="zh-CN" altLang="en-US" sz="1200" b="0" i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给定噪声模型下，如何根据 </a:t>
            </a:r>
            <a:r>
              <a:rPr lang="en-US" altLang="zh-CN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syndrome </a:t>
            </a:r>
            <a:r>
              <a:rPr lang="zh-CN" altLang="en-US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做最优校正。</a:t>
            </a:r>
            <a:endParaRPr lang="zh-CN" altLang="en-US" sz="1200" b="0" i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如何降低逻辑错误率。</a:t>
            </a:r>
            <a:endParaRPr lang="zh-CN" altLang="en-US" sz="1200" b="0" i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spcBef>
                <a:spcPct val="0"/>
              </a:spcBef>
              <a:spcAft>
                <a:spcPts val="900"/>
              </a:spcAft>
            </a:pPr>
            <a:r>
              <a:rPr lang="zh-CN" altLang="en-US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本项目进一步关注工程部署问题：</a:t>
            </a:r>
            <a:endParaRPr lang="zh-CN" altLang="en-US" sz="1200" b="0" i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噪声分布不是静态的，而会发生</a:t>
            </a:r>
            <a:r>
              <a:rPr lang="en-US" altLang="zh-CN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 </a:t>
            </a:r>
            <a:r>
              <a:rPr lang="en-US" altLang="zh-CN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sigma/mu/theta </a:t>
            </a:r>
            <a:r>
              <a:rPr lang="zh-CN" altLang="en-US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漂移。</a:t>
            </a:r>
            <a:endParaRPr lang="zh-CN" altLang="en-US" sz="1200" b="0" i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解码器不能每次都重新运行复杂模型，</a:t>
            </a:r>
            <a:r>
              <a:rPr lang="en-US" altLang="zh-CN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fast loop </a:t>
            </a:r>
            <a:r>
              <a:rPr lang="zh-CN" altLang="en-US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必须保持低延迟。</a:t>
            </a:r>
            <a:endParaRPr lang="zh-CN" altLang="en-US" sz="1200" b="0" i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慢回路模型必须与 </a:t>
            </a:r>
            <a:r>
              <a:rPr lang="en-US" altLang="zh-CN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HIL</a:t>
            </a:r>
            <a:r>
              <a:rPr lang="zh-CN" altLang="en-US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</a:t>
            </a:r>
            <a:r>
              <a:rPr lang="en-US" altLang="zh-CN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artifact</a:t>
            </a:r>
            <a:r>
              <a:rPr lang="zh-CN" altLang="en-US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</a:t>
            </a:r>
            <a:r>
              <a:rPr lang="en-US" altLang="zh-CN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param bank</a:t>
            </a:r>
            <a:r>
              <a:rPr lang="zh-CN" altLang="en-US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</a:t>
            </a:r>
            <a:r>
              <a:rPr lang="en-US" altLang="zh-CN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overflow </a:t>
            </a:r>
            <a:r>
              <a:rPr lang="zh-CN" altLang="en-US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这些运行时语义对齐。</a:t>
            </a:r>
            <a:endParaRPr lang="zh-CN" altLang="en-US" sz="1200" b="0" i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因此项目主张：保留稳定 </a:t>
            </a:r>
            <a:r>
              <a:rPr lang="en-US" altLang="zh-CN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classical teacher</a:t>
            </a:r>
            <a:r>
              <a:rPr lang="zh-CN" altLang="en-US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，让轻量 </a:t>
            </a:r>
            <a:r>
              <a:rPr lang="en-US" altLang="zh-CN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CNN </a:t>
            </a:r>
            <a:r>
              <a:rPr lang="zh-CN" altLang="en-US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只学习</a:t>
            </a:r>
            <a:r>
              <a:rPr lang="en-US" altLang="zh-CN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 residual-b</a:t>
            </a:r>
            <a:r>
              <a:rPr lang="zh-CN" altLang="en-US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，再通过 </a:t>
            </a:r>
            <a:r>
              <a:rPr lang="en-US" altLang="zh-CN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ParamMapper </a:t>
            </a:r>
            <a:r>
              <a:rPr lang="zh-CN" altLang="en-US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映射到可提交的</a:t>
            </a:r>
            <a:r>
              <a:rPr lang="en-US" altLang="zh-CN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 (K, b)</a:t>
            </a:r>
            <a:r>
              <a:rPr lang="zh-CN" altLang="en-US" sz="1200" b="0" i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zh-CN" altLang="en-US" sz="1200" b="0" i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3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F2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4389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DriftAdaptiveQEC | CNN-FPGA-GKP</a:t>
            </a:r>
            <a:endParaRPr sz="750" b="0">
              <a:solidFill>
                <a:srgbClr val="7286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25200" y="630555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0</a:t>
            </a:r>
            <a:r>
              <a:rPr lang="en-US" sz="150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5</a:t>
            </a:r>
            <a:endParaRPr lang="en-US" sz="1500" b="1">
              <a:solidFill>
                <a:srgbClr val="A9B8C8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kicker-marker"/>
          <p:cNvSpPr>
            <a:spLocks noGrp="1"/>
          </p:cNvSpPr>
          <p:nvPr/>
        </p:nvSpPr>
        <p:spPr>
          <a:xfrm>
            <a:off x="533400" y="419100"/>
            <a:ext cx="266700" cy="28575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label"/>
          <p:cNvSpPr>
            <a:spLocks noGrp="1"/>
          </p:cNvSpPr>
          <p:nvPr/>
        </p:nvSpPr>
        <p:spPr>
          <a:xfrm>
            <a:off x="914400" y="3524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SYSTEM ARCHITECTURE</a:t>
            </a:r>
            <a:endParaRPr sz="750" b="1">
              <a:solidFill>
                <a:srgbClr val="A9B8C8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68580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25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双回路架构把“快而稳的硬件控制”和“慢而准的统计学习”分开。</a:t>
            </a:r>
            <a:endParaRPr sz="2250" b="1">
              <a:solidFill>
                <a:srgbClr val="F4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66750" y="1790700"/>
            <a:ext cx="10096500" cy="1428750"/>
          </a:xfrm>
          <a:prstGeom prst="rect">
            <a:avLst/>
          </a:prstGeom>
          <a:solidFill>
            <a:srgbClr val="0E2134"/>
          </a:solidFill>
          <a:ln w="9525">
            <a:solidFill>
              <a:srgbClr val="32D6C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95350" y="19812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FAST LOOP / FPGA SIDE</a:t>
            </a:r>
            <a:endParaRPr sz="900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2362200"/>
            <a:ext cx="1524000" cy="533400"/>
          </a:xfrm>
          <a:prstGeom prst="rect">
            <a:avLst/>
          </a:prstGeom>
          <a:solidFill>
            <a:srgbClr val="10283F"/>
          </a:solidFill>
          <a:ln w="9525">
            <a:solidFill>
              <a:srgbClr val="32D6C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81100" y="247650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Syndrome</a:t>
            </a:r>
            <a:endParaRPr sz="9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(s_q, s_p)</a:t>
            </a:r>
            <a:endParaRPr sz="9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238500" y="2362200"/>
            <a:ext cx="1885950" cy="533400"/>
          </a:xfrm>
          <a:prstGeom prst="rect">
            <a:avLst/>
          </a:prstGeom>
          <a:solidFill>
            <a:srgbClr val="10283F"/>
          </a:solidFill>
          <a:ln w="9525">
            <a:solidFill>
              <a:srgbClr val="32D6C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409950" y="2533650"/>
            <a:ext cx="1543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32D6C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0">
                <a:solidFill>
                  <a:srgbClr val="32D6C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Delta = K @ s + b</a:t>
            </a:r>
            <a:endParaRPr sz="900" b="0">
              <a:solidFill>
                <a:srgbClr val="32D6C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886450" y="2362200"/>
            <a:ext cx="1695450" cy="533400"/>
          </a:xfrm>
          <a:prstGeom prst="rect">
            <a:avLst/>
          </a:prstGeom>
          <a:solidFill>
            <a:srgbClr val="10283F"/>
          </a:solidFill>
          <a:ln w="9525">
            <a:solidFill>
              <a:srgbClr val="32D6C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057900" y="2457450"/>
            <a:ext cx="1352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32×32 histogram</a:t>
            </a:r>
            <a:endParaRPr sz="82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8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fixed-point / overflow</a:t>
            </a:r>
            <a:endParaRPr sz="82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43900" y="2362200"/>
            <a:ext cx="1657350" cy="533400"/>
          </a:xfrm>
          <a:prstGeom prst="rect">
            <a:avLst/>
          </a:prstGeom>
          <a:solidFill>
            <a:srgbClr val="10283F"/>
          </a:solidFill>
          <a:ln w="9525">
            <a:solidFill>
              <a:srgbClr val="32D6C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553450" y="2457450"/>
            <a:ext cx="123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Active param bank</a:t>
            </a:r>
            <a:endParaRPr sz="82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8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K,b</a:t>
            </a:r>
            <a:endParaRPr sz="82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514600" y="2628900"/>
            <a:ext cx="723900" cy="19050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124450" y="2628900"/>
            <a:ext cx="762000" cy="19050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581900" y="2628900"/>
            <a:ext cx="762000" cy="19050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66750" y="4038600"/>
            <a:ext cx="10096500" cy="1600200"/>
          </a:xfrm>
          <a:prstGeom prst="rect">
            <a:avLst/>
          </a:prstGeom>
          <a:solidFill>
            <a:srgbClr val="101F2F"/>
          </a:solidFill>
          <a:ln w="9525">
            <a:solidFill>
              <a:srgbClr val="F2C15B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90600" y="4629150"/>
            <a:ext cx="1600200" cy="552450"/>
          </a:xfrm>
          <a:prstGeom prst="rect">
            <a:avLst/>
          </a:prstGeom>
          <a:solidFill>
            <a:srgbClr val="1E2D37"/>
          </a:solidFill>
          <a:ln w="9525">
            <a:solidFill>
              <a:srgbClr val="F2C15B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200150" y="4743450"/>
            <a:ext cx="1181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Windowed</a:t>
            </a:r>
            <a:endParaRPr sz="9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histogram</a:t>
            </a:r>
            <a:endParaRPr sz="9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276600" y="4629150"/>
            <a:ext cx="1733550" cy="552450"/>
          </a:xfrm>
          <a:prstGeom prst="rect">
            <a:avLst/>
          </a:prstGeom>
          <a:solidFill>
            <a:srgbClr val="1E2D37"/>
          </a:solidFill>
          <a:ln w="9525">
            <a:solidFill>
              <a:srgbClr val="F2C15B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3486150" y="4724400"/>
            <a:ext cx="1314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Classical teacher</a:t>
            </a:r>
            <a:endParaRPr sz="9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WV / UKF</a:t>
            </a:r>
            <a:endParaRPr sz="9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676900" y="4629150"/>
            <a:ext cx="1733550" cy="552450"/>
          </a:xfrm>
          <a:prstGeom prst="rect">
            <a:avLst/>
          </a:prstGeom>
          <a:solidFill>
            <a:srgbClr val="1E2D37"/>
          </a:solidFill>
          <a:ln w="9525">
            <a:solidFill>
              <a:srgbClr val="F2C15B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962650" y="4724400"/>
            <a:ext cx="1162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Tiny-CNN</a:t>
            </a:r>
            <a:endParaRPr sz="9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residual-b</a:t>
            </a:r>
            <a:endParaRPr sz="9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096250" y="4629150"/>
            <a:ext cx="1714500" cy="552450"/>
          </a:xfrm>
          <a:prstGeom prst="rect">
            <a:avLst/>
          </a:prstGeom>
          <a:solidFill>
            <a:srgbClr val="1E2D37"/>
          </a:solidFill>
          <a:ln w="9525">
            <a:solidFill>
              <a:srgbClr val="F2C15B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362950" y="4724400"/>
            <a:ext cx="1181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/ commit</a:t>
            </a:r>
            <a:endParaRPr sz="9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param bank</a:t>
            </a:r>
            <a:endParaRPr sz="9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590800" y="4905375"/>
            <a:ext cx="685800" cy="19050"/>
          </a:xfrm>
          <a:prstGeom prst="rect">
            <a:avLst/>
          </a:prstGeom>
          <a:solidFill>
            <a:srgbClr val="F2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5010150" y="4905375"/>
            <a:ext cx="666750" cy="19050"/>
          </a:xfrm>
          <a:prstGeom prst="rect">
            <a:avLst/>
          </a:prstGeom>
          <a:solidFill>
            <a:srgbClr val="F2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410450" y="4905375"/>
            <a:ext cx="685800" cy="19050"/>
          </a:xfrm>
          <a:prstGeom prst="rect">
            <a:avLst/>
          </a:prstGeom>
          <a:solidFill>
            <a:srgbClr val="F2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953500" y="2895600"/>
            <a:ext cx="19050" cy="1733550"/>
          </a:xfrm>
          <a:prstGeom prst="rect">
            <a:avLst/>
          </a:prstGeom>
          <a:solidFill>
            <a:srgbClr val="F2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544050" y="422910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F2C15B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9620250" y="4257675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1">
                <a:solidFill>
                  <a:srgbClr val="F2C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1">
                <a:solidFill>
                  <a:srgbClr val="F2C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10-100 ms</a:t>
            </a:r>
            <a:endParaRPr sz="715" b="1">
              <a:solidFill>
                <a:srgbClr val="F2C1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715500" y="1894205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32D6C6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9791700" y="1922780"/>
            <a:ext cx="704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us 级</a:t>
            </a:r>
            <a:endParaRPr sz="715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38200" y="5905500"/>
            <a:ext cx="885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FPGA 只做确定性、低延迟控制；CNN 不插入快路径，只在慢路径根据窗口统计更新下一批参数。</a:t>
            </a:r>
            <a:endParaRPr sz="97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914400" y="4181475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2C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2C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SLOW LOOP / ARM + CNN SIDE：窗口统计、教师估计、参数提交</a:t>
            </a:r>
            <a:endParaRPr sz="900" b="1">
              <a:solidFill>
                <a:srgbClr val="F2C1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3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F2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4389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DriftAdaptiveQEC | CNN-FPGA-GKP</a:t>
            </a:r>
            <a:endParaRPr sz="750" b="0">
              <a:solidFill>
                <a:srgbClr val="7286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25200" y="630555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0</a:t>
            </a:r>
            <a:r>
              <a:rPr lang="en-US" sz="150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6</a:t>
            </a:r>
            <a:endParaRPr lang="en-US" sz="1500" b="1">
              <a:solidFill>
                <a:srgbClr val="A9B8C8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kicker-marker"/>
          <p:cNvSpPr>
            <a:spLocks noGrp="1"/>
          </p:cNvSpPr>
          <p:nvPr/>
        </p:nvSpPr>
        <p:spPr>
          <a:xfrm>
            <a:off x="533400" y="419100"/>
            <a:ext cx="266700" cy="28575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label"/>
          <p:cNvSpPr>
            <a:spLocks noGrp="1"/>
          </p:cNvSpPr>
          <p:nvPr/>
        </p:nvSpPr>
        <p:spPr>
          <a:xfrm>
            <a:off x="914400" y="3524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PROJECT ARC</a:t>
            </a:r>
            <a:endParaRPr sz="750" b="1">
              <a:solidFill>
                <a:srgbClr val="A9B8C8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685800"/>
            <a:ext cx="8763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325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项目按 P0-P4 逐层推进</a:t>
            </a:r>
            <a:endParaRPr sz="2325" b="1">
              <a:solidFill>
                <a:srgbClr val="F4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838200" y="1609725"/>
            <a:ext cx="819150" cy="819150"/>
          </a:xfrm>
          <a:prstGeom prst="rect">
            <a:avLst/>
          </a:prstGeom>
          <a:solidFill>
            <a:srgbClr val="10243A"/>
          </a:solidFill>
          <a:ln w="19050">
            <a:solidFill>
              <a:srgbClr val="32D6C6"/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942975" y="1743075"/>
            <a:ext cx="609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32D6C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2D6C6"/>
                </a:solidFill>
                <a:latin typeface="Aptos Display"/>
                <a:ea typeface="Aptos Display"/>
                <a:cs typeface="Aptos Display"/>
              </a:rPr>
              <a:t>P0</a:t>
            </a:r>
            <a:endParaRPr sz="1500" b="1">
              <a:solidFill>
                <a:srgbClr val="32D6C6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914400" y="205740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问题成立</a:t>
            </a:r>
            <a:endParaRPr sz="71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514350" y="2600325"/>
            <a:ext cx="1466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漂移导致固定译码失配</a:t>
            </a:r>
            <a:endParaRPr sz="75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1657350" y="2019300"/>
            <a:ext cx="1200150" cy="19050"/>
          </a:xfrm>
          <a:prstGeom prst="rect">
            <a:avLst/>
          </a:prstGeom>
          <a:solidFill>
            <a:srgbClr val="A9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2857500" y="1609725"/>
            <a:ext cx="819150" cy="819150"/>
          </a:xfrm>
          <a:prstGeom prst="rect">
            <a:avLst/>
          </a:prstGeom>
          <a:solidFill>
            <a:srgbClr val="10243A"/>
          </a:solidFill>
          <a:ln w="19050">
            <a:solidFill>
              <a:srgbClr val="5EE08B"/>
            </a:solidFill>
            <a:prstDash val="solid"/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2962275" y="1743075"/>
            <a:ext cx="609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5EE08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5EE08B"/>
                </a:solidFill>
                <a:latin typeface="Aptos Display"/>
                <a:ea typeface="Aptos Display"/>
                <a:cs typeface="Aptos Display"/>
              </a:rPr>
              <a:t>P1</a:t>
            </a:r>
            <a:endParaRPr sz="1500" b="1">
              <a:solidFill>
                <a:srgbClr val="5EE08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2933700" y="205740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模型可学</a:t>
            </a:r>
            <a:endParaRPr sz="71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2533650" y="2600325"/>
            <a:ext cx="1466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Tiny-CNN 学参数</a:t>
            </a:r>
            <a:endParaRPr sz="75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3676650" y="2019300"/>
            <a:ext cx="1200150" cy="19050"/>
          </a:xfrm>
          <a:prstGeom prst="rect">
            <a:avLst/>
          </a:prstGeom>
          <a:solidFill>
            <a:srgbClr val="A9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矩形 77"/>
          <p:cNvSpPr>
            <a:spLocks noGrp="1"/>
          </p:cNvSpPr>
          <p:nvPr/>
        </p:nvSpPr>
        <p:spPr>
          <a:xfrm>
            <a:off x="4876800" y="1609725"/>
            <a:ext cx="819150" cy="819150"/>
          </a:xfrm>
          <a:prstGeom prst="rect">
            <a:avLst/>
          </a:prstGeom>
          <a:solidFill>
            <a:srgbClr val="10243A"/>
          </a:solidFill>
          <a:ln w="19050">
            <a:solidFill>
              <a:srgbClr val="5EE08B"/>
            </a:solidFill>
            <a:prstDash val="solid"/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4981575" y="1743075"/>
            <a:ext cx="609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5EE08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5EE08B"/>
                </a:solidFill>
                <a:latin typeface="Aptos Display"/>
                <a:ea typeface="Aptos Display"/>
                <a:cs typeface="Aptos Display"/>
              </a:rPr>
              <a:t>P2</a:t>
            </a:r>
            <a:endParaRPr sz="1500" b="1">
              <a:solidFill>
                <a:srgbClr val="5EE08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4953000" y="205740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行为一致</a:t>
            </a:r>
            <a:endParaRPr sz="71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4552950" y="2600325"/>
            <a:ext cx="1466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float/int8 与 bank 提交</a:t>
            </a:r>
            <a:endParaRPr sz="75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5695950" y="2019300"/>
            <a:ext cx="1200150" cy="19050"/>
          </a:xfrm>
          <a:prstGeom prst="rect">
            <a:avLst/>
          </a:prstGeom>
          <a:solidFill>
            <a:srgbClr val="A9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矩形 82"/>
          <p:cNvSpPr>
            <a:spLocks noGrp="1"/>
          </p:cNvSpPr>
          <p:nvPr/>
        </p:nvSpPr>
        <p:spPr>
          <a:xfrm>
            <a:off x="6896100" y="1609725"/>
            <a:ext cx="819150" cy="819150"/>
          </a:xfrm>
          <a:prstGeom prst="rect">
            <a:avLst/>
          </a:prstGeom>
          <a:solidFill>
            <a:srgbClr val="10243A"/>
          </a:solidFill>
          <a:ln w="19050">
            <a:solidFill>
              <a:srgbClr val="F9734D"/>
            </a:solidFill>
            <a:prstDash val="solid"/>
          </a:ln>
        </p:spPr>
      </p:sp>
      <p:sp>
        <p:nvSpPr>
          <p:cNvPr id="84" name="矩形 83"/>
          <p:cNvSpPr>
            <a:spLocks noGrp="1"/>
          </p:cNvSpPr>
          <p:nvPr/>
        </p:nvSpPr>
        <p:spPr>
          <a:xfrm>
            <a:off x="7000875" y="1743075"/>
            <a:ext cx="609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9734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9734D"/>
                </a:solidFill>
                <a:latin typeface="Aptos Display"/>
                <a:ea typeface="Aptos Display"/>
                <a:cs typeface="Aptos Display"/>
              </a:rPr>
              <a:t>P3</a:t>
            </a:r>
            <a:endParaRPr sz="1500" b="1">
              <a:solidFill>
                <a:srgbClr val="F9734D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6972300" y="205740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HIL 恢复</a:t>
            </a:r>
            <a:endParaRPr sz="71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6572250" y="2600325"/>
            <a:ext cx="1466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mock-backed 软件闭环</a:t>
            </a:r>
            <a:endParaRPr sz="75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7715250" y="2019300"/>
            <a:ext cx="1200150" cy="19050"/>
          </a:xfrm>
          <a:prstGeom prst="rect">
            <a:avLst/>
          </a:prstGeom>
          <a:solidFill>
            <a:srgbClr val="A9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8915400" y="1609725"/>
            <a:ext cx="819150" cy="819150"/>
          </a:xfrm>
          <a:prstGeom prst="rect">
            <a:avLst/>
          </a:prstGeom>
          <a:solidFill>
            <a:srgbClr val="10243A"/>
          </a:solidFill>
          <a:ln w="19050">
            <a:solidFill>
              <a:srgbClr val="F2C15B"/>
            </a:solidFill>
            <a:prstDash val="solid"/>
          </a:ln>
        </p:spPr>
      </p:sp>
      <p:sp>
        <p:nvSpPr>
          <p:cNvPr id="89" name="矩形 88"/>
          <p:cNvSpPr>
            <a:spLocks noGrp="1"/>
          </p:cNvSpPr>
          <p:nvPr/>
        </p:nvSpPr>
        <p:spPr>
          <a:xfrm>
            <a:off x="9020175" y="1743075"/>
            <a:ext cx="609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2C15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2C15B"/>
                </a:solidFill>
                <a:latin typeface="Aptos Display"/>
                <a:ea typeface="Aptos Display"/>
                <a:cs typeface="Aptos Display"/>
              </a:rPr>
              <a:t>P4</a:t>
            </a:r>
            <a:endParaRPr sz="1500" b="1">
              <a:solidFill>
                <a:srgbClr val="F2C15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8991600" y="205740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benchmark</a:t>
            </a:r>
            <a:endParaRPr sz="71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8591550" y="2600325"/>
            <a:ext cx="1466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历史正式结果 + 当前受控补证</a:t>
            </a:r>
            <a:endParaRPr sz="75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770255" y="3272155"/>
            <a:ext cx="10385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在 </a:t>
            </a:r>
            <a:r>
              <a:rPr lang="en-US" altLang="zh-CN">
                <a:solidFill>
                  <a:schemeClr val="bg1"/>
                </a:solidFill>
              </a:rPr>
              <a:t>GKP </a:t>
            </a:r>
            <a:r>
              <a:rPr lang="zh-CN" altLang="en-US">
                <a:solidFill>
                  <a:schemeClr val="bg1"/>
                </a:solidFill>
              </a:rPr>
              <a:t>量子纠错里，把快回路实时解码和慢回路漂移自适应拼成一条可部署链路：快回路保证 5 </a:t>
            </a:r>
            <a:r>
              <a:rPr lang="en-US" altLang="zh-CN">
                <a:solidFill>
                  <a:schemeClr val="bg1"/>
                </a:solidFill>
              </a:rPr>
              <a:t>us </a:t>
            </a:r>
            <a:r>
              <a:rPr lang="zh-CN" altLang="en-US">
                <a:solidFill>
                  <a:schemeClr val="bg1"/>
                </a:solidFill>
              </a:rPr>
              <a:t>周期内稳定执行，慢回路利用窗口统计、</a:t>
            </a:r>
            <a:r>
              <a:rPr lang="en-US" altLang="zh-CN">
                <a:solidFill>
                  <a:schemeClr val="bg1"/>
                </a:solidFill>
              </a:rPr>
              <a:t>classical teacher </a:t>
            </a:r>
            <a:r>
              <a:rPr lang="zh-CN" altLang="en-US">
                <a:solidFill>
                  <a:schemeClr val="bg1"/>
                </a:solidFill>
              </a:rPr>
              <a:t>和轻量 </a:t>
            </a:r>
            <a:r>
              <a:rPr lang="en-US" altLang="zh-CN">
                <a:solidFill>
                  <a:schemeClr val="bg1"/>
                </a:solidFill>
              </a:rPr>
              <a:t>CNN </a:t>
            </a:r>
            <a:r>
              <a:rPr lang="zh-CN" altLang="en-US">
                <a:solidFill>
                  <a:schemeClr val="bg1"/>
                </a:solidFill>
              </a:rPr>
              <a:t>做低频修正，目标是在实时硬件约束下持续优于固定参数和经典自适应 </a:t>
            </a:r>
            <a:r>
              <a:rPr lang="en-US" altLang="zh-CN">
                <a:solidFill>
                  <a:schemeClr val="bg1"/>
                </a:solidFill>
              </a:rPr>
              <a:t>baseline。</a:t>
            </a:r>
            <a:endParaRPr lang="en-US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3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F2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4389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DriftAdaptiveQEC | CNN-FPGA-GKP</a:t>
            </a:r>
            <a:endParaRPr sz="750" b="0">
              <a:solidFill>
                <a:srgbClr val="7286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25200" y="630555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0</a:t>
            </a:r>
            <a:r>
              <a:rPr lang="en-US" sz="150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5</a:t>
            </a:r>
            <a:endParaRPr lang="en-US" sz="1500" b="1">
              <a:solidFill>
                <a:srgbClr val="A9B8C8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kicker-marker"/>
          <p:cNvSpPr>
            <a:spLocks noGrp="1"/>
          </p:cNvSpPr>
          <p:nvPr/>
        </p:nvSpPr>
        <p:spPr>
          <a:xfrm>
            <a:off x="533400" y="419100"/>
            <a:ext cx="266700" cy="28575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label"/>
          <p:cNvSpPr>
            <a:spLocks noGrp="1"/>
          </p:cNvSpPr>
          <p:nvPr/>
        </p:nvSpPr>
        <p:spPr>
          <a:xfrm>
            <a:off x="914400" y="3524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PROBLEM FRAME</a:t>
            </a:r>
            <a:endParaRPr sz="750" b="1">
              <a:solidFill>
                <a:srgbClr val="A9B8C8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685800"/>
            <a:ext cx="8572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en-US" sz="225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P0</a:t>
            </a:r>
            <a:r>
              <a:rPr lang="zh-CN" altLang="en-US" sz="225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：</a:t>
            </a:r>
            <a:r>
              <a:rPr sz="225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GKP 解码的难点不是一次预测，而是漂移下的在线失配。</a:t>
            </a:r>
            <a:endParaRPr sz="2250" b="1">
              <a:solidFill>
                <a:srgbClr val="F4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52450" y="1085850"/>
            <a:ext cx="7239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连续变量 GKP 纠错中，sigma、mu_q / mu_p、theta 会随时间漂移；固定参数线性解码器会逐步偏离真实噪声状态。</a:t>
            </a:r>
            <a:endParaRPr sz="112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33400" y="1543050"/>
            <a:ext cx="2952750" cy="1562100"/>
          </a:xfrm>
          <a:prstGeom prst="rect">
            <a:avLst/>
          </a:prstGeom>
          <a:solidFill>
            <a:srgbClr val="0E2134"/>
          </a:solidFill>
          <a:ln w="9525">
            <a:solidFill>
              <a:srgbClr val="32D6C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1676400"/>
            <a:ext cx="2647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工程约束</a:t>
            </a:r>
            <a:endParaRPr sz="1125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85800" y="1981200"/>
            <a:ext cx="26479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快回路必须低时延、确定性、可硬件部署；慢回路只能在窗口级别低频更新参数。</a:t>
            </a:r>
            <a:endParaRPr sz="86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85800" y="2371725"/>
            <a:ext cx="2647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2C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2C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关键判断</a:t>
            </a:r>
            <a:endParaRPr sz="1125" b="1">
              <a:solidFill>
                <a:srgbClr val="F2C1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2676525"/>
            <a:ext cx="26479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离线模型精度不等于在线闭环可用；后续验证必须绑定 runtime、commit 与 HIL 语义。</a:t>
            </a:r>
            <a:endParaRPr sz="86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565650" y="1428750"/>
            <a:ext cx="638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 物理基线：full_qec 与 simplified 的 LER gap 稳定约 0.40</a:t>
            </a:r>
            <a:endParaRPr sz="105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556125" y="1828800"/>
            <a:ext cx="1695450" cy="400050"/>
          </a:xfrm>
          <a:prstGeom prst="rect">
            <a:avLst/>
          </a:prstGeom>
          <a:solidFill>
            <a:srgbClr val="17324D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632325" y="1895475"/>
            <a:ext cx="1543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</a:t>
            </a:r>
            <a:endParaRPr sz="790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251575" y="1828800"/>
            <a:ext cx="1143000" cy="400050"/>
          </a:xfrm>
          <a:prstGeom prst="rect">
            <a:avLst/>
          </a:prstGeom>
          <a:solidFill>
            <a:srgbClr val="17324D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327775" y="1895475"/>
            <a:ext cx="990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full_qec</a:t>
            </a:r>
            <a:endParaRPr sz="790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394575" y="1828800"/>
            <a:ext cx="1276350" cy="400050"/>
          </a:xfrm>
          <a:prstGeom prst="rect">
            <a:avLst/>
          </a:prstGeom>
          <a:solidFill>
            <a:srgbClr val="17324D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470775" y="1895475"/>
            <a:ext cx="1123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simplified</a:t>
            </a:r>
            <a:endParaRPr sz="790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670925" y="1828800"/>
            <a:ext cx="952500" cy="400050"/>
          </a:xfrm>
          <a:prstGeom prst="rect">
            <a:avLst/>
          </a:prstGeom>
          <a:solidFill>
            <a:srgbClr val="17324D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747125" y="1895475"/>
            <a:ext cx="800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gap</a:t>
            </a:r>
            <a:endParaRPr sz="790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556125" y="2228850"/>
            <a:ext cx="1695450" cy="40005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632325" y="2295525"/>
            <a:ext cx="1543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linear_low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251575" y="2228850"/>
            <a:ext cx="1143000" cy="40005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327775" y="2295525"/>
            <a:ext cx="990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0.4237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394575" y="2228850"/>
            <a:ext cx="1276350" cy="40005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470775" y="2295525"/>
            <a:ext cx="1123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0.0205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670925" y="2228850"/>
            <a:ext cx="952500" cy="40005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747125" y="2295525"/>
            <a:ext cx="800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0.4032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556125" y="2628900"/>
            <a:ext cx="1695450" cy="400050"/>
          </a:xfrm>
          <a:prstGeom prst="rect">
            <a:avLst/>
          </a:prstGeom>
          <a:solidFill>
            <a:srgbClr val="10283F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632325" y="2695575"/>
            <a:ext cx="1543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step_mid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251575" y="2628900"/>
            <a:ext cx="1143000" cy="400050"/>
          </a:xfrm>
          <a:prstGeom prst="rect">
            <a:avLst/>
          </a:prstGeom>
          <a:solidFill>
            <a:srgbClr val="10283F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327775" y="2695575"/>
            <a:ext cx="990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0.42665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394575" y="2628900"/>
            <a:ext cx="1276350" cy="400050"/>
          </a:xfrm>
          <a:prstGeom prst="rect">
            <a:avLst/>
          </a:prstGeom>
          <a:solidFill>
            <a:srgbClr val="10283F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7470775" y="2695575"/>
            <a:ext cx="1123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0.01855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670925" y="2628900"/>
            <a:ext cx="952500" cy="400050"/>
          </a:xfrm>
          <a:prstGeom prst="rect">
            <a:avLst/>
          </a:prstGeom>
          <a:solidFill>
            <a:srgbClr val="10283F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747125" y="2695575"/>
            <a:ext cx="800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0.40810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4556125" y="3028950"/>
            <a:ext cx="1695450" cy="40005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4632325" y="3095625"/>
            <a:ext cx="1543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sinusoidal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251575" y="3028950"/>
            <a:ext cx="1143000" cy="40005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6327775" y="3095625"/>
            <a:ext cx="990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0.42530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7394575" y="3028950"/>
            <a:ext cx="1276350" cy="40005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7470775" y="3095625"/>
            <a:ext cx="1123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0.02405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670925" y="3028950"/>
            <a:ext cx="952500" cy="40005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8747125" y="3095625"/>
            <a:ext cx="800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0.40125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4556125" y="3429000"/>
            <a:ext cx="1695450" cy="400050"/>
          </a:xfrm>
          <a:prstGeom prst="rect">
            <a:avLst/>
          </a:prstGeom>
          <a:solidFill>
            <a:srgbClr val="10283F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4632325" y="3495675"/>
            <a:ext cx="1543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random_walk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6251575" y="3429000"/>
            <a:ext cx="1143000" cy="400050"/>
          </a:xfrm>
          <a:prstGeom prst="rect">
            <a:avLst/>
          </a:prstGeom>
          <a:solidFill>
            <a:srgbClr val="10283F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6327775" y="3495675"/>
            <a:ext cx="990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0.41200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7394575" y="3429000"/>
            <a:ext cx="1276350" cy="400050"/>
          </a:xfrm>
          <a:prstGeom prst="rect">
            <a:avLst/>
          </a:prstGeom>
          <a:solidFill>
            <a:srgbClr val="10283F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7470775" y="3495675"/>
            <a:ext cx="1123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0.01565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8670925" y="3429000"/>
            <a:ext cx="952500" cy="400050"/>
          </a:xfrm>
          <a:prstGeom prst="rect">
            <a:avLst/>
          </a:prstGeom>
          <a:solidFill>
            <a:srgbClr val="10283F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8747125" y="3495675"/>
            <a:ext cx="800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0.39635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9852025" y="2000250"/>
            <a:ext cx="1352550" cy="114300"/>
          </a:xfrm>
          <a:prstGeom prst="rect">
            <a:avLst/>
          </a:prstGeom>
          <a:solidFill>
            <a:srgbClr val="1532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9852025" y="2000250"/>
            <a:ext cx="1211885" cy="114300"/>
          </a:xfrm>
          <a:prstGeom prst="rect">
            <a:avLst/>
          </a:prstGeom>
          <a:solidFill>
            <a:srgbClr val="F2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9852025" y="1771650"/>
            <a:ext cx="838581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linear</a:t>
            </a:r>
            <a:endParaRPr sz="79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10717657" y="1762125"/>
            <a:ext cx="486918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0.403</a:t>
            </a:r>
            <a:endParaRPr sz="900" b="1">
              <a:solidFill>
                <a:srgbClr val="F4F7FB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9852025" y="2647950"/>
            <a:ext cx="1352550" cy="114300"/>
          </a:xfrm>
          <a:prstGeom prst="rect">
            <a:avLst/>
          </a:prstGeom>
          <a:solidFill>
            <a:srgbClr val="1532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9852025" y="2647950"/>
            <a:ext cx="1226613" cy="114300"/>
          </a:xfrm>
          <a:prstGeom prst="rect">
            <a:avLst/>
          </a:prstGeom>
          <a:solidFill>
            <a:srgbClr val="F2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9852025" y="2419350"/>
            <a:ext cx="838581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</a:t>
            </a:r>
            <a:endParaRPr sz="79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10717657" y="2409825"/>
            <a:ext cx="486918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0.408</a:t>
            </a:r>
            <a:endParaRPr sz="900" b="1">
              <a:solidFill>
                <a:srgbClr val="F4F7FB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9852025" y="3295650"/>
            <a:ext cx="1352550" cy="114300"/>
          </a:xfrm>
          <a:prstGeom prst="rect">
            <a:avLst/>
          </a:prstGeom>
          <a:solidFill>
            <a:srgbClr val="1532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9852025" y="3295650"/>
            <a:ext cx="1206024" cy="114300"/>
          </a:xfrm>
          <a:prstGeom prst="rect">
            <a:avLst/>
          </a:prstGeom>
          <a:solidFill>
            <a:srgbClr val="F2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9852025" y="3067050"/>
            <a:ext cx="838581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sinusoidal</a:t>
            </a:r>
            <a:endParaRPr sz="79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10717657" y="3057525"/>
            <a:ext cx="486918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0.401</a:t>
            </a:r>
            <a:endParaRPr sz="900" b="1">
              <a:solidFill>
                <a:srgbClr val="F4F7FB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9852025" y="3943350"/>
            <a:ext cx="1352550" cy="114300"/>
          </a:xfrm>
          <a:prstGeom prst="rect">
            <a:avLst/>
          </a:prstGeom>
          <a:solidFill>
            <a:srgbClr val="1532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9852025" y="3943350"/>
            <a:ext cx="1191296" cy="114300"/>
          </a:xfrm>
          <a:prstGeom prst="rect">
            <a:avLst/>
          </a:prstGeom>
          <a:solidFill>
            <a:srgbClr val="F2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9852025" y="3714750"/>
            <a:ext cx="838581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random</a:t>
            </a:r>
            <a:endParaRPr sz="79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10717657" y="3705225"/>
            <a:ext cx="486918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0.396</a:t>
            </a:r>
            <a:endParaRPr sz="900" b="1">
              <a:solidFill>
                <a:srgbClr val="F4F7FB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5022850" y="6138545"/>
            <a:ext cx="666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97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307975" y="3684270"/>
            <a:ext cx="3808730" cy="2621280"/>
          </a:xfrm>
          <a:prstGeom prst="rect">
            <a:avLst/>
          </a:prstGeom>
          <a:solidFill>
            <a:srgbClr val="0E2134"/>
          </a:solidFill>
          <a:ln w="9525">
            <a:solidFill>
              <a:srgbClr val="32D6C6"/>
            </a:solidFill>
            <a:prstDash val="solid"/>
          </a:ln>
        </p:spPr>
      </p:sp>
      <p:sp>
        <p:nvSpPr>
          <p:cNvPr id="76" name="矩形 75"/>
          <p:cNvSpPr>
            <a:spLocks noGrp="1"/>
          </p:cNvSpPr>
          <p:nvPr/>
        </p:nvSpPr>
        <p:spPr>
          <a:xfrm>
            <a:off x="552450" y="3827145"/>
            <a:ext cx="2275840" cy="19240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漂移变量如何影响译码</a:t>
            </a:r>
            <a:endParaRPr sz="1125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555625" y="4145915"/>
            <a:ext cx="956310" cy="349885"/>
          </a:xfrm>
          <a:prstGeom prst="rect">
            <a:avLst/>
          </a:prstGeom>
          <a:solidFill>
            <a:srgbClr val="17324D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78" name="矩形 77"/>
          <p:cNvSpPr>
            <a:spLocks noGrp="1"/>
          </p:cNvSpPr>
          <p:nvPr/>
        </p:nvSpPr>
        <p:spPr>
          <a:xfrm>
            <a:off x="631825" y="4204970"/>
            <a:ext cx="835025" cy="26225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</a:t>
            </a:r>
            <a:endParaRPr sz="790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1755775" y="4145915"/>
            <a:ext cx="2275840" cy="349885"/>
          </a:xfrm>
          <a:prstGeom prst="rect">
            <a:avLst/>
          </a:prstGeom>
          <a:solidFill>
            <a:srgbClr val="17324D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80" name="矩形 79"/>
          <p:cNvSpPr>
            <a:spLocks noGrp="1"/>
          </p:cNvSpPr>
          <p:nvPr/>
        </p:nvSpPr>
        <p:spPr>
          <a:xfrm>
            <a:off x="1831975" y="4204970"/>
            <a:ext cx="2154555" cy="26225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含义</a:t>
            </a:r>
            <a:endParaRPr sz="790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555625" y="4526915"/>
            <a:ext cx="956310" cy="349885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82" name="矩形 81"/>
          <p:cNvSpPr>
            <a:spLocks noGrp="1"/>
          </p:cNvSpPr>
          <p:nvPr/>
        </p:nvSpPr>
        <p:spPr>
          <a:xfrm>
            <a:off x="631825" y="4585970"/>
            <a:ext cx="835025" cy="26225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sigma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1755775" y="4526915"/>
            <a:ext cx="2275840" cy="349885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84" name="矩形 83"/>
          <p:cNvSpPr>
            <a:spLocks noGrp="1"/>
          </p:cNvSpPr>
          <p:nvPr/>
        </p:nvSpPr>
        <p:spPr>
          <a:xfrm>
            <a:off x="1831975" y="4585970"/>
            <a:ext cx="2154555" cy="26225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噪声尺度变化，影响 syndrome 分布宽度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555625" y="4907915"/>
            <a:ext cx="956310" cy="349885"/>
          </a:xfrm>
          <a:prstGeom prst="rect">
            <a:avLst/>
          </a:prstGeom>
          <a:solidFill>
            <a:srgbClr val="10283F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86" name="矩形 85"/>
          <p:cNvSpPr>
            <a:spLocks noGrp="1"/>
          </p:cNvSpPr>
          <p:nvPr/>
        </p:nvSpPr>
        <p:spPr>
          <a:xfrm>
            <a:off x="631825" y="4966970"/>
            <a:ext cx="835025" cy="26225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mu_q / mu_p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1755775" y="4907915"/>
            <a:ext cx="2275840" cy="349885"/>
          </a:xfrm>
          <a:prstGeom prst="rect">
            <a:avLst/>
          </a:prstGeom>
          <a:solidFill>
            <a:srgbClr val="10283F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1831975" y="4966970"/>
            <a:ext cx="2154555" cy="26225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q/p 方向偏置，影响残差修正中心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555625" y="5288915"/>
            <a:ext cx="956310" cy="349885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90" name="矩形 89"/>
          <p:cNvSpPr>
            <a:spLocks noGrp="1"/>
          </p:cNvSpPr>
          <p:nvPr/>
        </p:nvSpPr>
        <p:spPr>
          <a:xfrm>
            <a:off x="631825" y="5347970"/>
            <a:ext cx="835025" cy="26225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theta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1755775" y="5288915"/>
            <a:ext cx="2275840" cy="349885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92" name="矩形 91"/>
          <p:cNvSpPr>
            <a:spLocks noGrp="1"/>
          </p:cNvSpPr>
          <p:nvPr/>
        </p:nvSpPr>
        <p:spPr>
          <a:xfrm>
            <a:off x="1831975" y="5347970"/>
            <a:ext cx="2154555" cy="26225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旋转/耦合漂移，使两个象限相关性改变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555625" y="5669915"/>
            <a:ext cx="956310" cy="349885"/>
          </a:xfrm>
          <a:prstGeom prst="rect">
            <a:avLst/>
          </a:prstGeom>
          <a:solidFill>
            <a:srgbClr val="10283F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94" name="矩形 93"/>
          <p:cNvSpPr>
            <a:spLocks noGrp="1"/>
          </p:cNvSpPr>
          <p:nvPr/>
        </p:nvSpPr>
        <p:spPr>
          <a:xfrm>
            <a:off x="631825" y="5728970"/>
            <a:ext cx="835025" cy="26225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K,b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矩形 94"/>
          <p:cNvSpPr>
            <a:spLocks noGrp="1"/>
          </p:cNvSpPr>
          <p:nvPr/>
        </p:nvSpPr>
        <p:spPr>
          <a:xfrm>
            <a:off x="1755775" y="5669915"/>
            <a:ext cx="2275840" cy="349885"/>
          </a:xfrm>
          <a:prstGeom prst="rect">
            <a:avLst/>
          </a:prstGeom>
          <a:solidFill>
            <a:srgbClr val="10283F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96" name="矩形 95"/>
          <p:cNvSpPr>
            <a:spLocks noGrp="1"/>
          </p:cNvSpPr>
          <p:nvPr/>
        </p:nvSpPr>
        <p:spPr>
          <a:xfrm>
            <a:off x="1831975" y="5728970"/>
            <a:ext cx="2154555" cy="26225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译码参数；一旦失配，LER 快速上升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5022850" y="4726940"/>
            <a:ext cx="6487160" cy="561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>
                <a:solidFill>
                  <a:schemeClr val="bg1"/>
                </a:solidFill>
              </a:rPr>
              <a:t>结果说明：</a:t>
            </a:r>
            <a:r>
              <a:rPr lang="en-US" altLang="zh-CN" sz="1200">
                <a:solidFill>
                  <a:schemeClr val="bg1"/>
                </a:solidFill>
              </a:rPr>
              <a:t>P0 </a:t>
            </a:r>
            <a:r>
              <a:rPr lang="zh-CN" altLang="en-US" sz="1200">
                <a:solidFill>
                  <a:schemeClr val="bg1"/>
                </a:solidFill>
              </a:rPr>
              <a:t>已证明项目值得做，也建立了后续统一评价方式。但它只说明需要自适应，不说明 </a:t>
            </a:r>
            <a:r>
              <a:rPr lang="en-US" altLang="zh-CN" sz="1200">
                <a:solidFill>
                  <a:schemeClr val="bg1"/>
                </a:solidFill>
              </a:rPr>
              <a:t>CNN </a:t>
            </a:r>
            <a:r>
              <a:rPr lang="zh-CN" altLang="en-US" sz="1200">
                <a:solidFill>
                  <a:schemeClr val="bg1"/>
                </a:solidFill>
              </a:rPr>
              <a:t>一定有效，更不能直接推出硬件闭环一定能拿到收益。</a:t>
            </a:r>
            <a:endParaRPr lang="zh-CN" alt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3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F2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4389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DriftAdaptiveQEC | CNN-FPGA-GKP</a:t>
            </a:r>
            <a:endParaRPr sz="750" b="0">
              <a:solidFill>
                <a:srgbClr val="7286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25200" y="630555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05</a:t>
            </a:r>
            <a:endParaRPr sz="1500" b="1">
              <a:solidFill>
                <a:srgbClr val="A9B8C8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kicker-marker"/>
          <p:cNvSpPr>
            <a:spLocks noGrp="1"/>
          </p:cNvSpPr>
          <p:nvPr/>
        </p:nvSpPr>
        <p:spPr>
          <a:xfrm>
            <a:off x="533400" y="419100"/>
            <a:ext cx="266700" cy="28575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label"/>
          <p:cNvSpPr>
            <a:spLocks noGrp="1"/>
          </p:cNvSpPr>
          <p:nvPr/>
        </p:nvSpPr>
        <p:spPr>
          <a:xfrm>
            <a:off x="914400" y="3524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P1 MODEL EVIDENCE</a:t>
            </a:r>
            <a:endParaRPr sz="750" b="1">
              <a:solidFill>
                <a:srgbClr val="A9B8C8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685800"/>
            <a:ext cx="8572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en-US" sz="225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P1</a:t>
            </a:r>
            <a:r>
              <a:rPr lang="zh-CN" altLang="en-US" sz="225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：</a:t>
            </a:r>
            <a:r>
              <a:rPr sz="225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Tiny-CNN 已能稳定识别静态漂移参数，int8 退化极小。</a:t>
            </a:r>
            <a:endParaRPr sz="2250" b="1">
              <a:solidFill>
                <a:srgbClr val="F4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66750" y="1809750"/>
            <a:ext cx="3028950" cy="1371600"/>
          </a:xfrm>
          <a:prstGeom prst="rect">
            <a:avLst/>
          </a:prstGeom>
          <a:solidFill>
            <a:srgbClr val="0E2134"/>
          </a:solidFill>
          <a:ln w="9525">
            <a:solidFill>
              <a:srgbClr val="32D6C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19150" y="1943100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问题修正</a:t>
            </a:r>
            <a:endParaRPr sz="1125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2247900"/>
            <a:ext cx="27241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早期各向同性高斯让 theta_deg 近似不可辨识；P1 改为各向异性高斯，并提高 theta 损失权重。</a:t>
            </a:r>
            <a:endParaRPr sz="86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85800" y="4667250"/>
            <a:ext cx="9525" cy="552450"/>
          </a:xfrm>
          <a:prstGeom prst="rect">
            <a:avLst/>
          </a:prstGeom>
          <a:solidFill>
            <a:srgbClr val="5EE0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19150" y="4648200"/>
            <a:ext cx="1809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Segoe UI Variable Display" charset="0"/>
                <a:ea typeface="Segoe UI Variable Display" charset="0"/>
                <a:cs typeface="Segoe UI Variable Display" charset="0"/>
              </a:rPr>
              <a:t>0.994352</a:t>
            </a:r>
            <a:endParaRPr sz="2025" b="1">
              <a:solidFill>
                <a:srgbClr val="F4F7FB"/>
              </a:solidFill>
              <a:latin typeface="Segoe UI Variable Display" charset="0"/>
              <a:ea typeface="Segoe UI Variable Display" charset="0"/>
              <a:cs typeface="Segoe UI Variable Display" charset="0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19150" y="4981575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5EE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5EE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float R2_mean</a:t>
            </a:r>
            <a:endParaRPr sz="750" b="1">
              <a:solidFill>
                <a:srgbClr val="5EE0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19150" y="5153025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test set</a:t>
            </a:r>
            <a:endParaRPr sz="64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800350" y="4667250"/>
            <a:ext cx="9525" cy="552450"/>
          </a:xfrm>
          <a:prstGeom prst="rect">
            <a:avLst/>
          </a:prstGeom>
          <a:solidFill>
            <a:srgbClr val="F2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933700" y="4648200"/>
            <a:ext cx="1809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Segoe UI Variable Display" charset="0"/>
                <a:ea typeface="Segoe UI Variable Display" charset="0"/>
                <a:cs typeface="Segoe UI Variable Display" charset="0"/>
              </a:rPr>
              <a:t>0.994212</a:t>
            </a:r>
            <a:endParaRPr sz="2025" b="1">
              <a:solidFill>
                <a:srgbClr val="F4F7FB"/>
              </a:solidFill>
              <a:latin typeface="Segoe UI Variable Display" charset="0"/>
              <a:ea typeface="Segoe UI Variable Display" charset="0"/>
              <a:cs typeface="Segoe UI Variable Display" charset="0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933700" y="4981575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F2C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F2C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int8 R2_mean</a:t>
            </a:r>
            <a:endParaRPr sz="750" b="1">
              <a:solidFill>
                <a:srgbClr val="F2C1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933700" y="5153025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量化后几乎重合</a:t>
            </a:r>
            <a:endParaRPr sz="64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105400" y="1962150"/>
            <a:ext cx="1257300" cy="438150"/>
          </a:xfrm>
          <a:prstGeom prst="rect">
            <a:avLst/>
          </a:prstGeom>
          <a:solidFill>
            <a:srgbClr val="17324D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181600" y="2028825"/>
            <a:ext cx="1104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</a:t>
            </a:r>
            <a:endParaRPr sz="790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362700" y="1962150"/>
            <a:ext cx="1066800" cy="438150"/>
          </a:xfrm>
          <a:prstGeom prst="rect">
            <a:avLst/>
          </a:prstGeom>
          <a:solidFill>
            <a:srgbClr val="17324D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438900" y="2028825"/>
            <a:ext cx="914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MSE</a:t>
            </a:r>
            <a:endParaRPr sz="790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429500" y="1962150"/>
            <a:ext cx="1066800" cy="438150"/>
          </a:xfrm>
          <a:prstGeom prst="rect">
            <a:avLst/>
          </a:prstGeom>
          <a:solidFill>
            <a:srgbClr val="17324D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505700" y="2028825"/>
            <a:ext cx="914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MAE</a:t>
            </a:r>
            <a:endParaRPr sz="790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496300" y="1962150"/>
            <a:ext cx="1066800" cy="438150"/>
          </a:xfrm>
          <a:prstGeom prst="rect">
            <a:avLst/>
          </a:prstGeom>
          <a:solidFill>
            <a:srgbClr val="17324D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572500" y="2028825"/>
            <a:ext cx="914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R2_mean</a:t>
            </a:r>
            <a:endParaRPr sz="790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105400" y="2400300"/>
            <a:ext cx="1257300" cy="43815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181600" y="2466975"/>
            <a:ext cx="1104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float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362700" y="2400300"/>
            <a:ext cx="1066800" cy="43815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438900" y="2466975"/>
            <a:ext cx="914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0.293336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429500" y="2400300"/>
            <a:ext cx="1066800" cy="43815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505700" y="2466975"/>
            <a:ext cx="914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0.220503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496300" y="2400300"/>
            <a:ext cx="1066800" cy="43815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572500" y="2466975"/>
            <a:ext cx="914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0.994352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105400" y="2838450"/>
            <a:ext cx="1257300" cy="438150"/>
          </a:xfrm>
          <a:prstGeom prst="rect">
            <a:avLst/>
          </a:prstGeom>
          <a:solidFill>
            <a:srgbClr val="10283F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5181600" y="2905125"/>
            <a:ext cx="1104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int8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362700" y="2838450"/>
            <a:ext cx="1066800" cy="438150"/>
          </a:xfrm>
          <a:prstGeom prst="rect">
            <a:avLst/>
          </a:prstGeom>
          <a:solidFill>
            <a:srgbClr val="10283F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438900" y="2905125"/>
            <a:ext cx="914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0.297742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7429500" y="2838450"/>
            <a:ext cx="1066800" cy="438150"/>
          </a:xfrm>
          <a:prstGeom prst="rect">
            <a:avLst/>
          </a:prstGeom>
          <a:solidFill>
            <a:srgbClr val="10283F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7505700" y="2905125"/>
            <a:ext cx="914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0.221944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496300" y="2838450"/>
            <a:ext cx="1066800" cy="438150"/>
          </a:xfrm>
          <a:prstGeom prst="rect">
            <a:avLst/>
          </a:prstGeom>
          <a:solidFill>
            <a:srgbClr val="10283F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8572500" y="2905125"/>
            <a:ext cx="914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0.994212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5105400" y="36385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Float 逐标签 R²</a:t>
            </a:r>
            <a:endParaRPr sz="105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5105400" y="3981450"/>
            <a:ext cx="1428750" cy="323850"/>
          </a:xfrm>
          <a:prstGeom prst="rect">
            <a:avLst/>
          </a:prstGeom>
          <a:solidFill>
            <a:srgbClr val="17324D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5181600" y="4048125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label</a:t>
            </a:r>
            <a:endParaRPr sz="790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6534150" y="3981450"/>
            <a:ext cx="1428750" cy="323850"/>
          </a:xfrm>
          <a:prstGeom prst="rect">
            <a:avLst/>
          </a:prstGeom>
          <a:solidFill>
            <a:srgbClr val="17324D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6610350" y="4048125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R²</a:t>
            </a:r>
            <a:endParaRPr sz="790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5105400" y="4305300"/>
            <a:ext cx="1428750" cy="32385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5181600" y="4371975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sigma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6534150" y="4305300"/>
            <a:ext cx="1428750" cy="32385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6610350" y="4371975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0.997613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5105400" y="4629150"/>
            <a:ext cx="1428750" cy="323850"/>
          </a:xfrm>
          <a:prstGeom prst="rect">
            <a:avLst/>
          </a:prstGeom>
          <a:solidFill>
            <a:srgbClr val="10283F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5181600" y="4695825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mu_q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6534150" y="4629150"/>
            <a:ext cx="1428750" cy="323850"/>
          </a:xfrm>
          <a:prstGeom prst="rect">
            <a:avLst/>
          </a:prstGeom>
          <a:solidFill>
            <a:srgbClr val="10283F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6610350" y="4695825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0.996473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5105400" y="4953000"/>
            <a:ext cx="1428750" cy="32385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5181600" y="5019675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mu_p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6534150" y="4953000"/>
            <a:ext cx="1428750" cy="32385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6610350" y="5019675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0.998459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5105400" y="5276850"/>
            <a:ext cx="1428750" cy="323850"/>
          </a:xfrm>
          <a:prstGeom prst="rect">
            <a:avLst/>
          </a:prstGeom>
          <a:solidFill>
            <a:srgbClr val="10283F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5181600" y="5343525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theta_deg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6534150" y="5276850"/>
            <a:ext cx="1428750" cy="323850"/>
          </a:xfrm>
          <a:prstGeom prst="rect">
            <a:avLst/>
          </a:prstGeom>
          <a:solidFill>
            <a:srgbClr val="10283F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6610350" y="5343525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0.984862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8477250" y="3752850"/>
            <a:ext cx="2247900" cy="1695450"/>
          </a:xfrm>
          <a:prstGeom prst="rect">
            <a:avLst/>
          </a:prstGeom>
          <a:solidFill>
            <a:srgbClr val="0E2134"/>
          </a:solidFill>
          <a:ln w="9525">
            <a:solidFill>
              <a:srgbClr val="5EE08B"/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8629650" y="3886200"/>
            <a:ext cx="1943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5EE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EE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125" b="1">
              <a:solidFill>
                <a:srgbClr val="5EE0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8629650" y="4191000"/>
            <a:ext cx="1943100" cy="1162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P1 的价值不是直接给出最终解码器，而是建立慢回路可用的轻量感知器件；量化结论也为后续部署路径提供基础。</a:t>
            </a:r>
            <a:endParaRPr sz="86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3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F2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4389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DriftAdaptiveQEC | CNN-FPGA-GKP</a:t>
            </a:r>
            <a:endParaRPr sz="750" b="0">
              <a:solidFill>
                <a:srgbClr val="7286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25200" y="630555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06</a:t>
            </a:r>
            <a:endParaRPr sz="1500" b="1">
              <a:solidFill>
                <a:srgbClr val="A9B8C8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kicker-marker"/>
          <p:cNvSpPr>
            <a:spLocks noGrp="1"/>
          </p:cNvSpPr>
          <p:nvPr/>
        </p:nvSpPr>
        <p:spPr>
          <a:xfrm>
            <a:off x="533400" y="419100"/>
            <a:ext cx="266700" cy="28575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label"/>
          <p:cNvSpPr>
            <a:spLocks noGrp="1"/>
          </p:cNvSpPr>
          <p:nvPr/>
        </p:nvSpPr>
        <p:spPr>
          <a:xfrm>
            <a:off x="914400" y="3524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P2 CLOSED LOOP</a:t>
            </a:r>
            <a:endParaRPr sz="750" b="1">
              <a:solidFill>
                <a:srgbClr val="A9B8C8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685800"/>
            <a:ext cx="9334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en-US" sz="2175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P2</a:t>
            </a:r>
            <a:r>
              <a:rPr lang="zh-CN" altLang="en-US" sz="2175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：</a:t>
            </a:r>
            <a:r>
              <a:rPr sz="2175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闭环收益来自公平运行时控制，而不是作弊型 mock 或量化偶然性。</a:t>
            </a:r>
            <a:endParaRPr sz="2175" b="1">
              <a:solidFill>
                <a:srgbClr val="F4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90550" y="1695450"/>
            <a:ext cx="2809875" cy="1238250"/>
          </a:xfrm>
          <a:prstGeom prst="rect">
            <a:avLst/>
          </a:prstGeom>
          <a:solidFill>
            <a:srgbClr val="0E2134"/>
          </a:solidFill>
          <a:ln w="9525">
            <a:solidFill>
              <a:srgbClr val="32D6C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42950" y="1828800"/>
            <a:ext cx="25050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两项关键修正</a:t>
            </a:r>
            <a:endParaRPr sz="1125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2950" y="2133600"/>
            <a:ext cx="2505075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基线改为 fixed_baseline / oracle_delayed</a:t>
            </a:r>
            <a:endParaRPr sz="86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ParamMapper 改为协方差驱动：K=C(C+R)^-1，b=(I-K)mu</a:t>
            </a:r>
            <a:endParaRPr sz="86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733800" y="1600200"/>
            <a:ext cx="1428750" cy="400050"/>
          </a:xfrm>
          <a:prstGeom prst="rect">
            <a:avLst/>
          </a:prstGeom>
          <a:solidFill>
            <a:srgbClr val="17324D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810000" y="1666875"/>
            <a:ext cx="1276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</a:t>
            </a:r>
            <a:endParaRPr sz="790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162550" y="1600200"/>
            <a:ext cx="1200150" cy="400050"/>
          </a:xfrm>
          <a:prstGeom prst="rect">
            <a:avLst/>
          </a:prstGeom>
          <a:solidFill>
            <a:srgbClr val="17324D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238750" y="1666875"/>
            <a:ext cx="1047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fixed</a:t>
            </a:r>
            <a:endParaRPr sz="790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362700" y="1600200"/>
            <a:ext cx="1257300" cy="400050"/>
          </a:xfrm>
          <a:prstGeom prst="rect">
            <a:avLst/>
          </a:prstGeom>
          <a:solidFill>
            <a:srgbClr val="17324D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438900" y="1666875"/>
            <a:ext cx="1104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oracle</a:t>
            </a:r>
            <a:endParaRPr sz="790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620000" y="1600200"/>
            <a:ext cx="1257300" cy="400050"/>
          </a:xfrm>
          <a:prstGeom prst="rect">
            <a:avLst/>
          </a:prstGeom>
          <a:solidFill>
            <a:srgbClr val="17324D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696200" y="1666875"/>
            <a:ext cx="1104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float</a:t>
            </a:r>
            <a:endParaRPr sz="790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877300" y="1600200"/>
            <a:ext cx="1200150" cy="400050"/>
          </a:xfrm>
          <a:prstGeom prst="rect">
            <a:avLst/>
          </a:prstGeom>
          <a:solidFill>
            <a:srgbClr val="17324D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953500" y="1666875"/>
            <a:ext cx="1047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int8</a:t>
            </a:r>
            <a:endParaRPr sz="790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733800" y="2000250"/>
            <a:ext cx="1428750" cy="40005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3810000" y="2066925"/>
            <a:ext cx="1276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linear_med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162550" y="2000250"/>
            <a:ext cx="1200150" cy="40005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238750" y="2066925"/>
            <a:ext cx="1047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0.816067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362700" y="2000250"/>
            <a:ext cx="1257300" cy="40005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438900" y="2066925"/>
            <a:ext cx="1104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0.764239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620000" y="2000250"/>
            <a:ext cx="1257300" cy="40005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696200" y="2066925"/>
            <a:ext cx="1104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0.696206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877300" y="2000250"/>
            <a:ext cx="1200150" cy="40005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953500" y="2066925"/>
            <a:ext cx="1047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0.701372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733800" y="2400300"/>
            <a:ext cx="1428750" cy="400050"/>
          </a:xfrm>
          <a:prstGeom prst="rect">
            <a:avLst/>
          </a:prstGeom>
          <a:solidFill>
            <a:srgbClr val="10283F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3810000" y="2466975"/>
            <a:ext cx="1276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step_large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162550" y="2400300"/>
            <a:ext cx="1200150" cy="400050"/>
          </a:xfrm>
          <a:prstGeom prst="rect">
            <a:avLst/>
          </a:prstGeom>
          <a:solidFill>
            <a:srgbClr val="10283F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5238750" y="2466975"/>
            <a:ext cx="1047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0.937822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362700" y="2400300"/>
            <a:ext cx="1257300" cy="400050"/>
          </a:xfrm>
          <a:prstGeom prst="rect">
            <a:avLst/>
          </a:prstGeom>
          <a:solidFill>
            <a:srgbClr val="10283F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438900" y="2466975"/>
            <a:ext cx="1104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0.926650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620000" y="2400300"/>
            <a:ext cx="1257300" cy="400050"/>
          </a:xfrm>
          <a:prstGeom prst="rect">
            <a:avLst/>
          </a:prstGeom>
          <a:solidFill>
            <a:srgbClr val="10283F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7696200" y="2466975"/>
            <a:ext cx="1104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0.731906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877300" y="2400300"/>
            <a:ext cx="1200150" cy="400050"/>
          </a:xfrm>
          <a:prstGeom prst="rect">
            <a:avLst/>
          </a:prstGeom>
          <a:solidFill>
            <a:srgbClr val="10283F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953500" y="2466975"/>
            <a:ext cx="1047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0.732072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3733800" y="2800350"/>
            <a:ext cx="1428750" cy="40005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3810000" y="2867025"/>
            <a:ext cx="1276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sinusoidal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5162550" y="2800350"/>
            <a:ext cx="1200150" cy="40005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5238750" y="2867025"/>
            <a:ext cx="1047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1.019033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6362700" y="2800350"/>
            <a:ext cx="1257300" cy="40005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6438900" y="2867025"/>
            <a:ext cx="1104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1.020556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7620000" y="2800350"/>
            <a:ext cx="1257300" cy="40005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7696200" y="2867025"/>
            <a:ext cx="1104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0.759289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8877300" y="2800350"/>
            <a:ext cx="1200150" cy="40005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8953500" y="2867025"/>
            <a:ext cx="1047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0.761878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3886200" y="5257800"/>
            <a:ext cx="4953000" cy="9525"/>
          </a:xfrm>
          <a:prstGeom prst="rect">
            <a:avLst/>
          </a:prstGeom>
          <a:solidFill>
            <a:srgbClr val="2A4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3886200" y="4000500"/>
            <a:ext cx="1123950" cy="1257300"/>
          </a:xfrm>
          <a:prstGeom prst="rect">
            <a:avLst/>
          </a:prstGeom>
          <a:solidFill>
            <a:srgbClr val="F973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3848100" y="3733800"/>
            <a:ext cx="1200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0.924</a:t>
            </a:r>
            <a:endParaRPr sz="900" b="1">
              <a:solidFill>
                <a:srgbClr val="F4F7FB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3829050" y="5372100"/>
            <a:ext cx="1238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fixed</a:t>
            </a:r>
            <a:endParaRPr sz="70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5162550" y="4027714"/>
            <a:ext cx="1123950" cy="1230086"/>
          </a:xfrm>
          <a:prstGeom prst="rect">
            <a:avLst/>
          </a:prstGeom>
          <a:solidFill>
            <a:srgbClr val="F2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5124450" y="3761014"/>
            <a:ext cx="1200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0.904</a:t>
            </a:r>
            <a:endParaRPr sz="900" b="1">
              <a:solidFill>
                <a:srgbClr val="F4F7FB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5105400" y="5372100"/>
            <a:ext cx="1238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oracle</a:t>
            </a:r>
            <a:endParaRPr sz="70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6438900" y="4265839"/>
            <a:ext cx="1123950" cy="991961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6400800" y="3999139"/>
            <a:ext cx="1200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0.729</a:t>
            </a:r>
            <a:endParaRPr sz="900" b="1">
              <a:solidFill>
                <a:srgbClr val="F4F7FB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6381750" y="5372100"/>
            <a:ext cx="1238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float</a:t>
            </a:r>
            <a:endParaRPr sz="70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7715250" y="4261757"/>
            <a:ext cx="1123950" cy="996043"/>
          </a:xfrm>
          <a:prstGeom prst="rect">
            <a:avLst/>
          </a:prstGeom>
          <a:solidFill>
            <a:srgbClr val="5EE0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7677150" y="3995057"/>
            <a:ext cx="1200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0.732</a:t>
            </a:r>
            <a:endParaRPr sz="900" b="1">
              <a:solidFill>
                <a:srgbClr val="F4F7FB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7658100" y="5372100"/>
            <a:ext cx="1238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int8</a:t>
            </a:r>
            <a:endParaRPr sz="70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3905250" y="5791200"/>
            <a:ext cx="438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三场景平均 LER（根据表内数据近似）</a:t>
            </a:r>
            <a:endParaRPr sz="825" b="0">
              <a:solidFill>
                <a:srgbClr val="7286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9220200" y="3314700"/>
            <a:ext cx="1885950" cy="1352550"/>
          </a:xfrm>
          <a:prstGeom prst="rect">
            <a:avLst/>
          </a:prstGeom>
          <a:solidFill>
            <a:srgbClr val="0E2134"/>
          </a:solidFill>
          <a:ln w="9525">
            <a:solidFill>
              <a:srgbClr val="5EE08B"/>
            </a:solidFill>
            <a:prstDash val="solid"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9372600" y="3448050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5EE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EE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工程指标</a:t>
            </a:r>
            <a:endParaRPr sz="1125" b="1">
              <a:solidFill>
                <a:srgbClr val="5EE0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9372600" y="3752850"/>
            <a:ext cx="15811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commit_count_mean = 7.0</a:t>
            </a:r>
            <a:endParaRPr sz="86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fast violation = 0</a:t>
            </a:r>
            <a:endParaRPr sz="86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slow violation = 0</a:t>
            </a:r>
            <a:endParaRPr sz="86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590550" y="607695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P2 判断：双回路 stage / commit 稳定，自适应模型在三类漂移场景均优于固定与延迟基线。</a:t>
            </a:r>
            <a:endParaRPr sz="90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3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F2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4389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DriftAdaptiveQEC | CNN-FPGA-GKP</a:t>
            </a:r>
            <a:endParaRPr sz="750" b="0">
              <a:solidFill>
                <a:srgbClr val="7286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25200" y="630555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07</a:t>
            </a:r>
            <a:endParaRPr sz="1500" b="1">
              <a:solidFill>
                <a:srgbClr val="A9B8C8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kicker-marker"/>
          <p:cNvSpPr>
            <a:spLocks noGrp="1"/>
          </p:cNvSpPr>
          <p:nvPr/>
        </p:nvSpPr>
        <p:spPr>
          <a:xfrm>
            <a:off x="533400" y="419100"/>
            <a:ext cx="266700" cy="28575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label"/>
          <p:cNvSpPr>
            <a:spLocks noGrp="1"/>
          </p:cNvSpPr>
          <p:nvPr/>
        </p:nvSpPr>
        <p:spPr>
          <a:xfrm>
            <a:off x="914400" y="3524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P3 HIL BOUNDARY</a:t>
            </a:r>
            <a:endParaRPr sz="750" b="1">
              <a:solidFill>
                <a:srgbClr val="A9B8C8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685800"/>
            <a:ext cx="9334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25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P3</a:t>
            </a:r>
            <a:r>
              <a:rPr lang="zh-CN" sz="225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：</a:t>
            </a:r>
            <a:r>
              <a:rPr sz="225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已恢复 software HIL 的确定性复验，但不能写成真板完成。</a:t>
            </a:r>
            <a:endParaRPr sz="2250" b="1">
              <a:solidFill>
                <a:srgbClr val="F4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2190750"/>
            <a:ext cx="1428750" cy="628650"/>
          </a:xfrm>
          <a:prstGeom prst="rect">
            <a:avLst/>
          </a:prstGeom>
          <a:solidFill>
            <a:srgbClr val="10283F"/>
          </a:solidFill>
          <a:ln w="9525">
            <a:solidFill>
              <a:srgbClr val="32D6C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71550" y="238125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mock backend</a:t>
            </a:r>
            <a:endParaRPr sz="82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266950" y="2505075"/>
            <a:ext cx="514350" cy="19050"/>
          </a:xfrm>
          <a:prstGeom prst="rect">
            <a:avLst/>
          </a:prstGeom>
          <a:solidFill>
            <a:srgbClr val="2A4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781300" y="2190750"/>
            <a:ext cx="1428750" cy="628650"/>
          </a:xfrm>
          <a:prstGeom prst="rect">
            <a:avLst/>
          </a:prstGeom>
          <a:solidFill>
            <a:srgbClr val="10283F"/>
          </a:solidFill>
          <a:ln w="9525">
            <a:solidFill>
              <a:srgbClr val="32D6C6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914650" y="238125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model_artifact</a:t>
            </a:r>
            <a:endParaRPr sz="82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210050" y="2505075"/>
            <a:ext cx="514350" cy="19050"/>
          </a:xfrm>
          <a:prstGeom prst="rect">
            <a:avLst/>
          </a:prstGeom>
          <a:solidFill>
            <a:srgbClr val="2A4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724400" y="2190750"/>
            <a:ext cx="1428750" cy="628650"/>
          </a:xfrm>
          <a:prstGeom prst="rect">
            <a:avLst/>
          </a:prstGeom>
          <a:solidFill>
            <a:srgbClr val="10283F"/>
          </a:solidFill>
          <a:ln w="9525">
            <a:solidFill>
              <a:srgbClr val="32D6C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857750" y="238125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artifact_npz</a:t>
            </a:r>
            <a:endParaRPr sz="82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153150" y="2505075"/>
            <a:ext cx="514350" cy="19050"/>
          </a:xfrm>
          <a:prstGeom prst="rect">
            <a:avLst/>
          </a:prstGeom>
          <a:solidFill>
            <a:srgbClr val="2A4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667500" y="2190750"/>
            <a:ext cx="1428750" cy="628650"/>
          </a:xfrm>
          <a:prstGeom prst="rect">
            <a:avLst/>
          </a:prstGeom>
          <a:solidFill>
            <a:srgbClr val="10283F"/>
          </a:solidFill>
          <a:ln w="9525">
            <a:solidFill>
              <a:srgbClr val="32D6C6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800850" y="238125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inproc service</a:t>
            </a:r>
            <a:endParaRPr sz="82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096250" y="2505075"/>
            <a:ext cx="514350" cy="19050"/>
          </a:xfrm>
          <a:prstGeom prst="rect">
            <a:avLst/>
          </a:prstGeom>
          <a:solidFill>
            <a:srgbClr val="2A4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610600" y="2190750"/>
            <a:ext cx="1428750" cy="628650"/>
          </a:xfrm>
          <a:prstGeom prst="rect">
            <a:avLst/>
          </a:prstGeom>
          <a:solidFill>
            <a:srgbClr val="10283F"/>
          </a:solidFill>
          <a:ln w="9525">
            <a:solidFill>
              <a:srgbClr val="F2C15B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743950" y="238125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hil outputs</a:t>
            </a:r>
            <a:endParaRPr sz="82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52500" y="3714750"/>
            <a:ext cx="9525" cy="552450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85850" y="3695700"/>
            <a:ext cx="1428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Segoe UI Variable Display" charset="0"/>
                <a:ea typeface="Segoe UI Variable Display" charset="0"/>
                <a:cs typeface="Segoe UI Variable Display" charset="0"/>
              </a:rPr>
              <a:t>2</a:t>
            </a:r>
            <a:endParaRPr sz="2025" b="1">
              <a:solidFill>
                <a:srgbClr val="F4F7FB"/>
              </a:solidFill>
              <a:latin typeface="Segoe UI Variable Display" charset="0"/>
              <a:ea typeface="Segoe UI Variable Display" charset="0"/>
              <a:cs typeface="Segoe UI Variable Display" charset="0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85850" y="4029075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windows ready</a:t>
            </a:r>
            <a:endParaRPr sz="750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085850" y="4200525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n_windows_ready</a:t>
            </a:r>
            <a:endParaRPr sz="64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714625" y="3714750"/>
            <a:ext cx="9525" cy="552450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2847975" y="3695700"/>
            <a:ext cx="1428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Segoe UI Variable Display" charset="0"/>
                <a:ea typeface="Segoe UI Variable Display" charset="0"/>
                <a:cs typeface="Segoe UI Variable Display" charset="0"/>
              </a:rPr>
              <a:t>2</a:t>
            </a:r>
            <a:endParaRPr sz="2025" b="1">
              <a:solidFill>
                <a:srgbClr val="F4F7FB"/>
              </a:solidFill>
              <a:latin typeface="Segoe UI Variable Display" charset="0"/>
              <a:ea typeface="Segoe UI Variable Display" charset="0"/>
              <a:cs typeface="Segoe UI Variable Display" charset="0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847975" y="4029075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slow updates</a:t>
            </a:r>
            <a:endParaRPr sz="750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847975" y="4200525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finished</a:t>
            </a:r>
            <a:endParaRPr sz="64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476750" y="3714750"/>
            <a:ext cx="9525" cy="552450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4610100" y="3695700"/>
            <a:ext cx="123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Segoe UI Variable Display" charset="0"/>
                <a:ea typeface="Segoe UI Variable Display" charset="0"/>
                <a:cs typeface="Segoe UI Variable Display" charset="0"/>
              </a:rPr>
              <a:t>2</a:t>
            </a:r>
            <a:endParaRPr sz="2025" b="1">
              <a:solidFill>
                <a:srgbClr val="F4F7FB"/>
              </a:solidFill>
              <a:latin typeface="Segoe UI Variable Display" charset="0"/>
              <a:ea typeface="Segoe UI Variable Display" charset="0"/>
              <a:cs typeface="Segoe UI Variable Display" charset="0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610100" y="4029075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commits</a:t>
            </a:r>
            <a:endParaRPr sz="750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4610100" y="4200525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applied</a:t>
            </a:r>
            <a:endParaRPr sz="64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191250" y="3714750"/>
            <a:ext cx="9525" cy="552450"/>
          </a:xfrm>
          <a:prstGeom prst="rect">
            <a:avLst/>
          </a:prstGeom>
          <a:solidFill>
            <a:srgbClr val="F2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324600" y="3695700"/>
            <a:ext cx="1619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Segoe UI Variable Display" charset="0"/>
                <a:ea typeface="Segoe UI Variable Display" charset="0"/>
                <a:cs typeface="Segoe UI Variable Display" charset="0"/>
              </a:rPr>
              <a:t>0.454375</a:t>
            </a:r>
            <a:endParaRPr sz="2025" b="1">
              <a:solidFill>
                <a:srgbClr val="F4F7FB"/>
              </a:solidFill>
              <a:latin typeface="Segoe UI Variable Display" charset="0"/>
              <a:ea typeface="Segoe UI Variable Display" charset="0"/>
              <a:cs typeface="Segoe UI Variable Display" charset="0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324600" y="4029075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F2C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F2C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final LER</a:t>
            </a:r>
            <a:endParaRPr sz="750" b="1">
              <a:solidFill>
                <a:srgbClr val="F2C1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324600" y="4200525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T12 deterministic run</a:t>
            </a:r>
            <a:endParaRPr sz="64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334375" y="3714750"/>
            <a:ext cx="9525" cy="552450"/>
          </a:xfrm>
          <a:prstGeom prst="rect">
            <a:avLst/>
          </a:prstGeom>
          <a:solidFill>
            <a:srgbClr val="5EE0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467725" y="3695700"/>
            <a:ext cx="1524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Segoe UI Variable Display" charset="0"/>
                <a:ea typeface="Segoe UI Variable Display" charset="0"/>
                <a:cs typeface="Segoe UI Variable Display" charset="0"/>
              </a:rPr>
              <a:t>0.002</a:t>
            </a:r>
            <a:endParaRPr sz="2025" b="1">
              <a:solidFill>
                <a:srgbClr val="F4F7FB"/>
              </a:solidFill>
              <a:latin typeface="Segoe UI Variable Display" charset="0"/>
              <a:ea typeface="Segoe UI Variable Display" charset="0"/>
              <a:cs typeface="Segoe UI Variable Display" charset="0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467725" y="4029075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5EE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5EE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overflow rate</a:t>
            </a:r>
            <a:endParaRPr sz="750" b="1">
              <a:solidFill>
                <a:srgbClr val="5EE0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467725" y="4200525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bounded recovery</a:t>
            </a:r>
            <a:endParaRPr sz="64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19150" y="5238750"/>
            <a:ext cx="3200400" cy="685800"/>
          </a:xfrm>
          <a:prstGeom prst="rect">
            <a:avLst/>
          </a:prstGeom>
          <a:solidFill>
            <a:srgbClr val="0E2134"/>
          </a:solidFill>
          <a:ln w="9525">
            <a:solidFill>
              <a:srgbClr val="5EE08B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971550" y="5372100"/>
            <a:ext cx="2895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5EE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EE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确定性复验</a:t>
            </a:r>
            <a:endParaRPr sz="1125" b="1">
              <a:solidFill>
                <a:srgbClr val="5EE0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971550" y="5676900"/>
            <a:ext cx="2895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两次 run 的 hil_summary.json 与 hil_events.json SHA256 均一致。</a:t>
            </a:r>
            <a:endParaRPr sz="86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4438650" y="5238750"/>
            <a:ext cx="3200400" cy="685800"/>
          </a:xfrm>
          <a:prstGeom prst="rect">
            <a:avLst/>
          </a:prstGeom>
          <a:solidFill>
            <a:srgbClr val="0E2134"/>
          </a:solidFill>
          <a:ln w="9525">
            <a:solidFill>
              <a:srgbClr val="F2C15B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4591050" y="5372100"/>
            <a:ext cx="2895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2C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2C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当前边界</a:t>
            </a:r>
            <a:endParaRPr sz="1125" b="1">
              <a:solidFill>
                <a:srgbClr val="F2C1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4591050" y="5676900"/>
            <a:ext cx="2895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路径固定为 mock + model_artifact + artifact_npz + inproc。</a:t>
            </a:r>
            <a:endParaRPr sz="86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8058150" y="5238750"/>
            <a:ext cx="2571750" cy="685800"/>
          </a:xfrm>
          <a:prstGeom prst="rect">
            <a:avLst/>
          </a:prstGeom>
          <a:solidFill>
            <a:srgbClr val="0E2134"/>
          </a:solidFill>
          <a:ln w="9525">
            <a:solidFill>
              <a:srgbClr val="F9734D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8210550" y="5372100"/>
            <a:ext cx="2266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973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973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不能宣称</a:t>
            </a:r>
            <a:endParaRPr sz="1125" b="1">
              <a:solidFill>
                <a:srgbClr val="F973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8210550" y="5676900"/>
            <a:ext cx="22669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 real_board；不是 .tflite runtime evidence。</a:t>
            </a:r>
            <a:endParaRPr sz="86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9715500" y="1466850"/>
            <a:ext cx="1200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32D6C6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9791700" y="1495425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software HIL</a:t>
            </a:r>
            <a:endParaRPr sz="715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9715500" y="1752600"/>
            <a:ext cx="1200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F9734D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9791700" y="1781175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1">
                <a:solidFill>
                  <a:srgbClr val="F973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1">
                <a:solidFill>
                  <a:srgbClr val="F973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not real board</a:t>
            </a:r>
            <a:endParaRPr sz="715" b="1">
              <a:solidFill>
                <a:srgbClr val="F973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3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F2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4389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DriftAdaptiveQEC | CNN-FPGA-GKP</a:t>
            </a:r>
            <a:endParaRPr sz="750" b="0">
              <a:solidFill>
                <a:srgbClr val="7286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25200" y="630555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08</a:t>
            </a:r>
            <a:endParaRPr sz="1500" b="1">
              <a:solidFill>
                <a:srgbClr val="A9B8C8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kicker-marker"/>
          <p:cNvSpPr>
            <a:spLocks noGrp="1"/>
          </p:cNvSpPr>
          <p:nvPr/>
        </p:nvSpPr>
        <p:spPr>
          <a:xfrm>
            <a:off x="533400" y="419100"/>
            <a:ext cx="266700" cy="28575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label"/>
          <p:cNvSpPr>
            <a:spLocks noGrp="1"/>
          </p:cNvSpPr>
          <p:nvPr/>
        </p:nvSpPr>
        <p:spPr>
          <a:xfrm>
            <a:off x="914400" y="3524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P4 MAIN EVIDENCE</a:t>
            </a:r>
            <a:endParaRPr sz="750" b="1">
              <a:solidFill>
                <a:srgbClr val="A9B8C8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685800"/>
            <a:ext cx="9715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en-US" sz="2175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P4</a:t>
            </a:r>
            <a:r>
              <a:rPr lang="zh-CN" altLang="en-US" sz="2175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：</a:t>
            </a:r>
            <a:r>
              <a:rPr sz="2175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历史 formal 结果显示：Hybrid Residual-B 仍优于最强经典 baseline UKF。</a:t>
            </a:r>
            <a:endParaRPr sz="2175" b="1">
              <a:solidFill>
                <a:srgbClr val="F4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95350" y="4629150"/>
            <a:ext cx="6191250" cy="9525"/>
          </a:xfrm>
          <a:prstGeom prst="rect">
            <a:avLst/>
          </a:prstGeom>
          <a:solidFill>
            <a:srgbClr val="2A4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95350" y="3716369"/>
            <a:ext cx="1116330" cy="912781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57250" y="3449669"/>
            <a:ext cx="119253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0.798</a:t>
            </a:r>
            <a:endParaRPr sz="900" b="1">
              <a:solidFill>
                <a:srgbClr val="F4F7FB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38200" y="4743450"/>
            <a:ext cx="123063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Hybrid</a:t>
            </a:r>
            <a:endParaRPr sz="70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7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Residual-B</a:t>
            </a:r>
            <a:endParaRPr sz="70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164080" y="3248644"/>
            <a:ext cx="1116330" cy="1380506"/>
          </a:xfrm>
          <a:prstGeom prst="rect">
            <a:avLst/>
          </a:prstGeom>
          <a:solidFill>
            <a:srgbClr val="F2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125980" y="2981944"/>
            <a:ext cx="119253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0.818</a:t>
            </a:r>
            <a:endParaRPr sz="900" b="1">
              <a:solidFill>
                <a:srgbClr val="F4F7FB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106930" y="4743450"/>
            <a:ext cx="123063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UKF</a:t>
            </a:r>
            <a:endParaRPr sz="70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432810" y="3064216"/>
            <a:ext cx="1116330" cy="1564934"/>
          </a:xfrm>
          <a:prstGeom prst="rect">
            <a:avLst/>
          </a:prstGeom>
          <a:solidFill>
            <a:srgbClr val="F973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394710" y="2797516"/>
            <a:ext cx="119253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0.826</a:t>
            </a:r>
            <a:endParaRPr sz="900" b="1">
              <a:solidFill>
                <a:srgbClr val="F4F7FB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375660" y="4743450"/>
            <a:ext cx="123063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Const</a:t>
            </a:r>
            <a:endParaRPr sz="70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7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Residual-Mu</a:t>
            </a:r>
            <a:endParaRPr sz="70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701540" y="3012091"/>
            <a:ext cx="1116330" cy="1617059"/>
          </a:xfrm>
          <a:prstGeom prst="rect">
            <a:avLst/>
          </a:prstGeom>
          <a:solidFill>
            <a:srgbClr val="F973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663440" y="2745391"/>
            <a:ext cx="119253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0.828</a:t>
            </a:r>
            <a:endParaRPr sz="900" b="1">
              <a:solidFill>
                <a:srgbClr val="F4F7FB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644390" y="4743450"/>
            <a:ext cx="123063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RLS</a:t>
            </a:r>
            <a:endParaRPr sz="70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7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Residual-B</a:t>
            </a:r>
            <a:endParaRPr sz="70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970270" y="3001113"/>
            <a:ext cx="1116330" cy="1628037"/>
          </a:xfrm>
          <a:prstGeom prst="rect">
            <a:avLst/>
          </a:prstGeom>
          <a:solidFill>
            <a:srgbClr val="F973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932170" y="2734413"/>
            <a:ext cx="119253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0.828</a:t>
            </a:r>
            <a:endParaRPr sz="900" b="1">
              <a:solidFill>
                <a:srgbClr val="F4F7FB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913120" y="4743450"/>
            <a:ext cx="123063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EKF</a:t>
            </a:r>
            <a:endParaRPr sz="70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314950"/>
            <a:ext cx="228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 LER，越低越好</a:t>
            </a:r>
            <a:endParaRPr sz="825" b="0">
              <a:solidFill>
                <a:srgbClr val="7286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848600" y="1962150"/>
            <a:ext cx="1752600" cy="342900"/>
          </a:xfrm>
          <a:prstGeom prst="rect">
            <a:avLst/>
          </a:prstGeom>
          <a:solidFill>
            <a:srgbClr val="17324D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924800" y="2028825"/>
            <a:ext cx="1600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</a:t>
            </a:r>
            <a:endParaRPr sz="790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601200" y="1962150"/>
            <a:ext cx="1123950" cy="342900"/>
          </a:xfrm>
          <a:prstGeom prst="rect">
            <a:avLst/>
          </a:prstGeom>
          <a:solidFill>
            <a:srgbClr val="17324D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677400" y="2028825"/>
            <a:ext cx="971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Avg LER</a:t>
            </a:r>
            <a:endParaRPr sz="790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848600" y="2305050"/>
            <a:ext cx="1752600" cy="34290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924800" y="2371725"/>
            <a:ext cx="1600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Hybrid Residual-B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601200" y="2305050"/>
            <a:ext cx="1123950" cy="34290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9677400" y="2371725"/>
            <a:ext cx="971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0.798332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848600" y="2647950"/>
            <a:ext cx="1752600" cy="342900"/>
          </a:xfrm>
          <a:prstGeom prst="rect">
            <a:avLst/>
          </a:prstGeom>
          <a:solidFill>
            <a:srgbClr val="10283F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924800" y="2714625"/>
            <a:ext cx="1600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UKF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601200" y="2647950"/>
            <a:ext cx="1123950" cy="342900"/>
          </a:xfrm>
          <a:prstGeom prst="rect">
            <a:avLst/>
          </a:prstGeom>
          <a:solidFill>
            <a:srgbClr val="10283F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9677400" y="2714625"/>
            <a:ext cx="971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0.817974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848600" y="2990850"/>
            <a:ext cx="1752600" cy="34290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7924800" y="3057525"/>
            <a:ext cx="1600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Constant Residual-Mu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9601200" y="2990850"/>
            <a:ext cx="1123950" cy="34290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9677400" y="3057525"/>
            <a:ext cx="971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0.825719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848600" y="3333750"/>
            <a:ext cx="1752600" cy="342900"/>
          </a:xfrm>
          <a:prstGeom prst="rect">
            <a:avLst/>
          </a:prstGeom>
          <a:solidFill>
            <a:srgbClr val="10283F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7924800" y="3400425"/>
            <a:ext cx="1600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RLS Residual-B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9601200" y="3333750"/>
            <a:ext cx="1123950" cy="342900"/>
          </a:xfrm>
          <a:prstGeom prst="rect">
            <a:avLst/>
          </a:prstGeom>
          <a:solidFill>
            <a:srgbClr val="10283F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9677400" y="3400425"/>
            <a:ext cx="971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0.827908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7848600" y="3676650"/>
            <a:ext cx="1752600" cy="34290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7924800" y="3743325"/>
            <a:ext cx="1600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EKF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9601200" y="3676650"/>
            <a:ext cx="1123950" cy="34290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9677400" y="3743325"/>
            <a:ext cx="971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0.828369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7829550" y="4343400"/>
            <a:ext cx="2933700" cy="1143000"/>
          </a:xfrm>
          <a:prstGeom prst="rect">
            <a:avLst/>
          </a:prstGeom>
          <a:solidFill>
            <a:srgbClr val="0E2134"/>
          </a:solidFill>
          <a:ln w="9525">
            <a:solidFill>
              <a:srgbClr val="5EE08B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7981950" y="4476750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5EE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EE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关键解释</a:t>
            </a:r>
            <a:endParaRPr sz="1125" b="1">
              <a:solidFill>
                <a:srgbClr val="5EE0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7981950" y="4781550"/>
            <a:ext cx="26289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领先 UKF 的 gap 约 0.019642；且 correction_saturation_rate = 0、aggressive_param_rate = 0。</a:t>
            </a:r>
            <a:endParaRPr sz="86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819150" y="5829300"/>
            <a:ext cx="933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口径提醒：这是历史 formal strong-baseline 结论；Phase 2 正在通过 T15/T16 补当前机器上的 bounded development evidence。</a:t>
            </a:r>
            <a:endParaRPr sz="97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3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F2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4389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DriftAdaptiveQEC | CNN-FPGA-GKP</a:t>
            </a:r>
            <a:endParaRPr sz="750" b="0">
              <a:solidFill>
                <a:srgbClr val="7286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25200" y="630555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09</a:t>
            </a:r>
            <a:endParaRPr sz="1500" b="1">
              <a:solidFill>
                <a:srgbClr val="A9B8C8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kicker-marker"/>
          <p:cNvSpPr>
            <a:spLocks noGrp="1"/>
          </p:cNvSpPr>
          <p:nvPr/>
        </p:nvSpPr>
        <p:spPr>
          <a:xfrm>
            <a:off x="533400" y="419100"/>
            <a:ext cx="266700" cy="28575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label"/>
          <p:cNvSpPr>
            <a:spLocks noGrp="1"/>
          </p:cNvSpPr>
          <p:nvPr/>
        </p:nvSpPr>
        <p:spPr>
          <a:xfrm>
            <a:off x="914400" y="3524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MECHANISM</a:t>
            </a:r>
            <a:endParaRPr sz="750" b="1">
              <a:solidFill>
                <a:srgbClr val="A9B8C8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685800"/>
            <a:ext cx="9715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175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学习模块最有价值的角色，是修正 teacher 在运行时控制量上的偏差。</a:t>
            </a:r>
            <a:endParaRPr sz="2175" b="1">
              <a:solidFill>
                <a:srgbClr val="F4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1809750"/>
            <a:ext cx="3390900" cy="2381250"/>
          </a:xfrm>
          <a:prstGeom prst="rect">
            <a:avLst/>
          </a:prstGeom>
          <a:solidFill>
            <a:srgbClr val="10243A"/>
          </a:solidFill>
          <a:ln w="9525">
            <a:solidFill>
              <a:srgbClr val="F9734D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28700" y="2038350"/>
            <a:ext cx="2762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F973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973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早期 Full teacher broadcast</a:t>
            </a:r>
            <a:endParaRPr sz="1125" b="1">
              <a:solidFill>
                <a:srgbClr val="F973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28700" y="2457450"/>
            <a:ext cx="2667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整包 teacher 标量被广播成平面通道，容易带来冗余、尺度耦合与闭环语义失配。</a:t>
            </a:r>
            <a:endParaRPr sz="97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352550" y="3333750"/>
            <a:ext cx="819150" cy="438150"/>
          </a:xfrm>
          <a:prstGeom prst="rect">
            <a:avLst/>
          </a:prstGeom>
          <a:solidFill>
            <a:srgbClr val="213348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581150" y="3448050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hist</a:t>
            </a:r>
            <a:endParaRPr sz="82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305050" y="3333750"/>
            <a:ext cx="819150" cy="438150"/>
          </a:xfrm>
          <a:prstGeom prst="rect">
            <a:avLst/>
          </a:prstGeom>
          <a:solidFill>
            <a:srgbClr val="422738"/>
          </a:solidFill>
          <a:ln w="9525">
            <a:solidFill>
              <a:srgbClr val="F9734D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476500" y="3400425"/>
            <a:ext cx="47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teacher</a:t>
            </a:r>
            <a:endParaRPr sz="75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planes</a:t>
            </a:r>
            <a:endParaRPr sz="75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171950" y="3000375"/>
            <a:ext cx="781050" cy="19050"/>
          </a:xfrm>
          <a:prstGeom prst="rect">
            <a:avLst/>
          </a:prstGeom>
          <a:solidFill>
            <a:srgbClr val="2A4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991100" y="1809750"/>
            <a:ext cx="4095750" cy="2381250"/>
          </a:xfrm>
          <a:prstGeom prst="rect">
            <a:avLst/>
          </a:prstGeom>
          <a:solidFill>
            <a:srgbClr val="10243A"/>
          </a:solidFill>
          <a:ln w="9525">
            <a:solidFill>
              <a:srgbClr val="32D6C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257800" y="2038350"/>
            <a:ext cx="3143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Gated v5 compact scalar branch</a:t>
            </a:r>
            <a:endParaRPr sz="1125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257800" y="2457450"/>
            <a:ext cx="31432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只保留与 residual-b 直接相关的 4 个 teacher 标量，并通过 scalar branch + gated 注入。</a:t>
            </a:r>
            <a:endParaRPr sz="97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314950" y="3295650"/>
            <a:ext cx="742950" cy="400050"/>
          </a:xfrm>
          <a:prstGeom prst="rect">
            <a:avLst/>
          </a:prstGeom>
          <a:solidFill>
            <a:srgbClr val="14334A"/>
          </a:solidFill>
          <a:ln w="9525">
            <a:solidFill>
              <a:srgbClr val="32D6C6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372100" y="3400425"/>
            <a:ext cx="628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64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teacher_b_q</a:t>
            </a:r>
            <a:endParaRPr sz="64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191250" y="3295650"/>
            <a:ext cx="742950" cy="400050"/>
          </a:xfrm>
          <a:prstGeom prst="rect">
            <a:avLst/>
          </a:prstGeom>
          <a:solidFill>
            <a:srgbClr val="14334A"/>
          </a:solidFill>
          <a:ln w="9525">
            <a:solidFill>
              <a:srgbClr val="32D6C6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248400" y="3400425"/>
            <a:ext cx="628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64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teacher_b_p</a:t>
            </a:r>
            <a:endParaRPr sz="64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067550" y="3295650"/>
            <a:ext cx="742950" cy="400050"/>
          </a:xfrm>
          <a:prstGeom prst="rect">
            <a:avLst/>
          </a:prstGeom>
          <a:solidFill>
            <a:srgbClr val="14334A"/>
          </a:solidFill>
          <a:ln w="9525">
            <a:solidFill>
              <a:srgbClr val="32D6C6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124700" y="3400425"/>
            <a:ext cx="628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64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delta_b_q</a:t>
            </a:r>
            <a:endParaRPr sz="64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943850" y="3295650"/>
            <a:ext cx="742950" cy="400050"/>
          </a:xfrm>
          <a:prstGeom prst="rect">
            <a:avLst/>
          </a:prstGeom>
          <a:solidFill>
            <a:srgbClr val="14334A"/>
          </a:solidFill>
          <a:ln w="9525">
            <a:solidFill>
              <a:srgbClr val="32D6C6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001000" y="3400425"/>
            <a:ext cx="628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64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delta_b_p</a:t>
            </a:r>
            <a:endParaRPr sz="64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00100" y="4800600"/>
            <a:ext cx="9525" cy="552450"/>
          </a:xfrm>
          <a:prstGeom prst="rect">
            <a:avLst/>
          </a:prstGeom>
          <a:solidFill>
            <a:srgbClr val="F973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33450" y="4781550"/>
            <a:ext cx="1524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Segoe UI Variable Display" charset="0"/>
                <a:ea typeface="Segoe UI Variable Display" charset="0"/>
                <a:cs typeface="Segoe UI Variable Display" charset="0"/>
              </a:rPr>
              <a:t>0.758829</a:t>
            </a:r>
            <a:endParaRPr sz="2025" b="1">
              <a:solidFill>
                <a:srgbClr val="F4F7FB"/>
              </a:solidFill>
              <a:latin typeface="Segoe UI Variable Display" charset="0"/>
              <a:ea typeface="Segoe UI Variable Display" charset="0"/>
              <a:cs typeface="Segoe UI Variable Display" charset="0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33450" y="5114925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F973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F973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Full</a:t>
            </a:r>
            <a:endParaRPr sz="750" b="1">
              <a:solidFill>
                <a:srgbClr val="F973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33450" y="5286375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chunked paired mean</a:t>
            </a:r>
            <a:endParaRPr sz="64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857500" y="4800600"/>
            <a:ext cx="9525" cy="552450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2990850" y="4781550"/>
            <a:ext cx="1524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Segoe UI Variable Display" charset="0"/>
                <a:ea typeface="Segoe UI Variable Display" charset="0"/>
                <a:cs typeface="Segoe UI Variable Display" charset="0"/>
              </a:rPr>
              <a:t>0.618195</a:t>
            </a:r>
            <a:endParaRPr sz="2025" b="1">
              <a:solidFill>
                <a:srgbClr val="F4F7FB"/>
              </a:solidFill>
              <a:latin typeface="Segoe UI Variable Display" charset="0"/>
              <a:ea typeface="Segoe UI Variable Display" charset="0"/>
              <a:cs typeface="Segoe UI Variable Display" charset="0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2990850" y="5114925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Gated v5</a:t>
            </a:r>
            <a:endParaRPr sz="750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2990850" y="5286375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candidate mean</a:t>
            </a:r>
            <a:endParaRPr sz="64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4914900" y="4800600"/>
            <a:ext cx="9525" cy="552450"/>
          </a:xfrm>
          <a:prstGeom prst="rect">
            <a:avLst/>
          </a:prstGeom>
          <a:solidFill>
            <a:srgbClr val="5EE0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5048250" y="4781550"/>
            <a:ext cx="1333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Segoe UI Variable Display" charset="0"/>
                <a:ea typeface="Segoe UI Variable Display" charset="0"/>
                <a:cs typeface="Segoe UI Variable Display" charset="0"/>
              </a:rPr>
              <a:t>9 / 12</a:t>
            </a:r>
            <a:endParaRPr sz="2025" b="1">
              <a:solidFill>
                <a:srgbClr val="F4F7FB"/>
              </a:solidFill>
              <a:latin typeface="Segoe UI Variable Display" charset="0"/>
              <a:ea typeface="Segoe UI Variable Display" charset="0"/>
              <a:cs typeface="Segoe UI Variable Display" charset="0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048250" y="5114925"/>
            <a:ext cx="133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5EE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5EE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wins</a:t>
            </a:r>
            <a:endParaRPr sz="750" b="1">
              <a:solidFill>
                <a:srgbClr val="5EE0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048250" y="5286375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seed-scenario 对照</a:t>
            </a:r>
            <a:endParaRPr sz="64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7239000" y="4762500"/>
            <a:ext cx="3143250" cy="933450"/>
          </a:xfrm>
          <a:prstGeom prst="rect">
            <a:avLst/>
          </a:prstGeom>
          <a:solidFill>
            <a:srgbClr val="0E2134"/>
          </a:solidFill>
          <a:ln w="9525">
            <a:solidFill>
              <a:srgbClr val="F2C15B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7391400" y="4895850"/>
            <a:ext cx="2838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2C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2C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谨慎结论</a:t>
            </a:r>
            <a:endParaRPr sz="1125" b="1">
              <a:solidFill>
                <a:srgbClr val="F2C1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391400" y="5200650"/>
            <a:ext cx="2838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Gated v5 是当前最强 teacher-representation 候选，但 seed=20260429 下收益收缩，尚未完全替代正式主线。</a:t>
            </a:r>
            <a:endParaRPr sz="86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3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F2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4389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DriftAdaptiveQEC | CNN-FPGA-GKP</a:t>
            </a:r>
            <a:endParaRPr sz="750" b="0">
              <a:solidFill>
                <a:srgbClr val="7286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25200" y="630555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10</a:t>
            </a:r>
            <a:endParaRPr sz="1500" b="1">
              <a:solidFill>
                <a:srgbClr val="A9B8C8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kicker-marker"/>
          <p:cNvSpPr>
            <a:spLocks noGrp="1"/>
          </p:cNvSpPr>
          <p:nvPr/>
        </p:nvSpPr>
        <p:spPr>
          <a:xfrm>
            <a:off x="533400" y="419100"/>
            <a:ext cx="266700" cy="28575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label"/>
          <p:cNvSpPr>
            <a:spLocks noGrp="1"/>
          </p:cNvSpPr>
          <p:nvPr/>
        </p:nvSpPr>
        <p:spPr>
          <a:xfrm>
            <a:off x="914400" y="3524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PHASE 2 CURRENT TASK</a:t>
            </a:r>
            <a:endParaRPr sz="750" b="1">
              <a:solidFill>
                <a:srgbClr val="A9B8C8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685800"/>
            <a:ext cx="9715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10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T15 把 P4 从单场景 recovery smoke 推进到受控多场景 development evidence。</a:t>
            </a:r>
            <a:endParaRPr sz="2100" b="1">
              <a:solidFill>
                <a:srgbClr val="F4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15811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32D6C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14400" y="1609725"/>
            <a:ext cx="1276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T9 recovery smoke</a:t>
            </a:r>
            <a:endParaRPr sz="715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647950" y="1581150"/>
            <a:ext cx="1562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5EE08B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724150" y="1609725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1">
                <a:solidFill>
                  <a:srgbClr val="5EE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1">
                <a:solidFill>
                  <a:srgbClr val="5EE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T14 protocol PASS</a:t>
            </a:r>
            <a:endParaRPr sz="715" b="1">
              <a:solidFill>
                <a:srgbClr val="5EE0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648200" y="15811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F2C15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724400" y="1609725"/>
            <a:ext cx="1352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1">
                <a:solidFill>
                  <a:srgbClr val="F2C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1">
                <a:solidFill>
                  <a:srgbClr val="F2C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T15 bounded run</a:t>
            </a:r>
            <a:endParaRPr sz="715" b="1">
              <a:solidFill>
                <a:srgbClr val="F2C1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572250" y="15811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F9734D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648450" y="1609725"/>
            <a:ext cx="1276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1">
                <a:solidFill>
                  <a:srgbClr val="F973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1">
                <a:solidFill>
                  <a:srgbClr val="F973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T16 gate review</a:t>
            </a:r>
            <a:endParaRPr sz="715" b="1">
              <a:solidFill>
                <a:srgbClr val="F973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76300" y="2381250"/>
            <a:ext cx="2000250" cy="419100"/>
          </a:xfrm>
          <a:prstGeom prst="rect">
            <a:avLst/>
          </a:prstGeom>
          <a:solidFill>
            <a:srgbClr val="17324D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52500" y="2447925"/>
            <a:ext cx="1847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T15 matrix</a:t>
            </a:r>
            <a:endParaRPr sz="790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876550" y="2381250"/>
            <a:ext cx="3429000" cy="419100"/>
          </a:xfrm>
          <a:prstGeom prst="rect">
            <a:avLst/>
          </a:prstGeom>
          <a:solidFill>
            <a:srgbClr val="17324D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2952750" y="2447925"/>
            <a:ext cx="3276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固定范围</a:t>
            </a:r>
            <a:endParaRPr sz="790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76300" y="2800350"/>
            <a:ext cx="2000250" cy="41910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52500" y="2867025"/>
            <a:ext cx="1847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Config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876550" y="2800350"/>
            <a:ext cx="3429000" cy="41910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952750" y="2867025"/>
            <a:ext cx="3276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cnn_fpga/config/p4_multiscenario_strong_baselines.yaml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76300" y="3219450"/>
            <a:ext cx="2000250" cy="419100"/>
          </a:xfrm>
          <a:prstGeom prst="rect">
            <a:avLst/>
          </a:prstGeom>
          <a:solidFill>
            <a:srgbClr val="10283F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52500" y="3286125"/>
            <a:ext cx="1847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Scenarios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876550" y="3219450"/>
            <a:ext cx="3429000" cy="419100"/>
          </a:xfrm>
          <a:prstGeom prst="rect">
            <a:avLst/>
          </a:prstGeom>
          <a:solidFill>
            <a:srgbClr val="10283F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2952750" y="3286125"/>
            <a:ext cx="3276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static_bias_theta / linear_ramp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76300" y="3638550"/>
            <a:ext cx="2000250" cy="41910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52500" y="3705225"/>
            <a:ext cx="1847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Modes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876550" y="3638550"/>
            <a:ext cx="3429000" cy="41910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2952750" y="3705225"/>
            <a:ext cx="3276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ekf / ukf / constant_residual_mu / rls_residual_b / hybrid_residual_b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76300" y="4057650"/>
            <a:ext cx="2000250" cy="419100"/>
          </a:xfrm>
          <a:prstGeom prst="rect">
            <a:avLst/>
          </a:prstGeom>
          <a:solidFill>
            <a:srgbClr val="10283F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52500" y="4124325"/>
            <a:ext cx="1847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Repeats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2876550" y="4057650"/>
            <a:ext cx="3429000" cy="419100"/>
          </a:xfrm>
          <a:prstGeom prst="rect">
            <a:avLst/>
          </a:prstGeom>
          <a:solidFill>
            <a:srgbClr val="10283F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2952750" y="4124325"/>
            <a:ext cx="3276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76300" y="4476750"/>
            <a:ext cx="2000250" cy="41910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952500" y="4543425"/>
            <a:ext cx="1847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Seed policy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2876550" y="4476750"/>
            <a:ext cx="3429000" cy="419100"/>
          </a:xfrm>
          <a:prstGeom prst="rect">
            <a:avLst/>
          </a:prstGeom>
          <a:solidFill>
            <a:srgbClr val="0E2134"/>
          </a:solidFill>
          <a:ln w="9525">
            <a:solidFill>
              <a:srgbClr val="2A4158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2952750" y="4543425"/>
            <a:ext cx="3276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--paired-seeds</a:t>
            </a:r>
            <a:endParaRPr sz="790" b="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7219950" y="2495550"/>
            <a:ext cx="3143250" cy="933450"/>
          </a:xfrm>
          <a:prstGeom prst="rect">
            <a:avLst/>
          </a:prstGeom>
          <a:solidFill>
            <a:srgbClr val="0E2134"/>
          </a:solidFill>
          <a:ln w="9525">
            <a:solidFill>
              <a:srgbClr val="5EE08B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7372350" y="2628900"/>
            <a:ext cx="2838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5EE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EE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允许做什么</a:t>
            </a:r>
            <a:endParaRPr sz="1125" b="1">
              <a:solidFill>
                <a:srgbClr val="5EE0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372350" y="2933700"/>
            <a:ext cx="2838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扩展到双场景、五模式、repeats=2；不改 runner、不改 config、不改 baseline 集合。</a:t>
            </a:r>
            <a:endParaRPr sz="86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7219950" y="3676650"/>
            <a:ext cx="3143250" cy="1104900"/>
          </a:xfrm>
          <a:prstGeom prst="rect">
            <a:avLst/>
          </a:prstGeom>
          <a:solidFill>
            <a:srgbClr val="0E2134"/>
          </a:solidFill>
          <a:ln w="9525">
            <a:solidFill>
              <a:srgbClr val="F9734D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7372350" y="3810000"/>
            <a:ext cx="2838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973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973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明确不是</a:t>
            </a:r>
            <a:endParaRPr sz="1125" b="1">
              <a:solidFill>
                <a:srgbClr val="F973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7372350" y="4114800"/>
            <a:ext cx="2838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不是完整四场景 formal benchmark；不是 real_board；不是 .tflite runtime evidence。</a:t>
            </a:r>
            <a:endParaRPr sz="86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76300" y="5810250"/>
            <a:ext cx="933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T15 的价值：为 T16 判断是否扩展 formal benchmark、停止在 bounded evidence、或转向 manifest / training / .tflite / cleanup 提供证据。</a:t>
            </a:r>
            <a:endParaRPr sz="97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3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F2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4389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DriftAdaptiveQEC | CNN-FPGA-GKP</a:t>
            </a:r>
            <a:endParaRPr sz="750" b="0">
              <a:solidFill>
                <a:srgbClr val="7286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25200" y="630555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11</a:t>
            </a:r>
            <a:endParaRPr sz="1500" b="1">
              <a:solidFill>
                <a:srgbClr val="A9B8C8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kicker-marker"/>
          <p:cNvSpPr>
            <a:spLocks noGrp="1"/>
          </p:cNvSpPr>
          <p:nvPr/>
        </p:nvSpPr>
        <p:spPr>
          <a:xfrm>
            <a:off x="533400" y="419100"/>
            <a:ext cx="266700" cy="28575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label"/>
          <p:cNvSpPr>
            <a:spLocks noGrp="1"/>
          </p:cNvSpPr>
          <p:nvPr/>
        </p:nvSpPr>
        <p:spPr>
          <a:xfrm>
            <a:off x="914400" y="3524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NEXT MOVES</a:t>
            </a:r>
            <a:endParaRPr sz="750" b="1">
              <a:solidFill>
                <a:srgbClr val="A9B8C8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685800"/>
            <a:ext cx="9144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25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后续不是盲目扩线，而是补证据、补 manifest、补边界。</a:t>
            </a:r>
            <a:endParaRPr sz="2250" b="1">
              <a:solidFill>
                <a:srgbClr val="F4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1790700"/>
            <a:ext cx="3048000" cy="2952750"/>
          </a:xfrm>
          <a:prstGeom prst="rect">
            <a:avLst/>
          </a:prstGeom>
          <a:solidFill>
            <a:srgbClr val="0E2134"/>
          </a:solidFill>
          <a:ln w="9525">
            <a:solidFill>
              <a:srgbClr val="F2C15B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76300" y="1924050"/>
            <a:ext cx="2743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2C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2C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证据补强</a:t>
            </a:r>
            <a:endParaRPr sz="1125" b="1">
              <a:solidFill>
                <a:srgbClr val="F2C1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76300" y="2228850"/>
            <a:ext cx="2743200" cy="2419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T15/T16：P4 bounded evidence + gate review</a:t>
            </a:r>
            <a:endParaRPr sz="86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决定是否恢复完整四场景 formal set</a:t>
            </a:r>
            <a:endParaRPr sz="86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固化 benchmark 报告口径</a:t>
            </a:r>
            <a:endParaRPr sz="86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438650" y="1790700"/>
            <a:ext cx="3048000" cy="2952750"/>
          </a:xfrm>
          <a:prstGeom prst="rect">
            <a:avLst/>
          </a:prstGeom>
          <a:solidFill>
            <a:srgbClr val="0E2134"/>
          </a:solidFill>
          <a:ln w="9525">
            <a:solidFill>
              <a:srgbClr val="32D6C6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591050" y="1924050"/>
            <a:ext cx="2743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研究改进</a:t>
            </a:r>
            <a:endParaRPr sz="1125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591050" y="2228850"/>
            <a:ext cx="2743200" cy="2419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诊断 seed=20260429 收益收缩</a:t>
            </a:r>
            <a:endParaRPr sz="86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Gated v5 小改版：弱化 delta、控制 scale/clip</a:t>
            </a:r>
            <a:endParaRPr sz="86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paper_inspired_statcalib_v1：compact statistics + closed-loop loss</a:t>
            </a:r>
            <a:endParaRPr sz="86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153400" y="1790700"/>
            <a:ext cx="3048000" cy="2952750"/>
          </a:xfrm>
          <a:prstGeom prst="rect">
            <a:avLst/>
          </a:prstGeom>
          <a:solidFill>
            <a:srgbClr val="0E2134"/>
          </a:solidFill>
          <a:ln w="9525">
            <a:solidFill>
              <a:srgbClr val="5EE08B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305800" y="1924050"/>
            <a:ext cx="2743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5EE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EE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工程补强</a:t>
            </a:r>
            <a:endParaRPr sz="1125" b="1">
              <a:solidFill>
                <a:srgbClr val="5EE0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05800" y="2228850"/>
            <a:ext cx="2743200" cy="2419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T17 训练链 manifest</a:t>
            </a:r>
            <a:endParaRPr sz="86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T18 .tflite manifest / smoke plan</a:t>
            </a:r>
            <a:endParaRPr sz="86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T20 real-board readiness checklist</a:t>
            </a:r>
            <a:endParaRPr sz="86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load-aware latency / fault injector</a:t>
            </a:r>
            <a:endParaRPr sz="86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57250" y="5410200"/>
            <a:ext cx="933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当前暂停项：无任务包的新 teacher-representation 长跑、P4 formal 长跑、真板 backend 扩写、大规模 repo cleanup。</a:t>
            </a:r>
            <a:endParaRPr sz="97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3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F2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4389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28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论文思路与总结</a:t>
            </a:r>
            <a:endParaRPr sz="750" b="0">
              <a:solidFill>
                <a:srgbClr val="7286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25200" y="630555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12</a:t>
            </a:r>
            <a:endParaRPr sz="1500" b="1">
              <a:solidFill>
                <a:srgbClr val="A9B8C8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kicker-marker"/>
          <p:cNvSpPr>
            <a:spLocks noGrp="1"/>
          </p:cNvSpPr>
          <p:nvPr/>
        </p:nvSpPr>
        <p:spPr>
          <a:xfrm>
            <a:off x="533400" y="419100"/>
            <a:ext cx="266700" cy="28575"/>
          </a:xfrm>
          <a:prstGeom prst="rect">
            <a:avLst/>
          </a:prstGeom>
          <a:solidFill>
            <a:srgbClr val="32D6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label"/>
          <p:cNvSpPr>
            <a:spLocks noGrp="1"/>
          </p:cNvSpPr>
          <p:nvPr/>
        </p:nvSpPr>
        <p:spPr>
          <a:xfrm>
            <a:off x="914400" y="3524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Segoe UI" panose="020B0502040204020203" charset="0"/>
                <a:ea typeface="Segoe UI" panose="020B0502040204020203" charset="0"/>
                <a:cs typeface="Segoe UI" panose="020B0502040204020203" charset="0"/>
              </a:rPr>
              <a:t>PAPER POSITIONING</a:t>
            </a:r>
            <a:endParaRPr sz="750" b="1">
              <a:solidFill>
                <a:srgbClr val="A9B8C8"/>
              </a:solidFill>
              <a:latin typeface="Segoe UI" panose="020B0502040204020203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685800"/>
            <a:ext cx="10001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250" b="1">
                <a:solidFill>
                  <a:srgbClr val="F4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论文主线：运行时一致的 teacher-guided residual adaptive decoding。</a:t>
            </a:r>
            <a:endParaRPr sz="2250" b="1">
              <a:solidFill>
                <a:srgbClr val="F4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714500" y="1866900"/>
            <a:ext cx="2476500" cy="1047750"/>
          </a:xfrm>
          <a:prstGeom prst="rect">
            <a:avLst/>
          </a:prstGeom>
          <a:solidFill>
            <a:srgbClr val="10283F"/>
          </a:solidFill>
          <a:ln w="9525">
            <a:solidFill>
              <a:srgbClr val="32D6C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647950" y="2038350"/>
            <a:ext cx="76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2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System</a:t>
            </a:r>
            <a:endParaRPr sz="1275" b="1">
              <a:solidFill>
                <a:srgbClr val="32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095500" y="2381250"/>
            <a:ext cx="1714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双回路 CNN-FPGA</a:t>
            </a:r>
            <a:endParaRPr sz="9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 HIL / param bank</a:t>
            </a:r>
            <a:endParaRPr sz="9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857750" y="3848100"/>
            <a:ext cx="2476500" cy="1047750"/>
          </a:xfrm>
          <a:prstGeom prst="rect">
            <a:avLst/>
          </a:prstGeom>
          <a:solidFill>
            <a:srgbClr val="1E2D37"/>
          </a:solidFill>
          <a:ln w="9525">
            <a:solidFill>
              <a:srgbClr val="F2C15B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734050" y="40195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1">
                <a:solidFill>
                  <a:srgbClr val="F2C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2C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Method</a:t>
            </a:r>
            <a:endParaRPr sz="1275" b="1">
              <a:solidFill>
                <a:srgbClr val="F2C1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219700" y="4362450"/>
            <a:ext cx="17907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teacher-guided</a:t>
            </a:r>
            <a:endParaRPr sz="9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residual-b correction</a:t>
            </a:r>
            <a:endParaRPr sz="9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020050" y="1866900"/>
            <a:ext cx="2476500" cy="1047750"/>
          </a:xfrm>
          <a:prstGeom prst="rect">
            <a:avLst/>
          </a:prstGeom>
          <a:solidFill>
            <a:srgbClr val="133447"/>
          </a:solidFill>
          <a:ln w="9525">
            <a:solidFill>
              <a:srgbClr val="5EE08B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763000" y="203835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1">
                <a:solidFill>
                  <a:srgbClr val="5EE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EE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Deployment</a:t>
            </a:r>
            <a:endParaRPr sz="1275" b="1">
              <a:solidFill>
                <a:srgbClr val="5EE0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62950" y="2381250"/>
            <a:ext cx="1809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runtime-consistent data</a:t>
            </a:r>
            <a:endParaRPr sz="9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artifact / HIL / benchmark</a:t>
            </a:r>
            <a:endParaRPr sz="9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191000" y="2400300"/>
            <a:ext cx="333375" cy="19050"/>
          </a:xfrm>
          <a:prstGeom prst="rect">
            <a:avLst/>
          </a:prstGeom>
          <a:solidFill>
            <a:srgbClr val="2A4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524375" y="2400300"/>
            <a:ext cx="19050" cy="1695450"/>
          </a:xfrm>
          <a:prstGeom prst="rect">
            <a:avLst/>
          </a:prstGeom>
          <a:solidFill>
            <a:srgbClr val="2A4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524375" y="4095750"/>
            <a:ext cx="333375" cy="19050"/>
          </a:xfrm>
          <a:prstGeom prst="rect">
            <a:avLst/>
          </a:prstGeom>
          <a:solidFill>
            <a:srgbClr val="2A4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334250" y="4095750"/>
            <a:ext cx="342900" cy="19050"/>
          </a:xfrm>
          <a:prstGeom prst="rect">
            <a:avLst/>
          </a:prstGeom>
          <a:solidFill>
            <a:srgbClr val="2A4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677150" y="2400300"/>
            <a:ext cx="19050" cy="1695450"/>
          </a:xfrm>
          <a:prstGeom prst="rect">
            <a:avLst/>
          </a:prstGeom>
          <a:solidFill>
            <a:srgbClr val="2A4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677150" y="2400300"/>
            <a:ext cx="342900" cy="19050"/>
          </a:xfrm>
          <a:prstGeom prst="rect">
            <a:avLst/>
          </a:prstGeom>
          <a:solidFill>
            <a:srgbClr val="2A4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191000" y="2400300"/>
            <a:ext cx="3829050" cy="19050"/>
          </a:xfrm>
          <a:prstGeom prst="rect">
            <a:avLst/>
          </a:prstGeom>
          <a:solidFill>
            <a:srgbClr val="2A4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95350" y="5067300"/>
            <a:ext cx="2952750" cy="723900"/>
          </a:xfrm>
          <a:prstGeom prst="rect">
            <a:avLst/>
          </a:prstGeom>
          <a:solidFill>
            <a:srgbClr val="0E2134"/>
          </a:solidFill>
          <a:ln w="9525">
            <a:solidFill>
              <a:srgbClr val="5EE08B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047750" y="5200650"/>
            <a:ext cx="2647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5EE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EE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已有成果</a:t>
            </a:r>
            <a:endParaRPr sz="1125" b="1">
              <a:solidFill>
                <a:srgbClr val="5EE0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47750" y="5505450"/>
            <a:ext cx="2647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P0-P2 基线与闭环验证；P3 software HIL recovery path；P4 历史 formal 主线。</a:t>
            </a:r>
            <a:endParaRPr sz="86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514850" y="5067300"/>
            <a:ext cx="2952750" cy="723900"/>
          </a:xfrm>
          <a:prstGeom prst="rect">
            <a:avLst/>
          </a:prstGeom>
          <a:solidFill>
            <a:srgbClr val="0E2134"/>
          </a:solidFill>
          <a:ln w="9525">
            <a:solidFill>
              <a:srgbClr val="F9734D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4667250" y="5200650"/>
            <a:ext cx="2647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973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973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当前边界</a:t>
            </a:r>
            <a:endParaRPr sz="1125" b="1">
              <a:solidFill>
                <a:srgbClr val="F973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4667250" y="5505450"/>
            <a:ext cx="2647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真板 HIL、当前 .tflite recovery、完整 formal benchmark 仍需补证据。</a:t>
            </a:r>
            <a:endParaRPr sz="86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134350" y="5067300"/>
            <a:ext cx="2952750" cy="723900"/>
          </a:xfrm>
          <a:prstGeom prst="rect">
            <a:avLst/>
          </a:prstGeom>
          <a:solidFill>
            <a:srgbClr val="0E2134"/>
          </a:solidFill>
          <a:ln w="9525">
            <a:solidFill>
              <a:srgbClr val="F2C15B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286750" y="5200650"/>
            <a:ext cx="2647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2C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2C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论文策略</a:t>
            </a:r>
            <a:endParaRPr sz="1125" b="1">
              <a:solidFill>
                <a:srgbClr val="F2C1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286750" y="5505450"/>
            <a:ext cx="2647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QCE / TQE / EPJQT 优先；补强后再考虑 QST / npjQI / ACM TQC。</a:t>
            </a:r>
            <a:endParaRPr sz="86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71550" y="5943600"/>
            <a:ext cx="942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4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一句话结论：保留经典 teacher，并让轻量 CNN 学习 residual-b 修正，比直接做绝对参数回归更贴近部署语义，也更有论文叙事韧性。</a:t>
            </a:r>
            <a:endParaRPr sz="94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7982</Words>
  <Application>WPS 演示</Application>
  <PresentationFormat>Converted Presentation</PresentationFormat>
  <Paragraphs>826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Aptos</vt:lpstr>
      <vt:lpstr>Segoe UI</vt:lpstr>
      <vt:lpstr>Microsoft YaHei UI</vt:lpstr>
      <vt:lpstr>Aptos Display</vt:lpstr>
      <vt:lpstr>Consolas</vt:lpstr>
      <vt:lpstr>Segoe UI Variable Display</vt:lpstr>
      <vt:lpstr>Arial Unicode MS</vt:lpstr>
      <vt:lpstr>Calibri</vt:lpstr>
      <vt:lpstr>Aptos</vt:lpstr>
      <vt:lpstr>Aptos Display</vt:lpstr>
      <vt:lpstr>Consolas</vt:lpstr>
      <vt:lpstr>黑体</vt:lpstr>
      <vt:lpstr>Helvetica Neue</vt:lpstr>
      <vt:lpstr>Arial</vt:lpstr>
      <vt:lpstr>Menlo</vt:lpstr>
      <vt:lpstr>Segoe Print</vt:lpstr>
      <vt:lpstr>Helvetica Neue</vt:lpstr>
      <vt:lpstr>Menlo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秦cy</cp:lastModifiedBy>
  <cp:revision>3</cp:revision>
  <dcterms:created xsi:type="dcterms:W3CDTF">2026-05-09T07:08:43Z</dcterms:created>
  <dcterms:modified xsi:type="dcterms:W3CDTF">2026-05-09T08:01:43Z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740A839DD78A49A6B0DEF3A8174D8D1F_12</vt:lpwstr>
  </property>
</Properties>
</file>